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21212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21212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2984500"/>
            <a:ext cx="1993900" cy="20066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90600" y="6502400"/>
            <a:ext cx="15494000" cy="0"/>
          </a:xfrm>
          <a:custGeom>
            <a:avLst/>
            <a:gdLst/>
            <a:ahLst/>
            <a:cxnLst/>
            <a:rect l="l" t="t" r="r" b="b"/>
            <a:pathLst>
              <a:path w="15494000" h="0">
                <a:moveTo>
                  <a:pt x="0" y="0"/>
                </a:moveTo>
                <a:lnTo>
                  <a:pt x="15494000" y="0"/>
                </a:lnTo>
              </a:path>
            </a:pathLst>
          </a:custGeom>
          <a:ln w="50800">
            <a:solidFill>
              <a:srgbClr val="B6B6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990600" y="2679700"/>
            <a:ext cx="7239000" cy="0"/>
          </a:xfrm>
          <a:custGeom>
            <a:avLst/>
            <a:gdLst/>
            <a:ahLst/>
            <a:cxnLst/>
            <a:rect l="l" t="t" r="r" b="b"/>
            <a:pathLst>
              <a:path w="7239000" h="0">
                <a:moveTo>
                  <a:pt x="0" y="0"/>
                </a:moveTo>
                <a:lnTo>
                  <a:pt x="7239000" y="0"/>
                </a:lnTo>
              </a:path>
            </a:pathLst>
          </a:custGeom>
          <a:ln w="50800">
            <a:solidFill>
              <a:srgbClr val="B1B1B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9245600" y="2679700"/>
            <a:ext cx="7239000" cy="0"/>
          </a:xfrm>
          <a:custGeom>
            <a:avLst/>
            <a:gdLst/>
            <a:ahLst/>
            <a:cxnLst/>
            <a:rect l="l" t="t" r="r" b="b"/>
            <a:pathLst>
              <a:path w="7239000" h="0">
                <a:moveTo>
                  <a:pt x="0" y="0"/>
                </a:moveTo>
                <a:lnTo>
                  <a:pt x="7239000" y="0"/>
                </a:lnTo>
              </a:path>
            </a:pathLst>
          </a:custGeom>
          <a:ln w="50800">
            <a:solidFill>
              <a:srgbClr val="AEAEA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7800" y="7264400"/>
            <a:ext cx="1536700" cy="86360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4800" y="8153400"/>
            <a:ext cx="1409700" cy="73660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0600" y="6883400"/>
            <a:ext cx="1993900" cy="200660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490700" y="2984500"/>
            <a:ext cx="1993900" cy="10160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592300" y="3314700"/>
            <a:ext cx="1892300" cy="167640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490700" y="2984500"/>
            <a:ext cx="1993900" cy="2006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21212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21212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05424" y="652991"/>
            <a:ext cx="11598275" cy="1200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21212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7925" y="3994493"/>
            <a:ext cx="8312784" cy="30645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jpg"/><Relationship Id="rId5" Type="http://schemas.openxmlformats.org/officeDocument/2006/relationships/image" Target="../media/image1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jp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jpg"/><Relationship Id="rId4" Type="http://schemas.openxmlformats.org/officeDocument/2006/relationships/image" Target="../media/image40.jpg"/><Relationship Id="rId5" Type="http://schemas.openxmlformats.org/officeDocument/2006/relationships/image" Target="../media/image41.png"/><Relationship Id="rId6" Type="http://schemas.openxmlformats.org/officeDocument/2006/relationships/image" Target="../media/image42.jpg"/><Relationship Id="rId7" Type="http://schemas.openxmlformats.org/officeDocument/2006/relationships/image" Target="../media/image43.jpg"/><Relationship Id="rId8" Type="http://schemas.openxmlformats.org/officeDocument/2006/relationships/image" Target="../media/image44.jpg"/><Relationship Id="rId9" Type="http://schemas.openxmlformats.org/officeDocument/2006/relationships/image" Target="../media/image45.png"/><Relationship Id="rId10" Type="http://schemas.openxmlformats.org/officeDocument/2006/relationships/image" Target="../media/image46.jpg"/><Relationship Id="rId11" Type="http://schemas.openxmlformats.org/officeDocument/2006/relationships/image" Target="../media/image47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jpg"/><Relationship Id="rId4" Type="http://schemas.openxmlformats.org/officeDocument/2006/relationships/image" Target="../media/image54.jpg"/><Relationship Id="rId5" Type="http://schemas.openxmlformats.org/officeDocument/2006/relationships/image" Target="../media/image55.jpg"/><Relationship Id="rId6" Type="http://schemas.openxmlformats.org/officeDocument/2006/relationships/image" Target="../media/image56.png"/><Relationship Id="rId7" Type="http://schemas.openxmlformats.org/officeDocument/2006/relationships/image" Target="../media/image57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jpg"/><Relationship Id="rId6" Type="http://schemas.openxmlformats.org/officeDocument/2006/relationships/image" Target="../media/image6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0" y="4394200"/>
            <a:ext cx="2552700" cy="26924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13900" y="6502400"/>
            <a:ext cx="444500" cy="635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42300" y="3238500"/>
            <a:ext cx="850900" cy="11303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08400" y="1358900"/>
            <a:ext cx="1828800" cy="6858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09472" y="1057980"/>
            <a:ext cx="8048625" cy="117919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50" spc="-35">
                <a:solidFill>
                  <a:srgbClr val="2A2A2A"/>
                </a:solidFill>
                <a:latin typeface="Cambria"/>
                <a:cs typeface="Cambria"/>
              </a:rPr>
              <a:t>Digltal</a:t>
            </a:r>
            <a:r>
              <a:rPr dirty="0" sz="7550" spc="-135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dirty="0" sz="7550" spc="-340">
                <a:solidFill>
                  <a:srgbClr val="282828"/>
                </a:solidFill>
                <a:latin typeface="Cambria"/>
                <a:cs typeface="Cambria"/>
              </a:rPr>
              <a:t>Family</a:t>
            </a:r>
            <a:r>
              <a:rPr dirty="0" sz="7550" spc="-75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dirty="0" sz="7550" spc="625">
                <a:solidFill>
                  <a:srgbClr val="242424"/>
                </a:solidFill>
                <a:latin typeface="Cambria"/>
                <a:cs typeface="Cambria"/>
              </a:rPr>
              <a:t>OTce</a:t>
            </a:r>
            <a:endParaRPr sz="755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258382" y="7527925"/>
            <a:ext cx="6951345" cy="189547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ctr" marL="12065" marR="5080">
              <a:lnSpc>
                <a:spcPts val="3700"/>
              </a:lnSpc>
              <a:spcBef>
                <a:spcPts val="265"/>
              </a:spcBef>
            </a:pPr>
            <a:r>
              <a:rPr dirty="0" sz="3100">
                <a:solidFill>
                  <a:srgbClr val="111111"/>
                </a:solidFill>
                <a:latin typeface="Arial"/>
                <a:cs typeface="Arial"/>
              </a:rPr>
              <a:t>Arta</a:t>
            </a:r>
            <a:r>
              <a:rPr dirty="0" sz="3100" spc="-14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3100" spc="-10">
                <a:solidFill>
                  <a:srgbClr val="0F0F0F"/>
                </a:solidFill>
                <a:latin typeface="Arial"/>
                <a:cs typeface="Arial"/>
              </a:rPr>
              <a:t>unifies</a:t>
            </a:r>
            <a:r>
              <a:rPr dirty="0" sz="3100" spc="-17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100" spc="-10">
                <a:latin typeface="Arial"/>
                <a:cs typeface="Arial"/>
              </a:rPr>
              <a:t>your</a:t>
            </a:r>
            <a:r>
              <a:rPr dirty="0" sz="3100" spc="-155">
                <a:latin typeface="Arial"/>
                <a:cs typeface="Arial"/>
              </a:rPr>
              <a:t> </a:t>
            </a:r>
            <a:r>
              <a:rPr dirty="0" sz="3100" spc="-20">
                <a:solidFill>
                  <a:srgbClr val="0C0C0C"/>
                </a:solidFill>
                <a:latin typeface="Arial"/>
                <a:cs typeface="Arial"/>
              </a:rPr>
              <a:t>financial</a:t>
            </a:r>
            <a:r>
              <a:rPr dirty="0" sz="3100" spc="-7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3100">
                <a:solidFill>
                  <a:srgbClr val="131313"/>
                </a:solidFill>
                <a:latin typeface="Arial"/>
                <a:cs typeface="Arial"/>
              </a:rPr>
              <a:t>life</a:t>
            </a:r>
            <a:r>
              <a:rPr dirty="0" sz="3100" spc="-17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3100" spc="60">
                <a:solidFill>
                  <a:srgbClr val="0E0E0E"/>
                </a:solidFill>
                <a:latin typeface="Arial"/>
                <a:cs typeface="Arial"/>
              </a:rPr>
              <a:t>to</a:t>
            </a:r>
            <a:r>
              <a:rPr dirty="0" sz="3100" spc="-215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dirty="0" sz="3100" spc="-10">
                <a:solidFill>
                  <a:srgbClr val="0F0F0F"/>
                </a:solidFill>
                <a:latin typeface="Arial"/>
                <a:cs typeface="Arial"/>
              </a:rPr>
              <a:t>help</a:t>
            </a:r>
            <a:r>
              <a:rPr dirty="0" sz="3100" spc="-15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100" spc="-25">
                <a:latin typeface="Arial"/>
                <a:cs typeface="Arial"/>
              </a:rPr>
              <a:t>you </a:t>
            </a:r>
            <a:r>
              <a:rPr dirty="0" sz="3100" spc="-105">
                <a:solidFill>
                  <a:srgbClr val="131313"/>
                </a:solidFill>
                <a:latin typeface="Arial"/>
                <a:cs typeface="Arial"/>
              </a:rPr>
              <a:t>grow,</a:t>
            </a:r>
            <a:r>
              <a:rPr dirty="0" sz="3100" spc="-11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protect,</a:t>
            </a:r>
            <a:r>
              <a:rPr dirty="0" sz="3100" spc="-125">
                <a:latin typeface="Arial"/>
                <a:cs typeface="Arial"/>
              </a:rPr>
              <a:t> </a:t>
            </a:r>
            <a:r>
              <a:rPr dirty="0" sz="3100" spc="-40">
                <a:solidFill>
                  <a:srgbClr val="0E0E0E"/>
                </a:solidFill>
                <a:latin typeface="Arial"/>
                <a:cs typeface="Arial"/>
              </a:rPr>
              <a:t>and</a:t>
            </a:r>
            <a:r>
              <a:rPr dirty="0" sz="3100" spc="-114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dirty="0" sz="3100" spc="-40">
                <a:solidFill>
                  <a:srgbClr val="0F0F0F"/>
                </a:solidFill>
                <a:latin typeface="Arial"/>
                <a:cs typeface="Arial"/>
              </a:rPr>
              <a:t>enjoy</a:t>
            </a:r>
            <a:r>
              <a:rPr dirty="0" sz="3100" spc="-114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3100">
                <a:solidFill>
                  <a:srgbClr val="0C0C0C"/>
                </a:solidFill>
                <a:latin typeface="Arial"/>
                <a:cs typeface="Arial"/>
              </a:rPr>
              <a:t>your</a:t>
            </a:r>
            <a:r>
              <a:rPr dirty="0" sz="3100" spc="3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3100" spc="-10">
                <a:latin typeface="Arial"/>
                <a:cs typeface="Arial"/>
              </a:rPr>
              <a:t>wealth.</a:t>
            </a:r>
            <a:endParaRPr sz="3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3100">
              <a:latin typeface="Arial"/>
              <a:cs typeface="Arial"/>
            </a:endParaRPr>
          </a:p>
          <a:p>
            <a:pPr algn="ctr" marL="1270">
              <a:lnSpc>
                <a:spcPct val="100000"/>
              </a:lnSpc>
            </a:pPr>
            <a:r>
              <a:rPr dirty="0" sz="2500">
                <a:solidFill>
                  <a:srgbClr val="131313"/>
                </a:solidFill>
                <a:latin typeface="Cambria"/>
                <a:cs typeface="Cambria"/>
              </a:rPr>
              <a:t>Arta</a:t>
            </a:r>
            <a:r>
              <a:rPr dirty="0" sz="2500" spc="85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Finance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5842119" y="9439980"/>
            <a:ext cx="13144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0">
                <a:latin typeface="Cambria"/>
                <a:cs typeface="Cambria"/>
              </a:rPr>
              <a:t>G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6348023" y="9439980"/>
            <a:ext cx="99695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10">
                <a:latin typeface="Cambria"/>
                <a:cs typeface="Cambria"/>
              </a:rPr>
              <a:t>NotebookLM</a:t>
            </a:r>
            <a:endParaRPr sz="1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8255000"/>
            <a:ext cx="3873500" cy="1498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6200" y="6591300"/>
            <a:ext cx="7531100" cy="31623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92200" y="7797800"/>
            <a:ext cx="3556000" cy="19558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18700" y="3721100"/>
            <a:ext cx="5448300" cy="9525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39898" y="593019"/>
            <a:ext cx="10420350" cy="1729739"/>
          </a:xfrm>
          <a:prstGeom prst="rect"/>
        </p:spPr>
        <p:txBody>
          <a:bodyPr wrap="square" lIns="0" tIns="187960" rIns="0" bIns="0" rtlCol="0" vert="horz">
            <a:spAutoFit/>
          </a:bodyPr>
          <a:lstStyle/>
          <a:p>
            <a:pPr marL="19685" marR="5080" indent="-7620">
              <a:lnSpc>
                <a:spcPts val="6000"/>
              </a:lnSpc>
              <a:spcBef>
                <a:spcPts val="1480"/>
              </a:spcBef>
            </a:pPr>
            <a:r>
              <a:rPr dirty="0" sz="6150" spc="-305">
                <a:solidFill>
                  <a:srgbClr val="232323"/>
                </a:solidFill>
                <a:latin typeface="Cambria"/>
                <a:cs typeface="Cambria"/>
              </a:rPr>
              <a:t>The</a:t>
            </a:r>
            <a:r>
              <a:rPr dirty="0" sz="6150" spc="-250">
                <a:solidFill>
                  <a:srgbClr val="232323"/>
                </a:solidFill>
                <a:latin typeface="Cambria"/>
                <a:cs typeface="Cambria"/>
              </a:rPr>
              <a:t> </a:t>
            </a:r>
            <a:r>
              <a:rPr dirty="0" sz="6150" spc="-325">
                <a:solidFill>
                  <a:srgbClr val="1A1A1A"/>
                </a:solidFill>
                <a:latin typeface="Cambria"/>
                <a:cs typeface="Cambria"/>
              </a:rPr>
              <a:t>ultra-</a:t>
            </a:r>
            <a:r>
              <a:rPr dirty="0" sz="6150" spc="-345">
                <a:solidFill>
                  <a:srgbClr val="1A1A1A"/>
                </a:solidFill>
                <a:latin typeface="Cambria"/>
                <a:cs typeface="Cambria"/>
              </a:rPr>
              <a:t>rich</a:t>
            </a:r>
            <a:r>
              <a:rPr dirty="0" sz="6150" spc="120">
                <a:solidFill>
                  <a:srgbClr val="1A1A1A"/>
                </a:solidFill>
                <a:latin typeface="Cambria"/>
                <a:cs typeface="Cambria"/>
              </a:rPr>
              <a:t> </a:t>
            </a:r>
            <a:r>
              <a:rPr dirty="0" sz="6150" spc="-350">
                <a:solidFill>
                  <a:srgbClr val="232323"/>
                </a:solidFill>
                <a:latin typeface="Cambria"/>
                <a:cs typeface="Cambria"/>
              </a:rPr>
              <a:t>manage</a:t>
            </a:r>
            <a:r>
              <a:rPr dirty="0" sz="6150" spc="-10">
                <a:solidFill>
                  <a:srgbClr val="232323"/>
                </a:solidFill>
                <a:latin typeface="Cambria"/>
                <a:cs typeface="Cambria"/>
              </a:rPr>
              <a:t> </a:t>
            </a:r>
            <a:r>
              <a:rPr dirty="0" sz="6150" spc="-360">
                <a:solidFill>
                  <a:srgbClr val="232323"/>
                </a:solidFill>
                <a:latin typeface="Cambria"/>
                <a:cs typeface="Cambria"/>
              </a:rPr>
              <a:t>their</a:t>
            </a:r>
            <a:r>
              <a:rPr dirty="0" sz="6150" spc="-75">
                <a:solidFill>
                  <a:srgbClr val="232323"/>
                </a:solidFill>
                <a:latin typeface="Cambria"/>
                <a:cs typeface="Cambria"/>
              </a:rPr>
              <a:t> </a:t>
            </a:r>
            <a:r>
              <a:rPr dirty="0" sz="6150" spc="-409">
                <a:solidFill>
                  <a:srgbClr val="232323"/>
                </a:solidFill>
                <a:latin typeface="Cambria"/>
                <a:cs typeface="Cambria"/>
              </a:rPr>
              <a:t>money </a:t>
            </a:r>
            <a:r>
              <a:rPr dirty="0" sz="6150" spc="-300">
                <a:solidFill>
                  <a:srgbClr val="1D1D1D"/>
                </a:solidFill>
                <a:latin typeface="Cambria"/>
                <a:cs typeface="Cambria"/>
              </a:rPr>
              <a:t>and</a:t>
            </a:r>
            <a:r>
              <a:rPr dirty="0" sz="6150" spc="-200">
                <a:solidFill>
                  <a:srgbClr val="1D1D1D"/>
                </a:solidFill>
                <a:latin typeface="Cambria"/>
                <a:cs typeface="Cambria"/>
              </a:rPr>
              <a:t> </a:t>
            </a:r>
            <a:r>
              <a:rPr dirty="0" sz="6150" spc="-345">
                <a:solidFill>
                  <a:srgbClr val="151515"/>
                </a:solidFill>
                <a:latin typeface="Cambria"/>
                <a:cs typeface="Cambria"/>
              </a:rPr>
              <a:t>lives</a:t>
            </a:r>
            <a:r>
              <a:rPr dirty="0" sz="6150" spc="-80">
                <a:solidFill>
                  <a:srgbClr val="151515"/>
                </a:solidFill>
                <a:latin typeface="Cambria"/>
                <a:cs typeface="Cambria"/>
              </a:rPr>
              <a:t> </a:t>
            </a:r>
            <a:r>
              <a:rPr dirty="0" sz="6150" spc="-445">
                <a:latin typeface="Cambria"/>
                <a:cs typeface="Cambria"/>
              </a:rPr>
              <a:t>very</a:t>
            </a:r>
            <a:r>
              <a:rPr dirty="0" sz="6150" spc="-25">
                <a:latin typeface="Cambria"/>
                <a:cs typeface="Cambria"/>
              </a:rPr>
              <a:t> </a:t>
            </a:r>
            <a:r>
              <a:rPr dirty="0" sz="6150" spc="-355">
                <a:solidFill>
                  <a:srgbClr val="181818"/>
                </a:solidFill>
                <a:latin typeface="Cambria"/>
                <a:cs typeface="Cambria"/>
              </a:rPr>
              <a:t>differently.</a:t>
            </a:r>
            <a:endParaRPr sz="615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44889" y="2622550"/>
            <a:ext cx="7987030" cy="245110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4604" marR="474980" indent="10795">
              <a:lnSpc>
                <a:spcPct val="97500"/>
              </a:lnSpc>
              <a:spcBef>
                <a:spcPts val="175"/>
              </a:spcBef>
            </a:pPr>
            <a:r>
              <a:rPr dirty="0" sz="2500" spc="-250">
                <a:latin typeface="Arial"/>
                <a:cs typeface="Arial"/>
              </a:rPr>
              <a:t>They</a:t>
            </a:r>
            <a:r>
              <a:rPr dirty="0" sz="2500" spc="45">
                <a:latin typeface="Arial"/>
                <a:cs typeface="Arial"/>
              </a:rPr>
              <a:t> </a:t>
            </a:r>
            <a:r>
              <a:rPr dirty="0" sz="2500" spc="-200">
                <a:latin typeface="Arial"/>
                <a:cs typeface="Arial"/>
              </a:rPr>
              <a:t>use</a:t>
            </a:r>
            <a:r>
              <a:rPr dirty="0" sz="2500" spc="-95">
                <a:latin typeface="Arial"/>
                <a:cs typeface="Arial"/>
              </a:rPr>
              <a:t> </a:t>
            </a:r>
            <a:r>
              <a:rPr dirty="0" sz="2500" spc="-375">
                <a:latin typeface="Arial"/>
                <a:cs typeface="Arial"/>
              </a:rPr>
              <a:t>a</a:t>
            </a:r>
            <a:r>
              <a:rPr dirty="0" sz="2500" spc="100">
                <a:latin typeface="Arial"/>
                <a:cs typeface="Arial"/>
              </a:rPr>
              <a:t> </a:t>
            </a:r>
            <a:r>
              <a:rPr dirty="0" sz="2500" spc="-200">
                <a:latin typeface="Arial"/>
                <a:cs typeface="Arial"/>
              </a:rPr>
              <a:t>set</a:t>
            </a:r>
            <a:r>
              <a:rPr dirty="0" sz="2500">
                <a:latin typeface="Arial"/>
                <a:cs typeface="Arial"/>
              </a:rPr>
              <a:t> </a:t>
            </a:r>
            <a:r>
              <a:rPr dirty="0" sz="2500" spc="-65">
                <a:latin typeface="Arial"/>
                <a:cs typeface="Arial"/>
              </a:rPr>
              <a:t>of</a:t>
            </a:r>
            <a:r>
              <a:rPr dirty="0" sz="2500" spc="-110">
                <a:latin typeface="Arial"/>
                <a:cs typeface="Arial"/>
              </a:rPr>
              <a:t> </a:t>
            </a:r>
            <a:r>
              <a:rPr dirty="0" sz="2500" spc="-125">
                <a:latin typeface="Arial"/>
                <a:cs typeface="Arial"/>
              </a:rPr>
              <a:t>'financial</a:t>
            </a:r>
            <a:r>
              <a:rPr dirty="0" sz="2500" spc="-15">
                <a:latin typeface="Arial"/>
                <a:cs typeface="Arial"/>
              </a:rPr>
              <a:t> </a:t>
            </a:r>
            <a:r>
              <a:rPr dirty="0" sz="2500" spc="-170">
                <a:latin typeface="Arial"/>
                <a:cs typeface="Arial"/>
              </a:rPr>
              <a:t>superpowers’</a:t>
            </a:r>
            <a:r>
              <a:rPr dirty="0" sz="2500" spc="110">
                <a:latin typeface="Arial"/>
                <a:cs typeface="Arial"/>
              </a:rPr>
              <a:t> </a:t>
            </a:r>
            <a:r>
              <a:rPr dirty="0" sz="2500" spc="-75">
                <a:latin typeface="Arial"/>
                <a:cs typeface="Arial"/>
              </a:rPr>
              <a:t>to</a:t>
            </a:r>
            <a:r>
              <a:rPr dirty="0" sz="2500" spc="-50">
                <a:latin typeface="Arial"/>
                <a:cs typeface="Arial"/>
              </a:rPr>
              <a:t> </a:t>
            </a:r>
            <a:r>
              <a:rPr dirty="0" sz="2500" spc="-195">
                <a:latin typeface="Arial"/>
                <a:cs typeface="Arial"/>
              </a:rPr>
              <a:t>grow</a:t>
            </a:r>
            <a:r>
              <a:rPr dirty="0" sz="2500" spc="40">
                <a:latin typeface="Arial"/>
                <a:cs typeface="Arial"/>
              </a:rPr>
              <a:t> </a:t>
            </a:r>
            <a:r>
              <a:rPr dirty="0" sz="2500" spc="-220">
                <a:latin typeface="Arial"/>
                <a:cs typeface="Arial"/>
              </a:rPr>
              <a:t>and</a:t>
            </a:r>
            <a:r>
              <a:rPr dirty="0" sz="2500" spc="-114">
                <a:latin typeface="Arial"/>
                <a:cs typeface="Arial"/>
              </a:rPr>
              <a:t> </a:t>
            </a:r>
            <a:r>
              <a:rPr dirty="0" sz="2500" spc="-100">
                <a:latin typeface="Arial"/>
                <a:cs typeface="Arial"/>
              </a:rPr>
              <a:t>protect </a:t>
            </a:r>
            <a:r>
              <a:rPr dirty="0" sz="2500" spc="-105">
                <a:latin typeface="Arial"/>
                <a:cs typeface="Arial"/>
              </a:rPr>
              <a:t>their</a:t>
            </a:r>
            <a:r>
              <a:rPr dirty="0" sz="2500" spc="-30">
                <a:latin typeface="Arial"/>
                <a:cs typeface="Arial"/>
              </a:rPr>
              <a:t> </a:t>
            </a:r>
            <a:r>
              <a:rPr dirty="0" sz="2500" spc="-229">
                <a:latin typeface="Arial"/>
                <a:cs typeface="Arial"/>
              </a:rPr>
              <a:t>money.</a:t>
            </a:r>
            <a:r>
              <a:rPr dirty="0" sz="2500" spc="-35">
                <a:latin typeface="Arial"/>
                <a:cs typeface="Arial"/>
              </a:rPr>
              <a:t> </a:t>
            </a:r>
            <a:r>
              <a:rPr dirty="0" sz="2500" spc="-229">
                <a:latin typeface="Arial"/>
                <a:cs typeface="Arial"/>
              </a:rPr>
              <a:t>They</a:t>
            </a:r>
            <a:r>
              <a:rPr dirty="0" sz="2500" spc="20">
                <a:latin typeface="Arial"/>
                <a:cs typeface="Arial"/>
              </a:rPr>
              <a:t> </a:t>
            </a:r>
            <a:r>
              <a:rPr dirty="0" sz="2500" spc="-195">
                <a:latin typeface="Arial"/>
                <a:cs typeface="Arial"/>
              </a:rPr>
              <a:t>access</a:t>
            </a:r>
            <a:r>
              <a:rPr dirty="0" sz="2500" spc="30">
                <a:latin typeface="Arial"/>
                <a:cs typeface="Arial"/>
              </a:rPr>
              <a:t> </a:t>
            </a:r>
            <a:r>
              <a:rPr dirty="0" sz="2500" spc="-140">
                <a:latin typeface="Arial"/>
                <a:cs typeface="Arial"/>
              </a:rPr>
              <a:t>private</a:t>
            </a:r>
            <a:r>
              <a:rPr dirty="0" sz="2500" spc="-85">
                <a:latin typeface="Arial"/>
                <a:cs typeface="Arial"/>
              </a:rPr>
              <a:t> </a:t>
            </a:r>
            <a:r>
              <a:rPr dirty="0" sz="2500" spc="-180">
                <a:latin typeface="Arial"/>
                <a:cs typeface="Arial"/>
              </a:rPr>
              <a:t>markets,</a:t>
            </a:r>
            <a:r>
              <a:rPr dirty="0" sz="2500" spc="90">
                <a:latin typeface="Arial"/>
                <a:cs typeface="Arial"/>
              </a:rPr>
              <a:t> </a:t>
            </a:r>
            <a:r>
              <a:rPr dirty="0" sz="2500" spc="-240">
                <a:latin typeface="Arial"/>
                <a:cs typeface="Arial"/>
              </a:rPr>
              <a:t>use</a:t>
            </a:r>
            <a:r>
              <a:rPr dirty="0" sz="2500" spc="-45">
                <a:latin typeface="Arial"/>
                <a:cs typeface="Arial"/>
              </a:rPr>
              <a:t> </a:t>
            </a:r>
            <a:r>
              <a:rPr dirty="0" sz="2500" spc="-75">
                <a:latin typeface="Arial"/>
                <a:cs typeface="Arial"/>
              </a:rPr>
              <a:t>sophisticated </a:t>
            </a:r>
            <a:r>
              <a:rPr dirty="0" sz="2500" spc="-160">
                <a:latin typeface="Arial"/>
                <a:cs typeface="Arial"/>
              </a:rPr>
              <a:t>strategies,</a:t>
            </a:r>
            <a:r>
              <a:rPr dirty="0" sz="2500" spc="30">
                <a:latin typeface="Arial"/>
                <a:cs typeface="Arial"/>
              </a:rPr>
              <a:t> </a:t>
            </a:r>
            <a:r>
              <a:rPr dirty="0" sz="2500" spc="-215">
                <a:latin typeface="Arial"/>
                <a:cs typeface="Arial"/>
              </a:rPr>
              <a:t>and</a:t>
            </a:r>
            <a:r>
              <a:rPr dirty="0" sz="2500" spc="-15">
                <a:latin typeface="Arial"/>
                <a:cs typeface="Arial"/>
              </a:rPr>
              <a:t> </a:t>
            </a:r>
            <a:r>
              <a:rPr dirty="0" sz="2500" spc="-240">
                <a:latin typeface="Arial"/>
                <a:cs typeface="Arial"/>
              </a:rPr>
              <a:t>have</a:t>
            </a:r>
            <a:r>
              <a:rPr dirty="0" sz="2500" spc="-20">
                <a:latin typeface="Arial"/>
                <a:cs typeface="Arial"/>
              </a:rPr>
              <a:t> </a:t>
            </a:r>
            <a:r>
              <a:rPr dirty="0" sz="2500" spc="-254">
                <a:latin typeface="Arial"/>
                <a:cs typeface="Arial"/>
              </a:rPr>
              <a:t>a</a:t>
            </a:r>
            <a:r>
              <a:rPr dirty="0" sz="2500" spc="-30">
                <a:latin typeface="Arial"/>
                <a:cs typeface="Arial"/>
              </a:rPr>
              <a:t> </a:t>
            </a:r>
            <a:r>
              <a:rPr dirty="0" sz="2500" spc="-150">
                <a:latin typeface="Arial"/>
                <a:cs typeface="Arial"/>
              </a:rPr>
              <a:t>dedicated</a:t>
            </a:r>
            <a:r>
              <a:rPr dirty="0" sz="2500" spc="9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team.</a:t>
            </a:r>
            <a:endParaRPr sz="2500">
              <a:latin typeface="Arial"/>
              <a:cs typeface="Arial"/>
            </a:endParaRPr>
          </a:p>
          <a:p>
            <a:pPr marL="12700" marR="5080" indent="12700">
              <a:lnSpc>
                <a:spcPct val="103000"/>
              </a:lnSpc>
              <a:spcBef>
                <a:spcPts val="1415"/>
              </a:spcBef>
            </a:pPr>
            <a:r>
              <a:rPr dirty="0" sz="2350" spc="-125">
                <a:latin typeface="Arial"/>
                <a:cs typeface="Arial"/>
              </a:rPr>
              <a:t>This</a:t>
            </a:r>
            <a:r>
              <a:rPr dirty="0" sz="2350" spc="-5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isn't</a:t>
            </a:r>
            <a:r>
              <a:rPr dirty="0" sz="2350" spc="-135">
                <a:latin typeface="Arial"/>
                <a:cs typeface="Arial"/>
              </a:rPr>
              <a:t> </a:t>
            </a:r>
            <a:r>
              <a:rPr dirty="0" sz="2350" spc="-65">
                <a:latin typeface="Arial"/>
                <a:cs typeface="Arial"/>
              </a:rPr>
              <a:t>just</a:t>
            </a:r>
            <a:r>
              <a:rPr dirty="0" sz="2350" spc="-100">
                <a:latin typeface="Arial"/>
                <a:cs typeface="Arial"/>
              </a:rPr>
              <a:t> </a:t>
            </a:r>
            <a:r>
              <a:rPr dirty="0" sz="2350" spc="-75">
                <a:latin typeface="Arial"/>
                <a:cs typeface="Arial"/>
              </a:rPr>
              <a:t>about</a:t>
            </a:r>
            <a:r>
              <a:rPr dirty="0" sz="2350" spc="-10">
                <a:latin typeface="Arial"/>
                <a:cs typeface="Arial"/>
              </a:rPr>
              <a:t> </a:t>
            </a:r>
            <a:r>
              <a:rPr dirty="0" sz="2350" spc="-100">
                <a:latin typeface="Arial"/>
                <a:cs typeface="Arial"/>
              </a:rPr>
              <a:t>having</a:t>
            </a:r>
            <a:r>
              <a:rPr dirty="0" sz="2350" spc="-30">
                <a:latin typeface="Arial"/>
                <a:cs typeface="Arial"/>
              </a:rPr>
              <a:t> </a:t>
            </a:r>
            <a:r>
              <a:rPr dirty="0" sz="2350" spc="-130">
                <a:latin typeface="Arial"/>
                <a:cs typeface="Arial"/>
              </a:rPr>
              <a:t>more</a:t>
            </a:r>
            <a:r>
              <a:rPr dirty="0" sz="2350" spc="-35">
                <a:latin typeface="Arial"/>
                <a:cs typeface="Arial"/>
              </a:rPr>
              <a:t> </a:t>
            </a:r>
            <a:r>
              <a:rPr dirty="0" sz="2350" spc="-235">
                <a:latin typeface="Arial"/>
                <a:cs typeface="Arial"/>
              </a:rPr>
              <a:t>mOney;</a:t>
            </a:r>
            <a:r>
              <a:rPr dirty="0" sz="2350" spc="75">
                <a:latin typeface="Arial"/>
                <a:cs typeface="Arial"/>
              </a:rPr>
              <a:t> </a:t>
            </a:r>
            <a:r>
              <a:rPr dirty="0" sz="2350" spc="-120">
                <a:latin typeface="Arial"/>
                <a:cs typeface="Arial"/>
              </a:rPr>
              <a:t>it'S</a:t>
            </a:r>
            <a:r>
              <a:rPr dirty="0" sz="2350" spc="-45">
                <a:latin typeface="Arial"/>
                <a:cs typeface="Arial"/>
              </a:rPr>
              <a:t> </a:t>
            </a:r>
            <a:r>
              <a:rPr dirty="0" sz="2350" spc="-75">
                <a:latin typeface="Arial"/>
                <a:cs typeface="Arial"/>
              </a:rPr>
              <a:t>about</a:t>
            </a:r>
            <a:r>
              <a:rPr dirty="0" sz="2350" spc="-15">
                <a:latin typeface="Arial"/>
                <a:cs typeface="Arial"/>
              </a:rPr>
              <a:t> </a:t>
            </a:r>
            <a:r>
              <a:rPr dirty="0" sz="2350" spc="-105">
                <a:latin typeface="Arial"/>
                <a:cs typeface="Arial"/>
              </a:rPr>
              <a:t>having</a:t>
            </a:r>
            <a:r>
              <a:rPr dirty="0" sz="2350" spc="-55">
                <a:latin typeface="Arial"/>
                <a:cs typeface="Arial"/>
              </a:rPr>
              <a:t> </a:t>
            </a:r>
            <a:r>
              <a:rPr dirty="0" sz="2350" spc="-85">
                <a:latin typeface="Arial"/>
                <a:cs typeface="Arial"/>
              </a:rPr>
              <a:t>access </a:t>
            </a:r>
            <a:r>
              <a:rPr dirty="0" sz="2300">
                <a:latin typeface="Arial"/>
                <a:cs typeface="Arial"/>
              </a:rPr>
              <a:t>to</a:t>
            </a:r>
            <a:r>
              <a:rPr dirty="0" sz="2300" spc="-160">
                <a:latin typeface="Arial"/>
                <a:cs typeface="Arial"/>
              </a:rPr>
              <a:t> </a:t>
            </a:r>
            <a:r>
              <a:rPr dirty="0" sz="2300" spc="-270">
                <a:latin typeface="Arial"/>
                <a:cs typeface="Arial"/>
              </a:rPr>
              <a:t>a</a:t>
            </a:r>
            <a:r>
              <a:rPr dirty="0" sz="2300" spc="4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different</a:t>
            </a:r>
            <a:r>
              <a:rPr dirty="0" sz="2300" spc="-105">
                <a:latin typeface="Arial"/>
                <a:cs typeface="Arial"/>
              </a:rPr>
              <a:t> </a:t>
            </a:r>
            <a:r>
              <a:rPr dirty="0" sz="2300" spc="-40">
                <a:latin typeface="Arial"/>
                <a:cs typeface="Arial"/>
              </a:rPr>
              <a:t>system.</a:t>
            </a:r>
            <a:r>
              <a:rPr dirty="0" sz="2300" spc="20">
                <a:latin typeface="Arial"/>
                <a:cs typeface="Arial"/>
              </a:rPr>
              <a:t> </a:t>
            </a:r>
            <a:r>
              <a:rPr dirty="0" sz="2300" spc="-280">
                <a:latin typeface="Arial"/>
                <a:cs typeface="Arial"/>
              </a:rPr>
              <a:t>A</a:t>
            </a:r>
            <a:r>
              <a:rPr dirty="0" sz="2300" spc="15">
                <a:latin typeface="Arial"/>
                <a:cs typeface="Arial"/>
              </a:rPr>
              <a:t> </a:t>
            </a:r>
            <a:r>
              <a:rPr dirty="0" sz="2300" spc="-65">
                <a:latin typeface="Arial"/>
                <a:cs typeface="Arial"/>
              </a:rPr>
              <a:t>system</a:t>
            </a:r>
            <a:r>
              <a:rPr dirty="0" sz="2300" spc="-8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that</a:t>
            </a:r>
            <a:r>
              <a:rPr dirty="0" sz="2300" spc="-5">
                <a:latin typeface="Arial"/>
                <a:cs typeface="Arial"/>
              </a:rPr>
              <a:t> </a:t>
            </a:r>
            <a:r>
              <a:rPr dirty="0" sz="2300" spc="-114">
                <a:latin typeface="Arial"/>
                <a:cs typeface="Arial"/>
              </a:rPr>
              <a:t>has</a:t>
            </a:r>
            <a:r>
              <a:rPr dirty="0" sz="2300" spc="-45">
                <a:latin typeface="Arial"/>
                <a:cs typeface="Arial"/>
              </a:rPr>
              <a:t> </a:t>
            </a:r>
            <a:r>
              <a:rPr dirty="0" sz="2300" spc="-55">
                <a:latin typeface="Arial"/>
                <a:cs typeface="Arial"/>
              </a:rPr>
              <a:t>been</a:t>
            </a:r>
            <a:r>
              <a:rPr dirty="0" sz="2300" spc="-25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historically </a:t>
            </a:r>
            <a:r>
              <a:rPr dirty="0" sz="2500" spc="-175">
                <a:latin typeface="Arial"/>
                <a:cs typeface="Arial"/>
              </a:rPr>
              <a:t>unavailable</a:t>
            </a:r>
            <a:r>
              <a:rPr dirty="0" sz="2500" spc="55">
                <a:latin typeface="Arial"/>
                <a:cs typeface="Arial"/>
              </a:rPr>
              <a:t> </a:t>
            </a:r>
            <a:r>
              <a:rPr dirty="0" sz="2500" spc="-120">
                <a:latin typeface="Arial"/>
                <a:cs typeface="Arial"/>
              </a:rPr>
              <a:t>to</a:t>
            </a:r>
            <a:r>
              <a:rPr dirty="0" sz="2500" spc="-95">
                <a:latin typeface="Arial"/>
                <a:cs typeface="Arial"/>
              </a:rPr>
              <a:t> </a:t>
            </a:r>
            <a:r>
              <a:rPr dirty="0" sz="2500" spc="-10">
                <a:latin typeface="Arial"/>
                <a:cs typeface="Arial"/>
              </a:rPr>
              <a:t>most.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8900" y="6591300"/>
            <a:ext cx="2578100" cy="18415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12000" y="6604000"/>
            <a:ext cx="6019800" cy="182880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003300" y="8758766"/>
            <a:ext cx="15231744" cy="4445"/>
            <a:chOff x="1003300" y="8758766"/>
            <a:chExt cx="15231744" cy="4445"/>
          </a:xfrm>
        </p:grpSpPr>
        <p:sp>
          <p:nvSpPr>
            <p:cNvPr id="5" name="object 5" descr=""/>
            <p:cNvSpPr/>
            <p:nvPr/>
          </p:nvSpPr>
          <p:spPr>
            <a:xfrm>
              <a:off x="1003300" y="8760883"/>
              <a:ext cx="10380345" cy="0"/>
            </a:xfrm>
            <a:custGeom>
              <a:avLst/>
              <a:gdLst/>
              <a:ahLst/>
              <a:cxnLst/>
              <a:rect l="l" t="t" r="r" b="b"/>
              <a:pathLst>
                <a:path w="10380345" h="0">
                  <a:moveTo>
                    <a:pt x="0" y="0"/>
                  </a:moveTo>
                  <a:lnTo>
                    <a:pt x="10380133" y="0"/>
                  </a:lnTo>
                </a:path>
              </a:pathLst>
            </a:custGeom>
            <a:ln w="42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404600" y="8760883"/>
              <a:ext cx="4830445" cy="0"/>
            </a:xfrm>
            <a:custGeom>
              <a:avLst/>
              <a:gdLst/>
              <a:ahLst/>
              <a:cxnLst/>
              <a:rect l="l" t="t" r="r" b="b"/>
              <a:pathLst>
                <a:path w="4830444" h="0">
                  <a:moveTo>
                    <a:pt x="0" y="0"/>
                  </a:moveTo>
                  <a:lnTo>
                    <a:pt x="4830233" y="0"/>
                  </a:lnTo>
                </a:path>
              </a:pathLst>
            </a:custGeom>
            <a:ln w="42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14541500" y="8405283"/>
            <a:ext cx="347345" cy="0"/>
          </a:xfrm>
          <a:custGeom>
            <a:avLst/>
            <a:gdLst/>
            <a:ahLst/>
            <a:cxnLst/>
            <a:rect l="l" t="t" r="r" b="b"/>
            <a:pathLst>
              <a:path w="347344" h="0">
                <a:moveTo>
                  <a:pt x="0" y="0"/>
                </a:moveTo>
                <a:lnTo>
                  <a:pt x="347133" y="0"/>
                </a:lnTo>
              </a:path>
            </a:pathLst>
          </a:custGeom>
          <a:ln w="29633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700" spc="-570">
                <a:solidFill>
                  <a:srgbClr val="2D2D2D"/>
                </a:solidFill>
                <a:latin typeface="Cambria"/>
                <a:cs typeface="Cambria"/>
              </a:rPr>
              <a:t>Atawas</a:t>
            </a:r>
            <a:r>
              <a:rPr dirty="0" sz="7700" spc="-355">
                <a:solidFill>
                  <a:srgbClr val="2D2D2D"/>
                </a:solidFill>
                <a:latin typeface="Cambria"/>
                <a:cs typeface="Cambria"/>
              </a:rPr>
              <a:t> </a:t>
            </a:r>
            <a:r>
              <a:rPr dirty="0" sz="7700" spc="-685">
                <a:solidFill>
                  <a:srgbClr val="282828"/>
                </a:solidFill>
                <a:latin typeface="Cambria"/>
                <a:cs typeface="Cambria"/>
              </a:rPr>
              <a:t>builttogive</a:t>
            </a:r>
            <a:r>
              <a:rPr dirty="0" sz="7700" spc="-26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dirty="0" sz="7700" spc="-1025">
                <a:solidFill>
                  <a:srgbClr val="2F2F2F"/>
                </a:solidFill>
                <a:latin typeface="Cambria"/>
                <a:cs typeface="Cambria"/>
              </a:rPr>
              <a:t>you</a:t>
            </a:r>
            <a:r>
              <a:rPr dirty="0" sz="7700" spc="-525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dirty="0" sz="7700" spc="-900">
                <a:solidFill>
                  <a:srgbClr val="2F2F2F"/>
                </a:solidFill>
                <a:latin typeface="Cambria"/>
                <a:cs typeface="Cambria"/>
              </a:rPr>
              <a:t>that</a:t>
            </a:r>
            <a:r>
              <a:rPr dirty="0" sz="7700" spc="-350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dirty="0" sz="7700" spc="-975">
                <a:solidFill>
                  <a:srgbClr val="2D2D2D"/>
                </a:solidFill>
                <a:latin typeface="Cambria"/>
                <a:cs typeface="Cambria"/>
              </a:rPr>
              <a:t>system.</a:t>
            </a:r>
            <a:endParaRPr sz="770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415833" y="2263069"/>
            <a:ext cx="8458200" cy="244411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algn="ctr" marL="12065" marR="5080">
              <a:lnSpc>
                <a:spcPct val="98800"/>
              </a:lnSpc>
              <a:spcBef>
                <a:spcPts val="165"/>
              </a:spcBef>
            </a:pPr>
            <a:r>
              <a:rPr dirty="0" sz="2400" spc="-245">
                <a:latin typeface="Arial"/>
                <a:cs typeface="Arial"/>
              </a:rPr>
              <a:t>We</a:t>
            </a:r>
            <a:r>
              <a:rPr dirty="0" sz="2400" spc="35">
                <a:latin typeface="Arial"/>
                <a:cs typeface="Arial"/>
              </a:rPr>
              <a:t> </a:t>
            </a:r>
            <a:r>
              <a:rPr dirty="0" sz="2400" spc="-150">
                <a:latin typeface="Arial"/>
                <a:cs typeface="Arial"/>
              </a:rPr>
              <a:t>are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220">
                <a:latin typeface="Arial"/>
                <a:cs typeface="Arial"/>
              </a:rPr>
              <a:t>a</a:t>
            </a:r>
            <a:r>
              <a:rPr dirty="0" sz="2400" spc="2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next</a:t>
            </a:r>
            <a:r>
              <a:rPr dirty="0" sz="2400" spc="-140">
                <a:latin typeface="Arial"/>
                <a:cs typeface="Arial"/>
              </a:rPr>
              <a:t> </a:t>
            </a:r>
            <a:r>
              <a:rPr dirty="0" sz="2400" spc="-55">
                <a:latin typeface="Arial"/>
                <a:cs typeface="Arial"/>
              </a:rPr>
              <a:t>generation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45">
                <a:latin typeface="Arial"/>
                <a:cs typeface="Arial"/>
              </a:rPr>
              <a:t>investment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platform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 spc="-45">
                <a:latin typeface="Arial"/>
                <a:cs typeface="Arial"/>
              </a:rPr>
              <a:t>providing</a:t>
            </a:r>
            <a:r>
              <a:rPr dirty="0" sz="2400" spc="15">
                <a:latin typeface="Arial"/>
                <a:cs typeface="Arial"/>
              </a:rPr>
              <a:t> </a:t>
            </a:r>
            <a:r>
              <a:rPr dirty="0" sz="2400" spc="-55">
                <a:latin typeface="Arial"/>
                <a:cs typeface="Arial"/>
              </a:rPr>
              <a:t>seamless </a:t>
            </a:r>
            <a:r>
              <a:rPr dirty="0" sz="2400" spc="-75">
                <a:latin typeface="Arial"/>
                <a:cs typeface="Arial"/>
              </a:rPr>
              <a:t>access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135">
                <a:latin typeface="Arial"/>
                <a:cs typeface="Arial"/>
              </a:rPr>
              <a:t> </a:t>
            </a:r>
            <a:r>
              <a:rPr dirty="0" sz="2400" spc="-45">
                <a:latin typeface="Arial"/>
                <a:cs typeface="Arial"/>
              </a:rPr>
              <a:t>public</a:t>
            </a:r>
            <a:r>
              <a:rPr dirty="0" sz="2400" spc="5">
                <a:latin typeface="Arial"/>
                <a:cs typeface="Arial"/>
              </a:rPr>
              <a:t> </a:t>
            </a:r>
            <a:r>
              <a:rPr dirty="0" sz="2400" spc="-105">
                <a:latin typeface="Arial"/>
                <a:cs typeface="Arial"/>
              </a:rPr>
              <a:t>and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45">
                <a:latin typeface="Arial"/>
                <a:cs typeface="Arial"/>
              </a:rPr>
              <a:t>private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 spc="-40">
                <a:latin typeface="Arial"/>
                <a:cs typeface="Arial"/>
              </a:rPr>
              <a:t>investment</a:t>
            </a:r>
            <a:r>
              <a:rPr dirty="0" sz="2400" spc="145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opportunities,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along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with </a:t>
            </a:r>
            <a:r>
              <a:rPr dirty="0" sz="2500" spc="-100">
                <a:latin typeface="Arial"/>
                <a:cs typeface="Arial"/>
              </a:rPr>
              <a:t>expert</a:t>
            </a:r>
            <a:r>
              <a:rPr dirty="0" sz="2500" spc="-75">
                <a:latin typeface="Arial"/>
                <a:cs typeface="Arial"/>
              </a:rPr>
              <a:t> </a:t>
            </a:r>
            <a:r>
              <a:rPr dirty="0" sz="2500" spc="-80">
                <a:latin typeface="Arial"/>
                <a:cs typeface="Arial"/>
              </a:rPr>
              <a:t>financial</a:t>
            </a:r>
            <a:r>
              <a:rPr dirty="0" sz="2500" spc="-95">
                <a:latin typeface="Arial"/>
                <a:cs typeface="Arial"/>
              </a:rPr>
              <a:t> </a:t>
            </a:r>
            <a:r>
              <a:rPr dirty="0" sz="2500" spc="-120">
                <a:latin typeface="Arial"/>
                <a:cs typeface="Arial"/>
              </a:rPr>
              <a:t>services,</a:t>
            </a:r>
            <a:r>
              <a:rPr dirty="0" sz="2500" spc="-55">
                <a:latin typeface="Arial"/>
                <a:cs typeface="Arial"/>
              </a:rPr>
              <a:t> </a:t>
            </a:r>
            <a:r>
              <a:rPr dirty="0" sz="2500" spc="-100">
                <a:latin typeface="Arial"/>
                <a:cs typeface="Arial"/>
              </a:rPr>
              <a:t>previously</a:t>
            </a:r>
            <a:r>
              <a:rPr dirty="0" sz="2500" spc="15">
                <a:latin typeface="Arial"/>
                <a:cs typeface="Arial"/>
              </a:rPr>
              <a:t> </a:t>
            </a:r>
            <a:r>
              <a:rPr dirty="0" sz="2500" spc="-125">
                <a:latin typeface="Arial"/>
                <a:cs typeface="Arial"/>
              </a:rPr>
              <a:t>reserved</a:t>
            </a:r>
            <a:r>
              <a:rPr dirty="0" sz="2500" spc="-40">
                <a:latin typeface="Arial"/>
                <a:cs typeface="Arial"/>
              </a:rPr>
              <a:t> </a:t>
            </a:r>
            <a:r>
              <a:rPr dirty="0" sz="2500" spc="-65">
                <a:latin typeface="Arial"/>
                <a:cs typeface="Arial"/>
              </a:rPr>
              <a:t>for</a:t>
            </a:r>
            <a:r>
              <a:rPr dirty="0" sz="2500" spc="-80">
                <a:latin typeface="Arial"/>
                <a:cs typeface="Arial"/>
              </a:rPr>
              <a:t> </a:t>
            </a:r>
            <a:r>
              <a:rPr dirty="0" sz="2500" spc="-50">
                <a:latin typeface="Arial"/>
                <a:cs typeface="Arial"/>
              </a:rPr>
              <a:t>institutions</a:t>
            </a:r>
            <a:r>
              <a:rPr dirty="0" sz="2500" spc="50">
                <a:latin typeface="Arial"/>
                <a:cs typeface="Arial"/>
              </a:rPr>
              <a:t> </a:t>
            </a:r>
            <a:r>
              <a:rPr dirty="0" sz="2500" spc="-25">
                <a:latin typeface="Arial"/>
                <a:cs typeface="Arial"/>
              </a:rPr>
              <a:t>and </a:t>
            </a:r>
            <a:r>
              <a:rPr dirty="0" sz="2550" spc="-140">
                <a:latin typeface="Arial"/>
                <a:cs typeface="Arial"/>
              </a:rPr>
              <a:t>the</a:t>
            </a:r>
            <a:r>
              <a:rPr dirty="0" sz="2550" spc="-45">
                <a:latin typeface="Arial"/>
                <a:cs typeface="Arial"/>
              </a:rPr>
              <a:t> </a:t>
            </a:r>
            <a:r>
              <a:rPr dirty="0" sz="2550" spc="-120">
                <a:latin typeface="Arial"/>
                <a:cs typeface="Arial"/>
              </a:rPr>
              <a:t>ultra-</a:t>
            </a:r>
            <a:r>
              <a:rPr dirty="0" sz="2550" spc="-10">
                <a:latin typeface="Arial"/>
                <a:cs typeface="Arial"/>
              </a:rPr>
              <a:t>wealthy.</a:t>
            </a:r>
            <a:endParaRPr sz="2550">
              <a:latin typeface="Arial"/>
              <a:cs typeface="Arial"/>
            </a:endParaRPr>
          </a:p>
          <a:p>
            <a:pPr algn="ctr" marL="19685">
              <a:lnSpc>
                <a:spcPts val="2810"/>
              </a:lnSpc>
              <a:spcBef>
                <a:spcPts val="1440"/>
              </a:spcBef>
            </a:pPr>
            <a:r>
              <a:rPr dirty="0" sz="2350" spc="-204">
                <a:latin typeface="Arial"/>
                <a:cs typeface="Arial"/>
              </a:rPr>
              <a:t>We</a:t>
            </a:r>
            <a:r>
              <a:rPr dirty="0" sz="2350" spc="-130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unite</a:t>
            </a:r>
            <a:r>
              <a:rPr dirty="0" sz="2350" spc="-165">
                <a:latin typeface="Arial"/>
                <a:cs typeface="Arial"/>
              </a:rPr>
              <a:t> </a:t>
            </a:r>
            <a:r>
              <a:rPr dirty="0" sz="2350" spc="-40">
                <a:latin typeface="Arial"/>
                <a:cs typeface="Arial"/>
              </a:rPr>
              <a:t>deep</a:t>
            </a:r>
            <a:r>
              <a:rPr dirty="0" sz="2350" spc="-120">
                <a:latin typeface="Arial"/>
                <a:cs typeface="Arial"/>
              </a:rPr>
              <a:t> </a:t>
            </a:r>
            <a:r>
              <a:rPr dirty="0" sz="2350" spc="-10">
                <a:latin typeface="Arial"/>
                <a:cs typeface="Arial"/>
              </a:rPr>
              <a:t>tech</a:t>
            </a:r>
            <a:r>
              <a:rPr dirty="0" sz="2350" spc="-155">
                <a:latin typeface="Arial"/>
                <a:cs typeface="Arial"/>
              </a:rPr>
              <a:t> </a:t>
            </a:r>
            <a:r>
              <a:rPr dirty="0" sz="2350" spc="-55">
                <a:latin typeface="Arial"/>
                <a:cs typeface="Arial"/>
              </a:rPr>
              <a:t>and</a:t>
            </a:r>
            <a:r>
              <a:rPr dirty="0" sz="2350" spc="-10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high</a:t>
            </a:r>
            <a:r>
              <a:rPr dirty="0" sz="2350" spc="-100">
                <a:latin typeface="Arial"/>
                <a:cs typeface="Arial"/>
              </a:rPr>
              <a:t> </a:t>
            </a:r>
            <a:r>
              <a:rPr dirty="0" sz="2350" spc="-30">
                <a:latin typeface="Arial"/>
                <a:cs typeface="Arial"/>
              </a:rPr>
              <a:t>finance</a:t>
            </a:r>
            <a:r>
              <a:rPr dirty="0" sz="2350" spc="-13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to</a:t>
            </a:r>
            <a:r>
              <a:rPr dirty="0" sz="2350" spc="-75">
                <a:latin typeface="Arial"/>
                <a:cs typeface="Arial"/>
              </a:rPr>
              <a:t> </a:t>
            </a:r>
            <a:r>
              <a:rPr dirty="0" sz="2350" spc="-35">
                <a:latin typeface="Arial"/>
                <a:cs typeface="Arial"/>
              </a:rPr>
              <a:t>deliver</a:t>
            </a:r>
            <a:r>
              <a:rPr dirty="0" sz="2350" spc="-50">
                <a:latin typeface="Arial"/>
                <a:cs typeface="Arial"/>
              </a:rPr>
              <a:t> </a:t>
            </a:r>
            <a:r>
              <a:rPr dirty="0" sz="2350" spc="-10">
                <a:latin typeface="Arial"/>
                <a:cs typeface="Arial"/>
              </a:rPr>
              <a:t>your</a:t>
            </a:r>
            <a:r>
              <a:rPr dirty="0" sz="2350" spc="-15">
                <a:latin typeface="Arial"/>
                <a:cs typeface="Arial"/>
              </a:rPr>
              <a:t> </a:t>
            </a:r>
            <a:r>
              <a:rPr dirty="0" sz="2350" spc="-10">
                <a:latin typeface="Arial"/>
                <a:cs typeface="Arial"/>
              </a:rPr>
              <a:t>digital</a:t>
            </a:r>
            <a:endParaRPr sz="2350">
              <a:latin typeface="Arial"/>
              <a:cs typeface="Arial"/>
            </a:endParaRPr>
          </a:p>
          <a:p>
            <a:pPr algn="ctr" marL="13970">
              <a:lnSpc>
                <a:spcPts val="3050"/>
              </a:lnSpc>
            </a:pPr>
            <a:r>
              <a:rPr dirty="0" sz="2550" spc="-105">
                <a:latin typeface="Arial"/>
                <a:cs typeface="Arial"/>
              </a:rPr>
              <a:t>family</a:t>
            </a:r>
            <a:r>
              <a:rPr dirty="0" sz="2550" spc="-45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office.</a:t>
            </a:r>
            <a:endParaRPr sz="25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555832" y="8770408"/>
            <a:ext cx="6380480" cy="565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550" spc="-580">
                <a:solidFill>
                  <a:srgbClr val="212121"/>
                </a:solidFill>
                <a:latin typeface="Times New Roman"/>
                <a:cs typeface="Times New Roman"/>
              </a:rPr>
              <a:t>Now</a:t>
            </a:r>
            <a:r>
              <a:rPr dirty="0" sz="3550" spc="-28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3550" spc="-280">
                <a:solidFill>
                  <a:srgbClr val="111111"/>
                </a:solidFill>
                <a:latin typeface="Times New Roman"/>
                <a:cs typeface="Times New Roman"/>
              </a:rPr>
              <a:t>open</a:t>
            </a:r>
            <a:r>
              <a:rPr dirty="0" sz="3550" spc="-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3550" spc="-335">
                <a:solidFill>
                  <a:srgbClr val="181818"/>
                </a:solidFill>
                <a:latin typeface="Times New Roman"/>
                <a:cs typeface="Times New Roman"/>
              </a:rPr>
              <a:t>globally</a:t>
            </a:r>
            <a:r>
              <a:rPr dirty="0" sz="3550" spc="-6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550" spc="-145">
                <a:solidFill>
                  <a:srgbClr val="1C1C1C"/>
                </a:solidFill>
                <a:latin typeface="Times New Roman"/>
                <a:cs typeface="Times New Roman"/>
              </a:rPr>
              <a:t>to</a:t>
            </a:r>
            <a:r>
              <a:rPr dirty="0" sz="3550" spc="-38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dirty="0" sz="3550" spc="-330">
                <a:solidFill>
                  <a:srgbClr val="161616"/>
                </a:solidFill>
                <a:latin typeface="Times New Roman"/>
                <a:cs typeface="Times New Roman"/>
              </a:rPr>
              <a:t>Accredited</a:t>
            </a:r>
            <a:r>
              <a:rPr dirty="0" sz="3550" spc="3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3550" spc="-275">
                <a:solidFill>
                  <a:srgbClr val="181818"/>
                </a:solidFill>
                <a:latin typeface="Times New Roman"/>
                <a:cs typeface="Times New Roman"/>
              </a:rPr>
              <a:t>Investors.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6107384" y="9439980"/>
            <a:ext cx="12325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9554" algn="l"/>
              </a:tabLst>
            </a:pPr>
            <a:r>
              <a:rPr dirty="0" sz="1300" spc="-50">
                <a:latin typeface="Arial"/>
                <a:cs typeface="Arial"/>
              </a:rPr>
              <a:t>G</a:t>
            </a:r>
            <a:r>
              <a:rPr dirty="0" sz="1300">
                <a:latin typeface="Arial"/>
                <a:cs typeface="Arial"/>
              </a:rPr>
              <a:t>	</a:t>
            </a:r>
            <a:r>
              <a:rPr dirty="0" sz="1300" spc="-10"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0600" y="4330700"/>
            <a:ext cx="1320800" cy="12065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05700" y="4114800"/>
            <a:ext cx="1333500" cy="14478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82600" y="4851400"/>
            <a:ext cx="952500" cy="7112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18834" y="539044"/>
            <a:ext cx="9157335" cy="1596390"/>
          </a:xfrm>
          <a:prstGeom prst="rect"/>
        </p:spPr>
        <p:txBody>
          <a:bodyPr wrap="square" lIns="0" tIns="139065" rIns="0" bIns="0" rtlCol="0" vert="horz">
            <a:spAutoFit/>
          </a:bodyPr>
          <a:lstStyle/>
          <a:p>
            <a:pPr marL="2740025" marR="5080" indent="-2727960">
              <a:lnSpc>
                <a:spcPts val="5700"/>
              </a:lnSpc>
              <a:spcBef>
                <a:spcPts val="1095"/>
              </a:spcBef>
            </a:pPr>
            <a:r>
              <a:rPr dirty="0" sz="5550" spc="50">
                <a:solidFill>
                  <a:srgbClr val="2A2A2A"/>
                </a:solidFill>
              </a:rPr>
              <a:t>The</a:t>
            </a:r>
            <a:r>
              <a:rPr dirty="0" sz="5550" spc="-390">
                <a:solidFill>
                  <a:srgbClr val="2A2A2A"/>
                </a:solidFill>
              </a:rPr>
              <a:t> </a:t>
            </a:r>
            <a:r>
              <a:rPr dirty="0" sz="5550" spc="70">
                <a:solidFill>
                  <a:srgbClr val="2F2F2F"/>
                </a:solidFill>
              </a:rPr>
              <a:t>Three</a:t>
            </a:r>
            <a:r>
              <a:rPr dirty="0" sz="5550" spc="-75">
                <a:solidFill>
                  <a:srgbClr val="2F2F2F"/>
                </a:solidFill>
              </a:rPr>
              <a:t> </a:t>
            </a:r>
            <a:r>
              <a:rPr dirty="0" sz="5550" spc="-45">
                <a:solidFill>
                  <a:srgbClr val="2D2D2D"/>
                </a:solidFill>
              </a:rPr>
              <a:t>Pillars</a:t>
            </a:r>
            <a:r>
              <a:rPr dirty="0" sz="5550" spc="-220">
                <a:solidFill>
                  <a:srgbClr val="2D2D2D"/>
                </a:solidFill>
              </a:rPr>
              <a:t> </a:t>
            </a:r>
            <a:r>
              <a:rPr dirty="0" sz="5550">
                <a:solidFill>
                  <a:srgbClr val="2F2F2F"/>
                </a:solidFill>
              </a:rPr>
              <a:t>of</a:t>
            </a:r>
            <a:r>
              <a:rPr dirty="0" sz="5550" spc="-85">
                <a:solidFill>
                  <a:srgbClr val="2F2F2F"/>
                </a:solidFill>
              </a:rPr>
              <a:t> </a:t>
            </a:r>
            <a:r>
              <a:rPr dirty="0" sz="5550" spc="-260">
                <a:solidFill>
                  <a:srgbClr val="2A2A2A"/>
                </a:solidFill>
              </a:rPr>
              <a:t>Your</a:t>
            </a:r>
            <a:r>
              <a:rPr dirty="0" sz="5550" spc="90">
                <a:solidFill>
                  <a:srgbClr val="2A2A2A"/>
                </a:solidFill>
              </a:rPr>
              <a:t> </a:t>
            </a:r>
            <a:r>
              <a:rPr dirty="0" sz="5550" spc="-110">
                <a:solidFill>
                  <a:srgbClr val="2F2F2F"/>
                </a:solidFill>
              </a:rPr>
              <a:t>Digital </a:t>
            </a:r>
            <a:r>
              <a:rPr dirty="0" sz="5550" spc="-200">
                <a:solidFill>
                  <a:srgbClr val="2B2B2B"/>
                </a:solidFill>
              </a:rPr>
              <a:t>Family</a:t>
            </a:r>
            <a:r>
              <a:rPr dirty="0" sz="5550" spc="-140">
                <a:solidFill>
                  <a:srgbClr val="2B2B2B"/>
                </a:solidFill>
              </a:rPr>
              <a:t> </a:t>
            </a:r>
            <a:r>
              <a:rPr dirty="0" sz="5550" spc="-10">
                <a:solidFill>
                  <a:srgbClr val="282828"/>
                </a:solidFill>
              </a:rPr>
              <a:t>Office</a:t>
            </a:r>
            <a:endParaRPr sz="5550"/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900401" y="6413849"/>
          <a:ext cx="15545435" cy="1899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56835"/>
                <a:gridCol w="5391149"/>
                <a:gridCol w="4921884"/>
              </a:tblGrid>
              <a:tr h="673735">
                <a:tc>
                  <a:txBody>
                    <a:bodyPr/>
                    <a:lstStyle/>
                    <a:p>
                      <a:pPr algn="ctr" marR="340360">
                        <a:lnSpc>
                          <a:spcPts val="4225"/>
                        </a:lnSpc>
                      </a:pPr>
                      <a:r>
                        <a:rPr dirty="0" sz="3650" spc="-70">
                          <a:solidFill>
                            <a:srgbClr val="1F1F1F"/>
                          </a:solidFill>
                          <a:latin typeface="Cambria"/>
                          <a:cs typeface="Cambria"/>
                        </a:rPr>
                        <a:t>Exclusive</a:t>
                      </a:r>
                      <a:r>
                        <a:rPr dirty="0" sz="3650" spc="-85">
                          <a:solidFill>
                            <a:srgbClr val="1F1F1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3650" spc="-10">
                          <a:solidFill>
                            <a:srgbClr val="1C1C1C"/>
                          </a:solidFill>
                          <a:latin typeface="Cambria"/>
                          <a:cs typeface="Cambria"/>
                        </a:rPr>
                        <a:t>Access</a:t>
                      </a:r>
                      <a:endParaRPr sz="3650">
                        <a:latin typeface="Cambria"/>
                        <a:cs typeface="Cambr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6990">
                        <a:lnSpc>
                          <a:spcPts val="4225"/>
                        </a:lnSpc>
                      </a:pPr>
                      <a:r>
                        <a:rPr dirty="0" sz="3650" spc="-100">
                          <a:solidFill>
                            <a:srgbClr val="161616"/>
                          </a:solidFill>
                          <a:latin typeface="Cambria"/>
                          <a:cs typeface="Cambria"/>
                        </a:rPr>
                        <a:t>Al-</a:t>
                      </a:r>
                      <a:r>
                        <a:rPr dirty="0" sz="3650" spc="-85">
                          <a:solidFill>
                            <a:srgbClr val="161616"/>
                          </a:solidFill>
                          <a:latin typeface="Cambria"/>
                          <a:cs typeface="Cambria"/>
                        </a:rPr>
                        <a:t>Powered</a:t>
                      </a:r>
                      <a:r>
                        <a:rPr dirty="0" sz="3650" spc="-95">
                          <a:solidFill>
                            <a:srgbClr val="16161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3650" spc="-10">
                          <a:solidFill>
                            <a:srgbClr val="1F1F1F"/>
                          </a:solidFill>
                          <a:latin typeface="Cambria"/>
                          <a:cs typeface="Cambria"/>
                        </a:rPr>
                        <a:t>Intelligence</a:t>
                      </a:r>
                      <a:endParaRPr sz="3650">
                        <a:latin typeface="Cambria"/>
                        <a:cs typeface="Cambr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91795">
                        <a:lnSpc>
                          <a:spcPts val="4225"/>
                        </a:lnSpc>
                      </a:pPr>
                      <a:r>
                        <a:rPr dirty="0" sz="3650" spc="-60">
                          <a:solidFill>
                            <a:srgbClr val="1F1F1F"/>
                          </a:solidFill>
                          <a:latin typeface="Cambria"/>
                          <a:cs typeface="Cambria"/>
                        </a:rPr>
                        <a:t>Institutional</a:t>
                      </a:r>
                      <a:r>
                        <a:rPr dirty="0" sz="3650" spc="-105">
                          <a:solidFill>
                            <a:srgbClr val="1F1F1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3650" spc="-10">
                          <a:solidFill>
                            <a:srgbClr val="1F1F1F"/>
                          </a:solidFill>
                          <a:latin typeface="Cambria"/>
                          <a:cs typeface="Cambria"/>
                        </a:rPr>
                        <a:t>Trust</a:t>
                      </a:r>
                      <a:endParaRPr sz="3650">
                        <a:latin typeface="Cambria"/>
                        <a:cs typeface="Cambria"/>
                      </a:endParaRPr>
                    </a:p>
                  </a:txBody>
                  <a:tcPr marL="0" marR="0" marB="0" marT="0"/>
                </a:tc>
              </a:tr>
              <a:tr h="485140">
                <a:tc>
                  <a:txBody>
                    <a:bodyPr/>
                    <a:lstStyle/>
                    <a:p>
                      <a:pPr algn="ctr" marR="35496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2400" spc="-10">
                          <a:latin typeface="Arial"/>
                          <a:cs typeface="Arial"/>
                        </a:rPr>
                        <a:t>Access</a:t>
                      </a:r>
                      <a:r>
                        <a:rPr dirty="0" sz="2400" spc="-114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20">
                          <a:latin typeface="Arial"/>
                          <a:cs typeface="Arial"/>
                        </a:rPr>
                        <a:t>exclusive</a:t>
                      </a:r>
                      <a:r>
                        <a:rPr dirty="0" sz="2400" spc="-1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10">
                          <a:latin typeface="Arial"/>
                          <a:cs typeface="Arial"/>
                        </a:rPr>
                        <a:t>investment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100330"/>
                </a:tc>
                <a:tc>
                  <a:txBody>
                    <a:bodyPr/>
                    <a:lstStyle/>
                    <a:p>
                      <a:pPr algn="ctr" marR="4000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2400" spc="-20">
                          <a:latin typeface="Arial"/>
                          <a:cs typeface="Arial"/>
                        </a:rPr>
                        <a:t>Manage</a:t>
                      </a:r>
                      <a:r>
                        <a:rPr dirty="0" sz="240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your</a:t>
                      </a:r>
                      <a:r>
                        <a:rPr dirty="0" sz="2400" spc="114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portfolio</a:t>
                      </a:r>
                      <a:r>
                        <a:rPr dirty="0" sz="2400" spc="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2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25">
                          <a:latin typeface="Arial"/>
                          <a:cs typeface="Arial"/>
                        </a:rPr>
                        <a:t>the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100330"/>
                </a:tc>
                <a:tc>
                  <a:txBody>
                    <a:bodyPr/>
                    <a:lstStyle/>
                    <a:p>
                      <a:pPr algn="ctr" marL="40386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2400">
                          <a:latin typeface="Arial"/>
                          <a:cs typeface="Arial"/>
                        </a:rPr>
                        <a:t>Grow</a:t>
                      </a:r>
                      <a:r>
                        <a:rPr dirty="0" sz="2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your</a:t>
                      </a:r>
                      <a:r>
                        <a:rPr dirty="0" sz="240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wealth</a:t>
                      </a:r>
                      <a:r>
                        <a:rPr dirty="0" sz="24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together</a:t>
                      </a:r>
                      <a:r>
                        <a:rPr dirty="0" sz="2400" spc="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10">
                          <a:latin typeface="Arial"/>
                          <a:cs typeface="Arial"/>
                        </a:rPr>
                        <a:t>within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100330"/>
                </a:tc>
              </a:tr>
              <a:tr h="377825">
                <a:tc>
                  <a:txBody>
                    <a:bodyPr/>
                    <a:lstStyle/>
                    <a:p>
                      <a:pPr algn="ctr" marR="342900">
                        <a:lnSpc>
                          <a:spcPts val="2800"/>
                        </a:lnSpc>
                      </a:pPr>
                      <a:r>
                        <a:rPr dirty="0" sz="2400">
                          <a:latin typeface="Arial"/>
                          <a:cs typeface="Arial"/>
                        </a:rPr>
                        <a:t>opportunities</a:t>
                      </a:r>
                      <a:r>
                        <a:rPr dirty="0" sz="2400" spc="1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240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private</a:t>
                      </a:r>
                      <a:r>
                        <a:rPr dirty="0" sz="2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2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10">
                          <a:latin typeface="Arial"/>
                          <a:cs typeface="Arial"/>
                        </a:rPr>
                        <a:t>public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1910">
                        <a:lnSpc>
                          <a:spcPts val="2800"/>
                        </a:lnSpc>
                        <a:tabLst>
                          <a:tab pos="4043045" algn="l"/>
                        </a:tabLst>
                      </a:pPr>
                      <a:r>
                        <a:rPr dirty="0" sz="2400">
                          <a:latin typeface="Arial"/>
                          <a:cs typeface="Arial"/>
                        </a:rPr>
                        <a:t>help</a:t>
                      </a:r>
                      <a:r>
                        <a:rPr dirty="0" sz="2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2400" spc="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125">
                          <a:latin typeface="Arial"/>
                          <a:cs typeface="Arial"/>
                        </a:rPr>
                        <a:t>AI</a:t>
                      </a:r>
                      <a:r>
                        <a:rPr dirty="0" sz="24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that's</a:t>
                      </a:r>
                      <a:r>
                        <a:rPr dirty="0" sz="2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10">
                          <a:latin typeface="Arial"/>
                          <a:cs typeface="Arial"/>
                        </a:rPr>
                        <a:t>purpose-built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	</a:t>
                      </a:r>
                      <a:r>
                        <a:rPr dirty="0" sz="2400" spc="-25">
                          <a:latin typeface="Arial"/>
                          <a:cs typeface="Arial"/>
                        </a:rPr>
                        <a:t>for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88620">
                        <a:lnSpc>
                          <a:spcPts val="2800"/>
                        </a:lnSpc>
                      </a:pPr>
                      <a:r>
                        <a:rPr dirty="0" sz="24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2400" spc="-1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20">
                          <a:latin typeface="Arial"/>
                          <a:cs typeface="Arial"/>
                        </a:rPr>
                        <a:t>secure,</a:t>
                      </a:r>
                      <a:r>
                        <a:rPr dirty="0" sz="2400" spc="-1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regulated</a:t>
                      </a:r>
                      <a:r>
                        <a:rPr dirty="0" sz="2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10">
                          <a:latin typeface="Arial"/>
                          <a:cs typeface="Arial"/>
                        </a:rPr>
                        <a:t>framework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62585">
                <a:tc>
                  <a:txBody>
                    <a:bodyPr/>
                    <a:lstStyle/>
                    <a:p>
                      <a:pPr algn="ctr" marR="340995">
                        <a:lnSpc>
                          <a:spcPts val="2760"/>
                        </a:lnSpc>
                      </a:pPr>
                      <a:r>
                        <a:rPr dirty="0" sz="2400" spc="-20">
                          <a:latin typeface="Arial"/>
                          <a:cs typeface="Arial"/>
                        </a:rPr>
                        <a:t>markets,</a:t>
                      </a:r>
                      <a:r>
                        <a:rPr dirty="0" sz="24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curated</a:t>
                      </a:r>
                      <a:r>
                        <a:rPr dirty="0" sz="24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2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Arta</a:t>
                      </a:r>
                      <a:r>
                        <a:rPr dirty="0" sz="2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10">
                          <a:latin typeface="Arial"/>
                          <a:cs typeface="Arial"/>
                        </a:rPr>
                        <a:t>members.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9530">
                        <a:lnSpc>
                          <a:spcPts val="2760"/>
                        </a:lnSpc>
                      </a:pPr>
                      <a:r>
                        <a:rPr dirty="0" sz="2400">
                          <a:latin typeface="Arial"/>
                          <a:cs typeface="Arial"/>
                        </a:rPr>
                        <a:t>wealth</a:t>
                      </a:r>
                      <a:r>
                        <a:rPr dirty="0" sz="2400" spc="-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10">
                          <a:latin typeface="Arial"/>
                          <a:cs typeface="Arial"/>
                        </a:rPr>
                        <a:t>management.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22275">
                        <a:lnSpc>
                          <a:spcPts val="2760"/>
                        </a:lnSpc>
                      </a:pPr>
                      <a:r>
                        <a:rPr dirty="0" sz="2400">
                          <a:latin typeface="Arial"/>
                          <a:cs typeface="Arial"/>
                        </a:rPr>
                        <a:t>backed</a:t>
                      </a:r>
                      <a:r>
                        <a:rPr dirty="0" sz="2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2400" spc="-7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>
                          <a:latin typeface="Arial"/>
                          <a:cs typeface="Arial"/>
                        </a:rPr>
                        <a:t>industry</a:t>
                      </a:r>
                      <a:r>
                        <a:rPr dirty="0" sz="240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10">
                          <a:latin typeface="Arial"/>
                          <a:cs typeface="Arial"/>
                        </a:rPr>
                        <a:t>leaders.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6248400"/>
            <a:ext cx="596900" cy="20701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52000" y="2501900"/>
            <a:ext cx="1371600" cy="6350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08200" y="3035300"/>
            <a:ext cx="1181100" cy="12065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39300" y="4762500"/>
            <a:ext cx="12700" cy="4191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39300" y="3721100"/>
            <a:ext cx="114300" cy="3937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39300" y="5765800"/>
            <a:ext cx="1155700" cy="3810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49959" y="1325033"/>
            <a:ext cx="6809740" cy="159321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6040"/>
              </a:lnSpc>
              <a:spcBef>
                <a:spcPts val="114"/>
              </a:spcBef>
            </a:pPr>
            <a:r>
              <a:rPr dirty="0" sz="5400" spc="-20">
                <a:solidFill>
                  <a:srgbClr val="000000"/>
                </a:solidFill>
                <a:latin typeface="Cambria"/>
                <a:cs typeface="Cambria"/>
              </a:rPr>
              <a:t>Invest</a:t>
            </a:r>
            <a:r>
              <a:rPr dirty="0" sz="5400" spc="-114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5400" spc="65">
                <a:solidFill>
                  <a:srgbClr val="000000"/>
                </a:solidFill>
                <a:latin typeface="Cambria"/>
                <a:cs typeface="Cambria"/>
              </a:rPr>
              <a:t>in</a:t>
            </a:r>
            <a:r>
              <a:rPr dirty="0" sz="5400" spc="-30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5400" spc="-10">
                <a:solidFill>
                  <a:srgbClr val="000000"/>
                </a:solidFill>
                <a:latin typeface="Cambria"/>
                <a:cs typeface="Cambria"/>
              </a:rPr>
              <a:t>opportunities</a:t>
            </a:r>
            <a:endParaRPr sz="5400">
              <a:latin typeface="Cambria"/>
              <a:cs typeface="Cambria"/>
            </a:endParaRPr>
          </a:p>
          <a:p>
            <a:pPr marL="14604">
              <a:lnSpc>
                <a:spcPts val="6280"/>
              </a:lnSpc>
            </a:pPr>
            <a:r>
              <a:rPr dirty="0" sz="5600" spc="-160">
                <a:solidFill>
                  <a:srgbClr val="000000"/>
                </a:solidFill>
                <a:latin typeface="Cambria"/>
                <a:cs typeface="Cambria"/>
              </a:rPr>
              <a:t>previously</a:t>
            </a:r>
            <a:r>
              <a:rPr dirty="0" sz="5600" spc="7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5600" spc="-70">
                <a:solidFill>
                  <a:srgbClr val="000000"/>
                </a:solidFill>
                <a:latin typeface="Cambria"/>
                <a:cs typeface="Cambria"/>
              </a:rPr>
              <a:t>out</a:t>
            </a:r>
            <a:r>
              <a:rPr dirty="0" sz="5600" spc="-235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560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dirty="0" sz="5600" spc="-31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5600" spc="-85">
                <a:solidFill>
                  <a:srgbClr val="000000"/>
                </a:solidFill>
                <a:latin typeface="Cambria"/>
                <a:cs typeface="Cambria"/>
              </a:rPr>
              <a:t>reach.</a:t>
            </a:r>
            <a:endParaRPr sz="560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62395" y="3316816"/>
            <a:ext cx="6042025" cy="200660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 indent="8890">
              <a:lnSpc>
                <a:spcPct val="97600"/>
              </a:lnSpc>
              <a:spcBef>
                <a:spcPts val="225"/>
              </a:spcBef>
              <a:tabLst>
                <a:tab pos="2959100" algn="l"/>
              </a:tabLst>
            </a:pPr>
            <a:r>
              <a:rPr dirty="0" sz="3300" spc="-270">
                <a:latin typeface="Arial"/>
                <a:cs typeface="Arial"/>
              </a:rPr>
              <a:t>Move</a:t>
            </a:r>
            <a:r>
              <a:rPr dirty="0" sz="3300" spc="20">
                <a:latin typeface="Arial"/>
                <a:cs typeface="Arial"/>
              </a:rPr>
              <a:t> </a:t>
            </a:r>
            <a:r>
              <a:rPr dirty="0" sz="3300" spc="-185">
                <a:latin typeface="Arial"/>
                <a:cs typeface="Arial"/>
              </a:rPr>
              <a:t>beyond</a:t>
            </a:r>
            <a:r>
              <a:rPr dirty="0" sz="3300" spc="-45">
                <a:latin typeface="Arial"/>
                <a:cs typeface="Arial"/>
              </a:rPr>
              <a:t> </a:t>
            </a:r>
            <a:r>
              <a:rPr dirty="0" sz="3300" spc="-160">
                <a:latin typeface="Arial"/>
                <a:cs typeface="Arial"/>
              </a:rPr>
              <a:t>standard</a:t>
            </a:r>
            <a:r>
              <a:rPr dirty="0" sz="3300" spc="-35">
                <a:latin typeface="Arial"/>
                <a:cs typeface="Arial"/>
              </a:rPr>
              <a:t> </a:t>
            </a:r>
            <a:r>
              <a:rPr dirty="0" sz="3300" spc="-150">
                <a:latin typeface="Arial"/>
                <a:cs typeface="Arial"/>
              </a:rPr>
              <a:t>stocks</a:t>
            </a:r>
            <a:r>
              <a:rPr dirty="0" sz="3300" spc="-55">
                <a:latin typeface="Arial"/>
                <a:cs typeface="Arial"/>
              </a:rPr>
              <a:t> </a:t>
            </a:r>
            <a:r>
              <a:rPr dirty="0" sz="3300" spc="-25">
                <a:latin typeface="Arial"/>
                <a:cs typeface="Arial"/>
              </a:rPr>
              <a:t>and </a:t>
            </a:r>
            <a:r>
              <a:rPr dirty="0" sz="3300" spc="-195">
                <a:latin typeface="Arial"/>
                <a:cs typeface="Arial"/>
              </a:rPr>
              <a:t>bonds.</a:t>
            </a:r>
            <a:r>
              <a:rPr dirty="0" sz="3300" spc="-40">
                <a:latin typeface="Arial"/>
                <a:cs typeface="Arial"/>
              </a:rPr>
              <a:t> </a:t>
            </a:r>
            <a:r>
              <a:rPr dirty="0" sz="3300" spc="-125">
                <a:latin typeface="Arial"/>
                <a:cs typeface="Arial"/>
              </a:rPr>
              <a:t>Build</a:t>
            </a:r>
            <a:r>
              <a:rPr dirty="0" sz="3300" spc="-100">
                <a:latin typeface="Arial"/>
                <a:cs typeface="Arial"/>
              </a:rPr>
              <a:t> </a:t>
            </a:r>
            <a:r>
              <a:rPr dirty="0" sz="3300" spc="-370">
                <a:latin typeface="Arial"/>
                <a:cs typeface="Arial"/>
              </a:rPr>
              <a:t>a</a:t>
            </a:r>
            <a:r>
              <a:rPr dirty="0" sz="3300" spc="5">
                <a:latin typeface="Arial"/>
                <a:cs typeface="Arial"/>
              </a:rPr>
              <a:t> </a:t>
            </a:r>
            <a:r>
              <a:rPr dirty="0" sz="3300" spc="-130">
                <a:latin typeface="Arial"/>
                <a:cs typeface="Arial"/>
              </a:rPr>
              <a:t>diversified</a:t>
            </a:r>
            <a:r>
              <a:rPr dirty="0" sz="3300" spc="25">
                <a:latin typeface="Arial"/>
                <a:cs typeface="Arial"/>
              </a:rPr>
              <a:t> </a:t>
            </a:r>
            <a:r>
              <a:rPr dirty="0" sz="3300" spc="-10">
                <a:latin typeface="Arial"/>
                <a:cs typeface="Arial"/>
              </a:rPr>
              <a:t>portfolio </a:t>
            </a:r>
            <a:r>
              <a:rPr dirty="0" sz="3300" spc="-80">
                <a:latin typeface="Arial"/>
                <a:cs typeface="Arial"/>
              </a:rPr>
              <a:t>with</a:t>
            </a:r>
            <a:r>
              <a:rPr dirty="0" sz="3300" spc="-150">
                <a:latin typeface="Arial"/>
                <a:cs typeface="Arial"/>
              </a:rPr>
              <a:t> </a:t>
            </a:r>
            <a:r>
              <a:rPr dirty="0" sz="3300" spc="-10">
                <a:latin typeface="Arial"/>
                <a:cs typeface="Arial"/>
              </a:rPr>
              <a:t>institutional</a:t>
            </a:r>
            <a:r>
              <a:rPr dirty="0" sz="3300">
                <a:latin typeface="Arial"/>
                <a:cs typeface="Arial"/>
              </a:rPr>
              <a:t>	</a:t>
            </a:r>
            <a:r>
              <a:rPr dirty="0" sz="3300" spc="-195">
                <a:latin typeface="Arial"/>
                <a:cs typeface="Arial"/>
              </a:rPr>
              <a:t>grade</a:t>
            </a:r>
            <a:r>
              <a:rPr dirty="0" sz="3300" spc="-120">
                <a:latin typeface="Arial"/>
                <a:cs typeface="Arial"/>
              </a:rPr>
              <a:t> </a:t>
            </a:r>
            <a:r>
              <a:rPr dirty="0" sz="3300" spc="-210">
                <a:latin typeface="Arial"/>
                <a:cs typeface="Arial"/>
              </a:rPr>
              <a:t>assets</a:t>
            </a:r>
            <a:r>
              <a:rPr dirty="0" sz="3300" spc="55">
                <a:latin typeface="Arial"/>
                <a:cs typeface="Arial"/>
              </a:rPr>
              <a:t> </a:t>
            </a:r>
            <a:r>
              <a:rPr dirty="0" sz="3300" spc="-145">
                <a:latin typeface="Arial"/>
                <a:cs typeface="Arial"/>
              </a:rPr>
              <a:t>once </a:t>
            </a:r>
            <a:r>
              <a:rPr dirty="0" sz="3300" spc="-185">
                <a:latin typeface="Arial"/>
                <a:cs typeface="Arial"/>
              </a:rPr>
              <a:t>exclusive</a:t>
            </a:r>
            <a:r>
              <a:rPr dirty="0" sz="3300" spc="30">
                <a:latin typeface="Arial"/>
                <a:cs typeface="Arial"/>
              </a:rPr>
              <a:t> </a:t>
            </a:r>
            <a:r>
              <a:rPr dirty="0" sz="3300" spc="-50">
                <a:latin typeface="Arial"/>
                <a:cs typeface="Arial"/>
              </a:rPr>
              <a:t>to</a:t>
            </a:r>
            <a:r>
              <a:rPr dirty="0" sz="3300" spc="-180">
                <a:latin typeface="Arial"/>
                <a:cs typeface="Arial"/>
              </a:rPr>
              <a:t> </a:t>
            </a:r>
            <a:r>
              <a:rPr dirty="0" sz="3300" spc="-145">
                <a:latin typeface="Arial"/>
                <a:cs typeface="Arial"/>
              </a:rPr>
              <a:t>the</a:t>
            </a:r>
            <a:r>
              <a:rPr dirty="0" sz="3300" spc="-80">
                <a:latin typeface="Arial"/>
                <a:cs typeface="Arial"/>
              </a:rPr>
              <a:t> </a:t>
            </a:r>
            <a:r>
              <a:rPr dirty="0" sz="3300" spc="-125">
                <a:latin typeface="Arial"/>
                <a:cs typeface="Arial"/>
              </a:rPr>
              <a:t>ultra-</a:t>
            </a:r>
            <a:r>
              <a:rPr dirty="0" sz="3300" spc="-10">
                <a:latin typeface="Arial"/>
                <a:cs typeface="Arial"/>
              </a:rPr>
              <a:t>wealthy.</a:t>
            </a:r>
            <a:endParaRPr sz="33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72415" y="6515100"/>
            <a:ext cx="5863590" cy="15684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50800" marR="5080" indent="-38735">
              <a:lnSpc>
                <a:spcPct val="101699"/>
              </a:lnSpc>
              <a:spcBef>
                <a:spcPts val="50"/>
              </a:spcBef>
              <a:tabLst>
                <a:tab pos="1527175" algn="l"/>
              </a:tabLst>
            </a:pPr>
            <a:r>
              <a:rPr dirty="0" sz="2500" spc="-55" i="1">
                <a:latin typeface="Times New Roman"/>
                <a:cs typeface="Times New Roman"/>
              </a:rPr>
              <a:t>“Millennial</a:t>
            </a:r>
            <a:r>
              <a:rPr dirty="0" sz="2500" spc="114" i="1">
                <a:latin typeface="Times New Roman"/>
                <a:cs typeface="Times New Roman"/>
              </a:rPr>
              <a:t> </a:t>
            </a:r>
            <a:r>
              <a:rPr dirty="0" sz="2500" spc="75" i="1">
                <a:latin typeface="Times New Roman"/>
                <a:cs typeface="Times New Roman"/>
              </a:rPr>
              <a:t>and</a:t>
            </a:r>
            <a:r>
              <a:rPr dirty="0" sz="2500" spc="105" i="1">
                <a:latin typeface="Times New Roman"/>
                <a:cs typeface="Times New Roman"/>
              </a:rPr>
              <a:t> </a:t>
            </a:r>
            <a:r>
              <a:rPr dirty="0" sz="2500" i="1">
                <a:latin typeface="Times New Roman"/>
                <a:cs typeface="Times New Roman"/>
              </a:rPr>
              <a:t>Gen</a:t>
            </a:r>
            <a:r>
              <a:rPr dirty="0" sz="2500" spc="60" i="1">
                <a:latin typeface="Times New Roman"/>
                <a:cs typeface="Times New Roman"/>
              </a:rPr>
              <a:t> </a:t>
            </a:r>
            <a:r>
              <a:rPr dirty="0" sz="2500" i="1">
                <a:latin typeface="Times New Roman"/>
                <a:cs typeface="Times New Roman"/>
              </a:rPr>
              <a:t>Z</a:t>
            </a:r>
            <a:r>
              <a:rPr dirty="0" sz="2500" spc="-10" i="1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investors</a:t>
            </a:r>
            <a:r>
              <a:rPr dirty="0" sz="2500" spc="114">
                <a:latin typeface="Times New Roman"/>
                <a:cs typeface="Times New Roman"/>
              </a:rPr>
              <a:t> </a:t>
            </a:r>
            <a:r>
              <a:rPr dirty="0" sz="2500" i="1">
                <a:latin typeface="Times New Roman"/>
                <a:cs typeface="Times New Roman"/>
              </a:rPr>
              <a:t>are</a:t>
            </a:r>
            <a:r>
              <a:rPr dirty="0" sz="2500" spc="155" i="1">
                <a:latin typeface="Times New Roman"/>
                <a:cs typeface="Times New Roman"/>
              </a:rPr>
              <a:t> </a:t>
            </a:r>
            <a:r>
              <a:rPr dirty="0" sz="2500" spc="-10" i="1">
                <a:latin typeface="Times New Roman"/>
                <a:cs typeface="Times New Roman"/>
              </a:rPr>
              <a:t>building diversified</a:t>
            </a:r>
            <a:r>
              <a:rPr dirty="0" sz="2500" i="1">
                <a:latin typeface="Times New Roman"/>
                <a:cs typeface="Times New Roman"/>
              </a:rPr>
              <a:t>	portfolios</a:t>
            </a:r>
            <a:r>
              <a:rPr dirty="0" sz="2500" spc="10" i="1">
                <a:latin typeface="Times New Roman"/>
                <a:cs typeface="Times New Roman"/>
              </a:rPr>
              <a:t> </a:t>
            </a:r>
            <a:r>
              <a:rPr dirty="0" sz="2500" spc="-20" i="1">
                <a:latin typeface="Times New Roman"/>
                <a:cs typeface="Times New Roman"/>
              </a:rPr>
              <a:t>earlier</a:t>
            </a:r>
            <a:r>
              <a:rPr dirty="0" sz="2500" spc="5" i="1">
                <a:latin typeface="Times New Roman"/>
                <a:cs typeface="Times New Roman"/>
              </a:rPr>
              <a:t> </a:t>
            </a:r>
            <a:r>
              <a:rPr dirty="0" sz="2500" spc="80" i="1">
                <a:latin typeface="Times New Roman"/>
                <a:cs typeface="Times New Roman"/>
              </a:rPr>
              <a:t>by</a:t>
            </a:r>
            <a:r>
              <a:rPr dirty="0" sz="2500" spc="-80" i="1">
                <a:latin typeface="Times New Roman"/>
                <a:cs typeface="Times New Roman"/>
              </a:rPr>
              <a:t> </a:t>
            </a:r>
            <a:r>
              <a:rPr dirty="0" sz="2500" i="1">
                <a:latin typeface="Times New Roman"/>
                <a:cs typeface="Times New Roman"/>
              </a:rPr>
              <a:t>tapping</a:t>
            </a:r>
            <a:r>
              <a:rPr dirty="0" sz="2500" spc="80" i="1">
                <a:latin typeface="Times New Roman"/>
                <a:cs typeface="Times New Roman"/>
              </a:rPr>
              <a:t> </a:t>
            </a:r>
            <a:r>
              <a:rPr dirty="0" sz="2500" spc="-20" i="1">
                <a:latin typeface="Times New Roman"/>
                <a:cs typeface="Times New Roman"/>
              </a:rPr>
              <a:t>into </a:t>
            </a:r>
            <a:r>
              <a:rPr dirty="0" sz="2500" i="1">
                <a:latin typeface="Times New Roman"/>
                <a:cs typeface="Times New Roman"/>
              </a:rPr>
              <a:t>private</a:t>
            </a:r>
            <a:r>
              <a:rPr dirty="0" sz="2500" spc="140" i="1">
                <a:latin typeface="Times New Roman"/>
                <a:cs typeface="Times New Roman"/>
              </a:rPr>
              <a:t> </a:t>
            </a:r>
            <a:r>
              <a:rPr dirty="0" sz="2500" i="1">
                <a:latin typeface="Times New Roman"/>
                <a:cs typeface="Times New Roman"/>
              </a:rPr>
              <a:t>market</a:t>
            </a:r>
            <a:r>
              <a:rPr dirty="0" sz="2500" spc="40" i="1">
                <a:latin typeface="Times New Roman"/>
                <a:cs typeface="Times New Roman"/>
              </a:rPr>
              <a:t> </a:t>
            </a:r>
            <a:r>
              <a:rPr dirty="0" sz="2500" spc="55" i="1">
                <a:latin typeface="Times New Roman"/>
                <a:cs typeface="Times New Roman"/>
              </a:rPr>
              <a:t>investments...</a:t>
            </a:r>
            <a:r>
              <a:rPr dirty="0" sz="2500" spc="-50" i="1">
                <a:latin typeface="Times New Roman"/>
                <a:cs typeface="Times New Roman"/>
              </a:rPr>
              <a:t> </a:t>
            </a:r>
            <a:r>
              <a:rPr dirty="0" sz="2500" spc="75" i="1">
                <a:latin typeface="Times New Roman"/>
                <a:cs typeface="Times New Roman"/>
              </a:rPr>
              <a:t>assets</a:t>
            </a:r>
            <a:r>
              <a:rPr dirty="0" sz="2500" spc="165" i="1">
                <a:latin typeface="Times New Roman"/>
                <a:cs typeface="Times New Roman"/>
              </a:rPr>
              <a:t> </a:t>
            </a:r>
            <a:r>
              <a:rPr dirty="0" sz="2500" spc="65" i="1">
                <a:latin typeface="Times New Roman"/>
                <a:cs typeface="Times New Roman"/>
              </a:rPr>
              <a:t>once </a:t>
            </a:r>
            <a:r>
              <a:rPr dirty="0" sz="2500" i="1">
                <a:latin typeface="Times New Roman"/>
                <a:cs typeface="Times New Roman"/>
              </a:rPr>
              <a:t>exclusive</a:t>
            </a:r>
            <a:r>
              <a:rPr dirty="0" sz="2500" spc="260" i="1">
                <a:latin typeface="Times New Roman"/>
                <a:cs typeface="Times New Roman"/>
              </a:rPr>
              <a:t> </a:t>
            </a:r>
            <a:r>
              <a:rPr dirty="0" sz="2500" spc="55" i="1">
                <a:latin typeface="Times New Roman"/>
                <a:cs typeface="Times New Roman"/>
              </a:rPr>
              <a:t>to</a:t>
            </a:r>
            <a:r>
              <a:rPr dirty="0" sz="2500" spc="-30" i="1">
                <a:latin typeface="Times New Roman"/>
                <a:cs typeface="Times New Roman"/>
              </a:rPr>
              <a:t> </a:t>
            </a:r>
            <a:r>
              <a:rPr dirty="0" sz="2500" spc="60" i="1">
                <a:latin typeface="Times New Roman"/>
                <a:cs typeface="Times New Roman"/>
              </a:rPr>
              <a:t>high-</a:t>
            </a:r>
            <a:r>
              <a:rPr dirty="0" sz="2500" spc="55" i="1">
                <a:latin typeface="Times New Roman"/>
                <a:cs typeface="Times New Roman"/>
              </a:rPr>
              <a:t>net-</a:t>
            </a:r>
            <a:r>
              <a:rPr dirty="0" sz="2500" spc="70" i="1">
                <a:latin typeface="Times New Roman"/>
                <a:cs typeface="Times New Roman"/>
              </a:rPr>
              <a:t>worth</a:t>
            </a:r>
            <a:r>
              <a:rPr dirty="0" sz="2500" spc="-110" i="1">
                <a:latin typeface="Times New Roman"/>
                <a:cs typeface="Times New Roman"/>
              </a:rPr>
              <a:t> </a:t>
            </a:r>
            <a:r>
              <a:rPr dirty="0" sz="2500" spc="-10" i="1">
                <a:latin typeface="Times New Roman"/>
                <a:cs typeface="Times New Roman"/>
              </a:rPr>
              <a:t>investors.“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911522" y="856897"/>
            <a:ext cx="2401570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60">
                <a:latin typeface="Times New Roman"/>
                <a:cs typeface="Times New Roman"/>
              </a:rPr>
              <a:t>Private</a:t>
            </a:r>
            <a:r>
              <a:rPr dirty="0" sz="3400" spc="-95">
                <a:latin typeface="Times New Roman"/>
                <a:cs typeface="Times New Roman"/>
              </a:rPr>
              <a:t> </a:t>
            </a:r>
            <a:r>
              <a:rPr dirty="0" sz="3400" spc="-60">
                <a:latin typeface="Times New Roman"/>
                <a:cs typeface="Times New Roman"/>
              </a:rPr>
              <a:t>Equity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286498" y="2368197"/>
            <a:ext cx="2632075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90">
                <a:latin typeface="Times New Roman"/>
                <a:cs typeface="Times New Roman"/>
              </a:rPr>
              <a:t>Venture</a:t>
            </a:r>
            <a:r>
              <a:rPr dirty="0" sz="3400" spc="-100">
                <a:latin typeface="Times New Roman"/>
                <a:cs typeface="Times New Roman"/>
              </a:rPr>
              <a:t> </a:t>
            </a:r>
            <a:r>
              <a:rPr dirty="0" sz="3400" spc="-55">
                <a:latin typeface="Times New Roman"/>
                <a:cs typeface="Times New Roman"/>
              </a:rPr>
              <a:t>Capital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911669" y="3862916"/>
            <a:ext cx="2324735" cy="533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00">
                <a:latin typeface="Times New Roman"/>
                <a:cs typeface="Times New Roman"/>
              </a:rPr>
              <a:t>Private</a:t>
            </a:r>
            <a:r>
              <a:rPr dirty="0" sz="3300" spc="-155">
                <a:latin typeface="Times New Roman"/>
                <a:cs typeface="Times New Roman"/>
              </a:rPr>
              <a:t> </a:t>
            </a:r>
            <a:r>
              <a:rPr dirty="0" sz="3300" spc="-25">
                <a:latin typeface="Times New Roman"/>
                <a:cs typeface="Times New Roman"/>
              </a:rPr>
              <a:t>Credit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036689" y="5367866"/>
            <a:ext cx="2404745" cy="94615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 marR="5080">
              <a:lnSpc>
                <a:spcPts val="3250"/>
              </a:lnSpc>
              <a:spcBef>
                <a:spcPts val="830"/>
              </a:spcBef>
            </a:pPr>
            <a:r>
              <a:rPr dirty="0" sz="3300" spc="-10">
                <a:latin typeface="Cambria"/>
                <a:cs typeface="Cambria"/>
              </a:rPr>
              <a:t>Private </a:t>
            </a:r>
            <a:r>
              <a:rPr dirty="0" sz="3300" spc="-100">
                <a:latin typeface="Cambria"/>
                <a:cs typeface="Cambria"/>
              </a:rPr>
              <a:t>Infrastructure</a:t>
            </a:r>
            <a:endParaRPr sz="3300">
              <a:latin typeface="Cambria"/>
              <a:cs typeface="Cambri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891690" y="6889397"/>
            <a:ext cx="1807845" cy="950594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32384" marR="5080" indent="-20320">
              <a:lnSpc>
                <a:spcPct val="78400"/>
              </a:lnSpc>
              <a:spcBef>
                <a:spcPts val="985"/>
              </a:spcBef>
            </a:pPr>
            <a:r>
              <a:rPr dirty="0" sz="3400" spc="-25">
                <a:latin typeface="Times New Roman"/>
                <a:cs typeface="Times New Roman"/>
              </a:rPr>
              <a:t>Structured </a:t>
            </a:r>
            <a:r>
              <a:rPr dirty="0" sz="3400" spc="-10">
                <a:latin typeface="Times New Roman"/>
                <a:cs typeface="Times New Roman"/>
              </a:rPr>
              <a:t>Products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3876286" y="6889397"/>
            <a:ext cx="173990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50">
                <a:solidFill>
                  <a:srgbClr val="2A2A2A"/>
                </a:solidFill>
                <a:latin typeface="Times New Roman"/>
                <a:cs typeface="Times New Roman"/>
              </a:rPr>
              <a:t>-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1339253" y="8756297"/>
            <a:ext cx="100584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444444"/>
                </a:solidFill>
                <a:latin typeface="Times New Roman"/>
                <a:cs typeface="Times New Roman"/>
              </a:rPr>
              <a:t>Fneo</a:t>
            </a:r>
            <a:r>
              <a:rPr dirty="0" sz="900" spc="9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3B3B3B"/>
                </a:solidFill>
                <a:latin typeface="Times New Roman"/>
                <a:cs typeface="Times New Roman"/>
              </a:rPr>
              <a:t>Coupon</a:t>
            </a:r>
            <a:r>
              <a:rPr dirty="0" sz="900" spc="315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1A1A1A"/>
                </a:solidFill>
                <a:latin typeface="Times New Roman"/>
                <a:cs typeface="Times New Roman"/>
              </a:rPr>
              <a:t>Notes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3498194" y="8286397"/>
            <a:ext cx="86106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343434"/>
                </a:solidFill>
                <a:latin typeface="Times New Roman"/>
                <a:cs typeface="Times New Roman"/>
              </a:rPr>
              <a:t>Proiec1ed</a:t>
            </a:r>
            <a:r>
              <a:rPr dirty="0" sz="900" spc="45">
                <a:solidFill>
                  <a:srgbClr val="343434"/>
                </a:solidFill>
                <a:latin typeface="Times New Roman"/>
                <a:cs typeface="Times New Roman"/>
              </a:rPr>
              <a:t> </a:t>
            </a:r>
            <a:r>
              <a:rPr dirty="0" sz="900" spc="45">
                <a:solidFill>
                  <a:srgbClr val="282828"/>
                </a:solidFill>
                <a:latin typeface="Times New Roman"/>
                <a:cs typeface="Times New Roman"/>
              </a:rPr>
              <a:t>Gooch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6110407" y="9439980"/>
            <a:ext cx="122364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120">
                <a:latin typeface="Times New Roman"/>
                <a:cs typeface="Times New Roman"/>
              </a:rPr>
              <a:t>G</a:t>
            </a:r>
            <a:r>
              <a:rPr dirty="0" sz="1300" spc="120">
                <a:latin typeface="Times New Roman"/>
                <a:cs typeface="Times New Roman"/>
              </a:rPr>
              <a:t>  </a:t>
            </a:r>
            <a:r>
              <a:rPr dirty="0" sz="1300" spc="-10">
                <a:latin typeface="Times New Roman"/>
                <a:cs typeface="Times New Roman"/>
              </a:rPr>
              <a:t>NotebookLM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3400" y="2298700"/>
            <a:ext cx="1066800" cy="6858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7600" y="1384300"/>
            <a:ext cx="863600" cy="6350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37600" y="0"/>
            <a:ext cx="8737600" cy="97536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98600" y="2336800"/>
            <a:ext cx="127000" cy="1143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73200" y="2514600"/>
            <a:ext cx="203200" cy="4445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38203" y="1083027"/>
            <a:ext cx="3812540" cy="3008630"/>
          </a:xfrm>
          <a:prstGeom prst="rect"/>
        </p:spPr>
        <p:txBody>
          <a:bodyPr wrap="square" lIns="0" tIns="180975" rIns="0" bIns="0" rtlCol="0" vert="horz">
            <a:spAutoFit/>
          </a:bodyPr>
          <a:lstStyle/>
          <a:p>
            <a:pPr marL="25400" marR="5080" indent="-13335">
              <a:lnSpc>
                <a:spcPct val="84900"/>
              </a:lnSpc>
              <a:spcBef>
                <a:spcPts val="1425"/>
              </a:spcBef>
            </a:pPr>
            <a:r>
              <a:rPr dirty="0" sz="7200" spc="-20">
                <a:solidFill>
                  <a:srgbClr val="000000"/>
                </a:solidFill>
                <a:latin typeface="Cambria"/>
                <a:cs typeface="Cambria"/>
              </a:rPr>
              <a:t>Meet</a:t>
            </a:r>
            <a:r>
              <a:rPr dirty="0" sz="7200" spc="-355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7200" spc="-315">
                <a:solidFill>
                  <a:srgbClr val="000000"/>
                </a:solidFill>
                <a:latin typeface="Cambria"/>
                <a:cs typeface="Cambria"/>
              </a:rPr>
              <a:t>your </a:t>
            </a:r>
            <a:r>
              <a:rPr dirty="0" sz="7500" spc="220">
                <a:solidFill>
                  <a:srgbClr val="000000"/>
                </a:solidFill>
                <a:latin typeface="Cambria"/>
                <a:cs typeface="Cambria"/>
              </a:rPr>
              <a:t>S</a:t>
            </a:r>
            <a:r>
              <a:rPr dirty="0" sz="7500" spc="-95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7200" spc="-10">
                <a:solidFill>
                  <a:srgbClr val="000000"/>
                </a:solidFill>
                <a:latin typeface="Cambria"/>
                <a:cs typeface="Cambria"/>
              </a:rPr>
              <a:t>dekick </a:t>
            </a:r>
            <a:r>
              <a:rPr dirty="0" sz="7050" spc="-20">
                <a:solidFill>
                  <a:srgbClr val="000000"/>
                </a:solidFill>
                <a:latin typeface="Cambria"/>
                <a:cs typeface="Cambria"/>
              </a:rPr>
              <a:t>investing.</a:t>
            </a:r>
            <a:endParaRPr sz="705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61530" y="4364566"/>
            <a:ext cx="6621780" cy="3693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4604">
              <a:lnSpc>
                <a:spcPct val="100899"/>
              </a:lnSpc>
              <a:spcBef>
                <a:spcPts val="95"/>
              </a:spcBef>
            </a:pPr>
            <a:r>
              <a:rPr dirty="0" sz="3300" spc="-225">
                <a:latin typeface="Arial"/>
                <a:cs typeface="Arial"/>
              </a:rPr>
              <a:t>Your</a:t>
            </a:r>
            <a:r>
              <a:rPr dirty="0" sz="3300" spc="-5">
                <a:latin typeface="Arial"/>
                <a:cs typeface="Arial"/>
              </a:rPr>
              <a:t> </a:t>
            </a:r>
            <a:r>
              <a:rPr dirty="0" sz="3300" spc="-80">
                <a:latin typeface="Arial"/>
                <a:cs typeface="Arial"/>
              </a:rPr>
              <a:t>Sidekick</a:t>
            </a:r>
            <a:r>
              <a:rPr dirty="0" sz="3300" spc="-150">
                <a:latin typeface="Arial"/>
                <a:cs typeface="Arial"/>
              </a:rPr>
              <a:t> </a:t>
            </a:r>
            <a:r>
              <a:rPr dirty="0" sz="3300" spc="-80">
                <a:latin typeface="Arial"/>
                <a:cs typeface="Arial"/>
              </a:rPr>
              <a:t>gives</a:t>
            </a:r>
            <a:r>
              <a:rPr dirty="0" sz="3300" spc="-145">
                <a:latin typeface="Arial"/>
                <a:cs typeface="Arial"/>
              </a:rPr>
              <a:t> </a:t>
            </a:r>
            <a:r>
              <a:rPr dirty="0" sz="3300" spc="-120">
                <a:latin typeface="Arial"/>
                <a:cs typeface="Arial"/>
              </a:rPr>
              <a:t>you</a:t>
            </a:r>
            <a:r>
              <a:rPr dirty="0" sz="3300" spc="-110">
                <a:latin typeface="Arial"/>
                <a:cs typeface="Arial"/>
              </a:rPr>
              <a:t> </a:t>
            </a:r>
            <a:r>
              <a:rPr dirty="0" sz="3300" spc="-260">
                <a:latin typeface="Arial"/>
                <a:cs typeface="Arial"/>
              </a:rPr>
              <a:t>a</a:t>
            </a:r>
            <a:r>
              <a:rPr dirty="0" sz="3300" spc="-25">
                <a:latin typeface="Arial"/>
                <a:cs typeface="Arial"/>
              </a:rPr>
              <a:t> </a:t>
            </a:r>
            <a:r>
              <a:rPr dirty="0" sz="3300" spc="-65">
                <a:latin typeface="Arial"/>
                <a:cs typeface="Arial"/>
              </a:rPr>
              <a:t>clear</a:t>
            </a:r>
            <a:r>
              <a:rPr dirty="0" sz="3300" spc="-95">
                <a:latin typeface="Arial"/>
                <a:cs typeface="Arial"/>
              </a:rPr>
              <a:t> </a:t>
            </a:r>
            <a:r>
              <a:rPr dirty="0" sz="3300" spc="-20">
                <a:latin typeface="Arial"/>
                <a:cs typeface="Arial"/>
              </a:rPr>
              <a:t>view </a:t>
            </a:r>
            <a:r>
              <a:rPr dirty="0" sz="3450" spc="-60">
                <a:latin typeface="Arial"/>
                <a:cs typeface="Arial"/>
              </a:rPr>
              <a:t>of</a:t>
            </a:r>
            <a:r>
              <a:rPr dirty="0" sz="3450" spc="-195">
                <a:latin typeface="Arial"/>
                <a:cs typeface="Arial"/>
              </a:rPr>
              <a:t> </a:t>
            </a:r>
            <a:r>
              <a:rPr dirty="0" sz="3450" spc="-185">
                <a:latin typeface="Arial"/>
                <a:cs typeface="Arial"/>
              </a:rPr>
              <a:t>your</a:t>
            </a:r>
            <a:r>
              <a:rPr dirty="0" sz="3450" spc="-50">
                <a:latin typeface="Arial"/>
                <a:cs typeface="Arial"/>
              </a:rPr>
              <a:t> </a:t>
            </a:r>
            <a:r>
              <a:rPr dirty="0" sz="3450" spc="-160">
                <a:latin typeface="Arial"/>
                <a:cs typeface="Arial"/>
              </a:rPr>
              <a:t>holdings,</a:t>
            </a:r>
            <a:r>
              <a:rPr dirty="0" sz="3450" spc="-80">
                <a:latin typeface="Arial"/>
                <a:cs typeface="Arial"/>
              </a:rPr>
              <a:t> </a:t>
            </a:r>
            <a:r>
              <a:rPr dirty="0" sz="3450" spc="-100">
                <a:latin typeface="Arial"/>
                <a:cs typeface="Arial"/>
              </a:rPr>
              <a:t>instant</a:t>
            </a:r>
            <a:r>
              <a:rPr dirty="0" sz="3450" spc="-30">
                <a:latin typeface="Arial"/>
                <a:cs typeface="Arial"/>
              </a:rPr>
              <a:t> </a:t>
            </a:r>
            <a:r>
              <a:rPr dirty="0" sz="3450" spc="-140">
                <a:latin typeface="Arial"/>
                <a:cs typeface="Arial"/>
              </a:rPr>
              <a:t>performance </a:t>
            </a:r>
            <a:r>
              <a:rPr dirty="0" sz="3400" spc="-145">
                <a:latin typeface="Arial"/>
                <a:cs typeface="Arial"/>
              </a:rPr>
              <a:t>comparisons,</a:t>
            </a:r>
            <a:r>
              <a:rPr dirty="0" sz="3400" spc="-95">
                <a:latin typeface="Arial"/>
                <a:cs typeface="Arial"/>
              </a:rPr>
              <a:t> </a:t>
            </a:r>
            <a:r>
              <a:rPr dirty="0" sz="3400" spc="-155">
                <a:latin typeface="Arial"/>
                <a:cs typeface="Arial"/>
              </a:rPr>
              <a:t>and</a:t>
            </a:r>
            <a:r>
              <a:rPr dirty="0" sz="3400" spc="-80">
                <a:latin typeface="Arial"/>
                <a:cs typeface="Arial"/>
              </a:rPr>
              <a:t> </a:t>
            </a:r>
            <a:r>
              <a:rPr dirty="0" sz="3400" spc="-110">
                <a:latin typeface="Arial"/>
                <a:cs typeface="Arial"/>
              </a:rPr>
              <a:t>easy-</a:t>
            </a:r>
            <a:r>
              <a:rPr dirty="0" sz="3400" spc="-90">
                <a:latin typeface="Arial"/>
                <a:cs typeface="Arial"/>
              </a:rPr>
              <a:t>to-</a:t>
            </a:r>
            <a:r>
              <a:rPr dirty="0" sz="3400" spc="-10">
                <a:latin typeface="Arial"/>
                <a:cs typeface="Arial"/>
              </a:rPr>
              <a:t>read</a:t>
            </a:r>
            <a:r>
              <a:rPr dirty="0" sz="3400" spc="-70">
                <a:latin typeface="Arial"/>
                <a:cs typeface="Arial"/>
              </a:rPr>
              <a:t> </a:t>
            </a:r>
            <a:r>
              <a:rPr dirty="0" sz="3400" spc="-20">
                <a:latin typeface="Arial"/>
                <a:cs typeface="Arial"/>
              </a:rPr>
              <a:t>stats that</a:t>
            </a:r>
            <a:r>
              <a:rPr dirty="0" sz="3400" spc="-210">
                <a:latin typeface="Arial"/>
                <a:cs typeface="Arial"/>
              </a:rPr>
              <a:t> </a:t>
            </a:r>
            <a:r>
              <a:rPr dirty="0" sz="3400" spc="-165">
                <a:latin typeface="Arial"/>
                <a:cs typeface="Arial"/>
              </a:rPr>
              <a:t>reveal</a:t>
            </a:r>
            <a:r>
              <a:rPr dirty="0" sz="3400" spc="-75">
                <a:latin typeface="Arial"/>
                <a:cs typeface="Arial"/>
              </a:rPr>
              <a:t> </a:t>
            </a:r>
            <a:r>
              <a:rPr dirty="0" sz="3400" spc="-145">
                <a:latin typeface="Arial"/>
                <a:cs typeface="Arial"/>
              </a:rPr>
              <a:t>how</a:t>
            </a:r>
            <a:r>
              <a:rPr dirty="0" sz="3400" spc="-45">
                <a:latin typeface="Arial"/>
                <a:cs typeface="Arial"/>
              </a:rPr>
              <a:t> </a:t>
            </a:r>
            <a:r>
              <a:rPr dirty="0" sz="3400" spc="-140">
                <a:latin typeface="Arial"/>
                <a:cs typeface="Arial"/>
              </a:rPr>
              <a:t>your</a:t>
            </a:r>
            <a:r>
              <a:rPr dirty="0" sz="3400" spc="-95">
                <a:latin typeface="Arial"/>
                <a:cs typeface="Arial"/>
              </a:rPr>
              <a:t> </a:t>
            </a:r>
            <a:r>
              <a:rPr dirty="0" sz="3400" spc="-10">
                <a:latin typeface="Arial"/>
                <a:cs typeface="Arial"/>
              </a:rPr>
              <a:t>portfolio </a:t>
            </a:r>
            <a:r>
              <a:rPr dirty="0" sz="3450" spc="-225">
                <a:latin typeface="Arial"/>
                <a:cs typeface="Arial"/>
              </a:rPr>
              <a:t>measures</a:t>
            </a:r>
            <a:r>
              <a:rPr dirty="0" sz="3450" spc="15">
                <a:latin typeface="Arial"/>
                <a:cs typeface="Arial"/>
              </a:rPr>
              <a:t> </a:t>
            </a:r>
            <a:r>
              <a:rPr dirty="0" sz="3450" spc="-170">
                <a:latin typeface="Arial"/>
                <a:cs typeface="Arial"/>
              </a:rPr>
              <a:t>up.</a:t>
            </a:r>
            <a:r>
              <a:rPr dirty="0" sz="3450" spc="-70">
                <a:latin typeface="Arial"/>
                <a:cs typeface="Arial"/>
              </a:rPr>
              <a:t> </a:t>
            </a:r>
            <a:r>
              <a:rPr dirty="0" sz="3450" spc="-204">
                <a:latin typeface="Arial"/>
                <a:cs typeface="Arial"/>
              </a:rPr>
              <a:t>Analyze,</a:t>
            </a:r>
            <a:r>
              <a:rPr dirty="0" sz="3450">
                <a:latin typeface="Arial"/>
                <a:cs typeface="Arial"/>
              </a:rPr>
              <a:t> </a:t>
            </a:r>
            <a:r>
              <a:rPr dirty="0" sz="3450" spc="-10">
                <a:latin typeface="Arial"/>
                <a:cs typeface="Arial"/>
              </a:rPr>
              <a:t>track, </a:t>
            </a:r>
            <a:r>
              <a:rPr dirty="0" sz="3400" spc="-145">
                <a:latin typeface="Arial"/>
                <a:cs typeface="Arial"/>
              </a:rPr>
              <a:t>research,</a:t>
            </a:r>
            <a:r>
              <a:rPr dirty="0" sz="3400" spc="-95">
                <a:latin typeface="Arial"/>
                <a:cs typeface="Arial"/>
              </a:rPr>
              <a:t> </a:t>
            </a:r>
            <a:r>
              <a:rPr dirty="0" sz="3400" spc="-195">
                <a:latin typeface="Arial"/>
                <a:cs typeface="Arial"/>
              </a:rPr>
              <a:t>and</a:t>
            </a:r>
            <a:r>
              <a:rPr dirty="0" sz="3400" spc="-50">
                <a:latin typeface="Arial"/>
                <a:cs typeface="Arial"/>
              </a:rPr>
              <a:t> </a:t>
            </a:r>
            <a:r>
              <a:rPr dirty="0" sz="3400" spc="-105">
                <a:latin typeface="Arial"/>
                <a:cs typeface="Arial"/>
              </a:rPr>
              <a:t>question</a:t>
            </a:r>
            <a:r>
              <a:rPr dirty="0" sz="3400" spc="-55">
                <a:latin typeface="Arial"/>
                <a:cs typeface="Arial"/>
              </a:rPr>
              <a:t> </a:t>
            </a:r>
            <a:r>
              <a:rPr dirty="0" sz="3400" spc="-10">
                <a:latin typeface="Arial"/>
                <a:cs typeface="Arial"/>
              </a:rPr>
              <a:t>almost </a:t>
            </a:r>
            <a:r>
              <a:rPr dirty="0" sz="3450" spc="-140">
                <a:latin typeface="Arial"/>
                <a:cs typeface="Arial"/>
              </a:rPr>
              <a:t>anything</a:t>
            </a:r>
            <a:r>
              <a:rPr dirty="0" sz="3450" spc="-114">
                <a:latin typeface="Arial"/>
                <a:cs typeface="Arial"/>
              </a:rPr>
              <a:t> </a:t>
            </a:r>
            <a:r>
              <a:rPr dirty="0" sz="3450" spc="-50">
                <a:latin typeface="Arial"/>
                <a:cs typeface="Arial"/>
              </a:rPr>
              <a:t>with</a:t>
            </a:r>
            <a:r>
              <a:rPr dirty="0" sz="3450" spc="-125">
                <a:latin typeface="Arial"/>
                <a:cs typeface="Arial"/>
              </a:rPr>
              <a:t> </a:t>
            </a:r>
            <a:r>
              <a:rPr dirty="0" sz="3450" spc="-145">
                <a:latin typeface="Arial"/>
                <a:cs typeface="Arial"/>
              </a:rPr>
              <a:t>just</a:t>
            </a:r>
            <a:r>
              <a:rPr dirty="0" sz="3450" spc="-90">
                <a:latin typeface="Arial"/>
                <a:cs typeface="Arial"/>
              </a:rPr>
              <a:t> </a:t>
            </a:r>
            <a:r>
              <a:rPr dirty="0" sz="3450" spc="-345">
                <a:latin typeface="Arial"/>
                <a:cs typeface="Arial"/>
              </a:rPr>
              <a:t>a</a:t>
            </a:r>
            <a:r>
              <a:rPr dirty="0" sz="3450" spc="-55">
                <a:latin typeface="Arial"/>
                <a:cs typeface="Arial"/>
              </a:rPr>
              <a:t> </a:t>
            </a:r>
            <a:r>
              <a:rPr dirty="0" sz="3450" spc="-85">
                <a:latin typeface="Arial"/>
                <a:cs typeface="Arial"/>
              </a:rPr>
              <a:t>conversation.</a:t>
            </a:r>
            <a:endParaRPr sz="34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094142" y="1948744"/>
            <a:ext cx="2487930" cy="83248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 indent="3175">
              <a:lnSpc>
                <a:spcPts val="2100"/>
              </a:lnSpc>
              <a:spcBef>
                <a:spcPts val="225"/>
              </a:spcBef>
            </a:pPr>
            <a:r>
              <a:rPr dirty="0" sz="1800" spc="-155">
                <a:latin typeface="Arial"/>
                <a:cs typeface="Arial"/>
              </a:rPr>
              <a:t>How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spc="-80">
                <a:solidFill>
                  <a:srgbClr val="111111"/>
                </a:solidFill>
                <a:latin typeface="Arial"/>
                <a:cs typeface="Arial"/>
              </a:rPr>
              <a:t>is</a:t>
            </a:r>
            <a:r>
              <a:rPr dirty="0" sz="1800" spc="-4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800" spc="-175">
                <a:latin typeface="Arial"/>
                <a:cs typeface="Arial"/>
              </a:rPr>
              <a:t>my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 spc="-65">
                <a:latin typeface="Arial"/>
                <a:cs typeface="Arial"/>
              </a:rPr>
              <a:t>tech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stock </a:t>
            </a:r>
            <a:r>
              <a:rPr dirty="0" sz="1800" spc="-80">
                <a:latin typeface="Arial"/>
                <a:cs typeface="Arial"/>
              </a:rPr>
              <a:t>concentration</a:t>
            </a:r>
            <a:r>
              <a:rPr dirty="0" sz="1800" spc="-10">
                <a:latin typeface="Arial"/>
                <a:cs typeface="Arial"/>
              </a:rPr>
              <a:t> looking </a:t>
            </a:r>
            <a:r>
              <a:rPr dirty="0" sz="1700" spc="-50">
                <a:latin typeface="Arial"/>
                <a:cs typeface="Arial"/>
              </a:rPr>
              <a:t>compared</a:t>
            </a:r>
            <a:r>
              <a:rPr dirty="0" sz="1700" spc="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to</a:t>
            </a:r>
            <a:r>
              <a:rPr dirty="0" sz="1700" spc="-114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the</a:t>
            </a:r>
            <a:r>
              <a:rPr dirty="0" sz="1700" spc="-120">
                <a:latin typeface="Arial"/>
                <a:cs typeface="Arial"/>
              </a:rPr>
              <a:t> </a:t>
            </a:r>
            <a:r>
              <a:rPr dirty="0" sz="1700" spc="-150">
                <a:latin typeface="Arial"/>
                <a:cs typeface="Arial"/>
              </a:rPr>
              <a:t>NASDAQ?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565449" y="3210983"/>
            <a:ext cx="3016885" cy="2082800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915"/>
              </a:spcBef>
            </a:pPr>
            <a:r>
              <a:rPr dirty="0" sz="1650">
                <a:latin typeface="Cambria"/>
                <a:cs typeface="Cambria"/>
              </a:rPr>
              <a:t>Arta</a:t>
            </a:r>
            <a:r>
              <a:rPr dirty="0" sz="1650" spc="20">
                <a:latin typeface="Cambria"/>
                <a:cs typeface="Cambria"/>
              </a:rPr>
              <a:t> </a:t>
            </a:r>
            <a:r>
              <a:rPr dirty="0" sz="1650" spc="-114">
                <a:latin typeface="Cambria"/>
                <a:cs typeface="Cambria"/>
              </a:rPr>
              <a:t>AI</a:t>
            </a:r>
            <a:r>
              <a:rPr dirty="0" sz="1650" spc="-10">
                <a:latin typeface="Cambria"/>
                <a:cs typeface="Cambria"/>
              </a:rPr>
              <a:t> Sidekick:</a:t>
            </a:r>
            <a:endParaRPr sz="1650">
              <a:latin typeface="Cambria"/>
              <a:cs typeface="Cambria"/>
            </a:endParaRPr>
          </a:p>
          <a:p>
            <a:pPr marL="12700" marR="5080" indent="15875">
              <a:lnSpc>
                <a:spcPct val="107100"/>
              </a:lnSpc>
              <a:spcBef>
                <a:spcPts val="680"/>
              </a:spcBef>
              <a:tabLst>
                <a:tab pos="972185" algn="l"/>
                <a:tab pos="1605280" algn="l"/>
              </a:tabLst>
            </a:pPr>
            <a:r>
              <a:rPr dirty="0" sz="1650" spc="-85">
                <a:latin typeface="Arial"/>
                <a:cs typeface="Arial"/>
              </a:rPr>
              <a:t>Your</a:t>
            </a:r>
            <a:r>
              <a:rPr dirty="0" sz="1650" spc="-35">
                <a:latin typeface="Arial"/>
                <a:cs typeface="Arial"/>
              </a:rPr>
              <a:t> </a:t>
            </a:r>
            <a:r>
              <a:rPr dirty="0" sz="1650">
                <a:latin typeface="Arial"/>
                <a:cs typeface="Arial"/>
              </a:rPr>
              <a:t>tech</a:t>
            </a:r>
            <a:r>
              <a:rPr dirty="0" sz="1650" spc="-80">
                <a:latin typeface="Arial"/>
                <a:cs typeface="Arial"/>
              </a:rPr>
              <a:t> </a:t>
            </a:r>
            <a:r>
              <a:rPr dirty="0" sz="1650">
                <a:latin typeface="Arial"/>
                <a:cs typeface="Arial"/>
              </a:rPr>
              <a:t>sector</a:t>
            </a:r>
            <a:r>
              <a:rPr dirty="0" sz="1650" spc="-60">
                <a:latin typeface="Arial"/>
                <a:cs typeface="Arial"/>
              </a:rPr>
              <a:t> </a:t>
            </a:r>
            <a:r>
              <a:rPr dirty="0" sz="1650" spc="-20">
                <a:latin typeface="Arial"/>
                <a:cs typeface="Arial"/>
              </a:rPr>
              <a:t>concentration</a:t>
            </a:r>
            <a:r>
              <a:rPr dirty="0" sz="1650" spc="-40">
                <a:latin typeface="Arial"/>
                <a:cs typeface="Arial"/>
              </a:rPr>
              <a:t> </a:t>
            </a:r>
            <a:r>
              <a:rPr dirty="0" sz="1650" spc="-25">
                <a:latin typeface="Arial"/>
                <a:cs typeface="Arial"/>
              </a:rPr>
              <a:t>is </a:t>
            </a:r>
            <a:r>
              <a:rPr dirty="0" sz="1650">
                <a:latin typeface="Arial"/>
                <a:cs typeface="Arial"/>
              </a:rPr>
              <a:t>at</a:t>
            </a:r>
            <a:r>
              <a:rPr dirty="0" sz="1650" spc="-70">
                <a:latin typeface="Arial"/>
                <a:cs typeface="Arial"/>
              </a:rPr>
              <a:t> </a:t>
            </a:r>
            <a:r>
              <a:rPr dirty="0" sz="1650" spc="-85">
                <a:latin typeface="Arial"/>
                <a:cs typeface="Arial"/>
              </a:rPr>
              <a:t>42°4,</a:t>
            </a:r>
            <a:r>
              <a:rPr dirty="0" sz="1650" spc="10">
                <a:latin typeface="Arial"/>
                <a:cs typeface="Arial"/>
              </a:rPr>
              <a:t> </a:t>
            </a:r>
            <a:r>
              <a:rPr dirty="0" sz="1650" spc="-25">
                <a:latin typeface="Arial"/>
                <a:cs typeface="Arial"/>
              </a:rPr>
              <a:t>which</a:t>
            </a:r>
            <a:r>
              <a:rPr dirty="0" sz="1650" spc="-90">
                <a:latin typeface="Arial"/>
                <a:cs typeface="Arial"/>
              </a:rPr>
              <a:t> </a:t>
            </a:r>
            <a:r>
              <a:rPr dirty="0" sz="1650" spc="-35">
                <a:latin typeface="Arial"/>
                <a:cs typeface="Arial"/>
              </a:rPr>
              <a:t>is</a:t>
            </a:r>
            <a:r>
              <a:rPr dirty="0" sz="1650" spc="-70">
                <a:latin typeface="Arial"/>
                <a:cs typeface="Arial"/>
              </a:rPr>
              <a:t> </a:t>
            </a:r>
            <a:r>
              <a:rPr dirty="0" sz="1650" spc="-20">
                <a:latin typeface="Arial"/>
                <a:cs typeface="Arial"/>
              </a:rPr>
              <a:t>higher</a:t>
            </a:r>
            <a:r>
              <a:rPr dirty="0" sz="1650" spc="20">
                <a:latin typeface="Arial"/>
                <a:cs typeface="Arial"/>
              </a:rPr>
              <a:t> </a:t>
            </a:r>
            <a:r>
              <a:rPr dirty="0" sz="1650" spc="-25">
                <a:latin typeface="Arial"/>
                <a:cs typeface="Arial"/>
              </a:rPr>
              <a:t>than</a:t>
            </a:r>
            <a:r>
              <a:rPr dirty="0" sz="1650" spc="-90">
                <a:latin typeface="Arial"/>
                <a:cs typeface="Arial"/>
              </a:rPr>
              <a:t> </a:t>
            </a:r>
            <a:r>
              <a:rPr dirty="0" sz="1650" spc="-25">
                <a:latin typeface="Arial"/>
                <a:cs typeface="Arial"/>
              </a:rPr>
              <a:t>the </a:t>
            </a:r>
            <a:r>
              <a:rPr dirty="0" sz="1650" spc="-165">
                <a:latin typeface="Arial"/>
                <a:cs typeface="Arial"/>
              </a:rPr>
              <a:t>NASDAQ</a:t>
            </a:r>
            <a:r>
              <a:rPr dirty="0" sz="1650" spc="-35">
                <a:latin typeface="Arial"/>
                <a:cs typeface="Arial"/>
              </a:rPr>
              <a:t> </a:t>
            </a:r>
            <a:r>
              <a:rPr dirty="0" sz="1650" spc="-25">
                <a:latin typeface="Arial"/>
                <a:cs typeface="Arial"/>
              </a:rPr>
              <a:t>100’s</a:t>
            </a:r>
            <a:r>
              <a:rPr dirty="0" sz="1650" spc="-60">
                <a:latin typeface="Arial"/>
                <a:cs typeface="Arial"/>
              </a:rPr>
              <a:t> </a:t>
            </a:r>
            <a:r>
              <a:rPr dirty="0" sz="1650" spc="-20">
                <a:latin typeface="Arial"/>
                <a:cs typeface="Arial"/>
              </a:rPr>
              <a:t>current</a:t>
            </a:r>
            <a:r>
              <a:rPr dirty="0" sz="1650" spc="40">
                <a:latin typeface="Arial"/>
                <a:cs typeface="Arial"/>
              </a:rPr>
              <a:t> </a:t>
            </a:r>
            <a:r>
              <a:rPr dirty="0" sz="1650" spc="-10">
                <a:latin typeface="Arial"/>
                <a:cs typeface="Arial"/>
              </a:rPr>
              <a:t>weighting </a:t>
            </a:r>
            <a:r>
              <a:rPr dirty="0" sz="1650">
                <a:latin typeface="Arial"/>
                <a:cs typeface="Arial"/>
              </a:rPr>
              <a:t>of</a:t>
            </a:r>
            <a:r>
              <a:rPr dirty="0" sz="1650" spc="-25">
                <a:latin typeface="Arial"/>
                <a:cs typeface="Arial"/>
              </a:rPr>
              <a:t> </a:t>
            </a:r>
            <a:r>
              <a:rPr dirty="0" sz="1650" spc="-175">
                <a:solidFill>
                  <a:srgbClr val="0C0C0C"/>
                </a:solidFill>
                <a:latin typeface="Arial"/>
                <a:cs typeface="Arial"/>
              </a:rPr>
              <a:t>3S%.</a:t>
            </a:r>
            <a:r>
              <a:rPr dirty="0" sz="1650" spc="6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650" spc="-75">
                <a:latin typeface="Arial"/>
                <a:cs typeface="Arial"/>
              </a:rPr>
              <a:t>The </a:t>
            </a:r>
            <a:r>
              <a:rPr dirty="0" sz="1650" spc="-35">
                <a:latin typeface="Arial"/>
                <a:cs typeface="Arial"/>
              </a:rPr>
              <a:t>main</a:t>
            </a:r>
            <a:r>
              <a:rPr dirty="0" sz="1650" spc="5">
                <a:latin typeface="Arial"/>
                <a:cs typeface="Arial"/>
              </a:rPr>
              <a:t> </a:t>
            </a:r>
            <a:r>
              <a:rPr dirty="0" sz="1650" spc="-20">
                <a:latin typeface="Arial"/>
                <a:cs typeface="Arial"/>
              </a:rPr>
              <a:t>drivers</a:t>
            </a:r>
            <a:r>
              <a:rPr dirty="0" sz="1650" spc="-25">
                <a:latin typeface="Arial"/>
                <a:cs typeface="Arial"/>
              </a:rPr>
              <a:t> </a:t>
            </a:r>
            <a:r>
              <a:rPr dirty="0" sz="1650" spc="-60">
                <a:latin typeface="Arial"/>
                <a:cs typeface="Arial"/>
              </a:rPr>
              <a:t>are</a:t>
            </a:r>
            <a:r>
              <a:rPr dirty="0" sz="1650" spc="-55">
                <a:latin typeface="Arial"/>
                <a:cs typeface="Arial"/>
              </a:rPr>
              <a:t> </a:t>
            </a:r>
            <a:r>
              <a:rPr dirty="0" sz="1650" spc="-20">
                <a:latin typeface="Arial"/>
                <a:cs typeface="Arial"/>
              </a:rPr>
              <a:t>your </a:t>
            </a:r>
            <a:r>
              <a:rPr dirty="0" sz="1650">
                <a:solidFill>
                  <a:srgbClr val="2F2F2F"/>
                </a:solidFill>
                <a:latin typeface="Arial"/>
                <a:cs typeface="Arial"/>
              </a:rPr>
              <a:t>osi</a:t>
            </a:r>
            <a:r>
              <a:rPr dirty="0" sz="1650" spc="-35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dirty="0" sz="1650" spc="-25">
                <a:solidFill>
                  <a:srgbClr val="262626"/>
                </a:solidFill>
                <a:latin typeface="Arial"/>
                <a:cs typeface="Arial"/>
              </a:rPr>
              <a:t>io</a:t>
            </a:r>
            <a:r>
              <a:rPr dirty="0" sz="1650">
                <a:solidFill>
                  <a:srgbClr val="262626"/>
                </a:solidFill>
                <a:latin typeface="Arial"/>
                <a:cs typeface="Arial"/>
              </a:rPr>
              <a:t>	</a:t>
            </a:r>
            <a:r>
              <a:rPr dirty="0" sz="1650" spc="-20">
                <a:latin typeface="Arial"/>
                <a:cs typeface="Arial"/>
              </a:rPr>
              <a:t>AAPL</a:t>
            </a:r>
            <a:r>
              <a:rPr dirty="0" sz="1650">
                <a:latin typeface="Arial"/>
                <a:cs typeface="Arial"/>
              </a:rPr>
              <a:t>	</a:t>
            </a:r>
            <a:r>
              <a:rPr dirty="0" sz="1650" spc="-10">
                <a:solidFill>
                  <a:srgbClr val="161616"/>
                </a:solidFill>
                <a:latin typeface="Arial"/>
                <a:cs typeface="Arial"/>
              </a:rPr>
              <a:t>nd</a:t>
            </a:r>
            <a:r>
              <a:rPr dirty="0" sz="1650" spc="-10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1650" spc="-10">
                <a:latin typeface="Arial"/>
                <a:cs typeface="Arial"/>
              </a:rPr>
              <a:t>NVDA. </a:t>
            </a:r>
            <a:r>
              <a:rPr dirty="0" sz="1650" spc="-40">
                <a:latin typeface="Arial"/>
                <a:cs typeface="Arial"/>
              </a:rPr>
              <a:t>Here's</a:t>
            </a:r>
            <a:r>
              <a:rPr dirty="0" sz="1650" spc="-80">
                <a:latin typeface="Arial"/>
                <a:cs typeface="Arial"/>
              </a:rPr>
              <a:t> </a:t>
            </a:r>
            <a:r>
              <a:rPr dirty="0" sz="1650">
                <a:latin typeface="Arial"/>
                <a:cs typeface="Arial"/>
              </a:rPr>
              <a:t>a</a:t>
            </a:r>
            <a:r>
              <a:rPr dirty="0" sz="1650" spc="-50">
                <a:latin typeface="Arial"/>
                <a:cs typeface="Arial"/>
              </a:rPr>
              <a:t> </a:t>
            </a:r>
            <a:r>
              <a:rPr dirty="0" sz="1650" spc="-40">
                <a:latin typeface="Arial"/>
                <a:cs typeface="Arial"/>
              </a:rPr>
              <a:t>visual</a:t>
            </a:r>
            <a:r>
              <a:rPr dirty="0" sz="1650" spc="-20">
                <a:latin typeface="Arial"/>
                <a:cs typeface="Arial"/>
              </a:rPr>
              <a:t> </a:t>
            </a:r>
            <a:r>
              <a:rPr dirty="0" sz="1650" spc="-10">
                <a:latin typeface="Arial"/>
                <a:cs typeface="Arial"/>
              </a:rPr>
              <a:t>breakdown:</a:t>
            </a:r>
            <a:endParaRPr sz="16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3389432" y="7772400"/>
            <a:ext cx="88836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20">
                <a:latin typeface="Cambria"/>
                <a:cs typeface="Cambria"/>
              </a:rPr>
              <a:t>NASDAQ</a:t>
            </a:r>
            <a:r>
              <a:rPr dirty="0" sz="1250" spc="5">
                <a:latin typeface="Cambria"/>
                <a:cs typeface="Cambria"/>
              </a:rPr>
              <a:t> </a:t>
            </a:r>
            <a:r>
              <a:rPr dirty="0" sz="1250" spc="-25">
                <a:solidFill>
                  <a:srgbClr val="1C1C1C"/>
                </a:solidFill>
                <a:latin typeface="Cambria"/>
                <a:cs typeface="Cambria"/>
              </a:rPr>
              <a:t>100</a:t>
            </a:r>
            <a:endParaRPr sz="12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900" y="6769100"/>
            <a:ext cx="647700" cy="5334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41700" y="3340100"/>
            <a:ext cx="495300" cy="2159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43800" y="3390900"/>
            <a:ext cx="431800" cy="2032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2067" rIns="0" bIns="0" rtlCol="0" vert="horz">
            <a:spAutoFit/>
          </a:bodyPr>
          <a:lstStyle/>
          <a:p>
            <a:pPr marL="723900">
              <a:lnSpc>
                <a:spcPct val="100000"/>
              </a:lnSpc>
              <a:spcBef>
                <a:spcPts val="110"/>
              </a:spcBef>
            </a:pPr>
            <a:r>
              <a:rPr dirty="0" sz="4850" spc="90">
                <a:solidFill>
                  <a:srgbClr val="1C1C1C"/>
                </a:solidFill>
              </a:rPr>
              <a:t>Intelligence</a:t>
            </a:r>
            <a:r>
              <a:rPr dirty="0" sz="4850" spc="340">
                <a:solidFill>
                  <a:srgbClr val="1C1C1C"/>
                </a:solidFill>
              </a:rPr>
              <a:t> </a:t>
            </a:r>
            <a:r>
              <a:rPr dirty="0" sz="4850" spc="250"/>
              <a:t>that</a:t>
            </a:r>
            <a:r>
              <a:rPr dirty="0" sz="4850" spc="-80"/>
              <a:t> </a:t>
            </a:r>
            <a:r>
              <a:rPr dirty="0" sz="4850" spc="110">
                <a:solidFill>
                  <a:srgbClr val="232323"/>
                </a:solidFill>
              </a:rPr>
              <a:t>works</a:t>
            </a:r>
            <a:r>
              <a:rPr dirty="0" sz="4850" spc="-85">
                <a:solidFill>
                  <a:srgbClr val="232323"/>
                </a:solidFill>
              </a:rPr>
              <a:t> </a:t>
            </a:r>
            <a:r>
              <a:rPr dirty="0" sz="4850" spc="95">
                <a:solidFill>
                  <a:srgbClr val="1F1F1F"/>
                </a:solidFill>
              </a:rPr>
              <a:t>the</a:t>
            </a:r>
            <a:r>
              <a:rPr dirty="0" sz="4850" spc="305">
                <a:solidFill>
                  <a:srgbClr val="1F1F1F"/>
                </a:solidFill>
              </a:rPr>
              <a:t> </a:t>
            </a:r>
            <a:r>
              <a:rPr dirty="0" sz="4850">
                <a:solidFill>
                  <a:srgbClr val="1F1F1F"/>
                </a:solidFill>
              </a:rPr>
              <a:t>way</a:t>
            </a:r>
            <a:r>
              <a:rPr dirty="0" sz="4850" spc="-175">
                <a:solidFill>
                  <a:srgbClr val="1F1F1F"/>
                </a:solidFill>
              </a:rPr>
              <a:t> </a:t>
            </a:r>
            <a:r>
              <a:rPr dirty="0" sz="4850" spc="70">
                <a:solidFill>
                  <a:srgbClr val="242424"/>
                </a:solidFill>
              </a:rPr>
              <a:t>you</a:t>
            </a:r>
            <a:r>
              <a:rPr dirty="0" sz="4850" spc="-40">
                <a:solidFill>
                  <a:srgbClr val="242424"/>
                </a:solidFill>
              </a:rPr>
              <a:t> </a:t>
            </a:r>
            <a:r>
              <a:rPr dirty="0" sz="4850" spc="95">
                <a:solidFill>
                  <a:srgbClr val="181818"/>
                </a:solidFill>
              </a:rPr>
              <a:t>do.</a:t>
            </a:r>
            <a:endParaRPr sz="4850"/>
          </a:p>
        </p:txBody>
      </p:sp>
      <p:sp>
        <p:nvSpPr>
          <p:cNvPr id="6" name="object 6" descr=""/>
          <p:cNvSpPr txBox="1"/>
          <p:nvPr/>
        </p:nvSpPr>
        <p:spPr>
          <a:xfrm>
            <a:off x="1328044" y="3704166"/>
            <a:ext cx="4439285" cy="1756410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280"/>
              </a:spcBef>
            </a:pPr>
            <a:r>
              <a:rPr dirty="0" sz="2900" spc="-75">
                <a:latin typeface="Arial"/>
                <a:cs typeface="Arial"/>
              </a:rPr>
              <a:t>Talk,</a:t>
            </a:r>
            <a:r>
              <a:rPr dirty="0" sz="2900" spc="-335">
                <a:latin typeface="Arial"/>
                <a:cs typeface="Arial"/>
              </a:rPr>
              <a:t> </a:t>
            </a:r>
            <a:r>
              <a:rPr dirty="0" sz="2900" spc="-80">
                <a:latin typeface="Arial"/>
                <a:cs typeface="Arial"/>
              </a:rPr>
              <a:t>Email,</a:t>
            </a:r>
            <a:r>
              <a:rPr dirty="0" sz="2900" spc="-225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or</a:t>
            </a:r>
            <a:r>
              <a:rPr dirty="0" sz="2900" spc="-15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WhatsApp</a:t>
            </a:r>
            <a:endParaRPr sz="2900">
              <a:latin typeface="Arial"/>
              <a:cs typeface="Arial"/>
            </a:endParaRPr>
          </a:p>
          <a:p>
            <a:pPr marL="12700" marR="5080" indent="4445">
              <a:lnSpc>
                <a:spcPct val="108200"/>
              </a:lnSpc>
              <a:spcBef>
                <a:spcPts val="670"/>
              </a:spcBef>
              <a:tabLst>
                <a:tab pos="748030" algn="l"/>
                <a:tab pos="1105535" algn="l"/>
              </a:tabLst>
            </a:pPr>
            <a:r>
              <a:rPr dirty="0" sz="2050" spc="-10">
                <a:latin typeface="Arial"/>
                <a:cs typeface="Arial"/>
              </a:rPr>
              <a:t>Communicate</a:t>
            </a:r>
            <a:r>
              <a:rPr dirty="0" sz="2050" spc="3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in</a:t>
            </a:r>
            <a:r>
              <a:rPr dirty="0" sz="2050" spc="-10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your</a:t>
            </a:r>
            <a:r>
              <a:rPr dirty="0" sz="2050" spc="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preferred</a:t>
            </a:r>
            <a:r>
              <a:rPr dirty="0" sz="2050" spc="125">
                <a:latin typeface="Arial"/>
                <a:cs typeface="Arial"/>
              </a:rPr>
              <a:t> </a:t>
            </a:r>
            <a:r>
              <a:rPr dirty="0" sz="2050" spc="-10">
                <a:latin typeface="Arial"/>
                <a:cs typeface="Arial"/>
              </a:rPr>
              <a:t>style, </a:t>
            </a:r>
            <a:r>
              <a:rPr dirty="0" sz="2150">
                <a:latin typeface="Arial"/>
                <a:cs typeface="Arial"/>
              </a:rPr>
              <a:t>in</a:t>
            </a:r>
            <a:r>
              <a:rPr dirty="0" sz="2150" spc="-150">
                <a:latin typeface="Arial"/>
                <a:cs typeface="Arial"/>
              </a:rPr>
              <a:t> </a:t>
            </a:r>
            <a:r>
              <a:rPr dirty="0" sz="2150" spc="-30">
                <a:latin typeface="Arial"/>
                <a:cs typeface="Arial"/>
              </a:rPr>
              <a:t>multiple</a:t>
            </a:r>
            <a:r>
              <a:rPr dirty="0" sz="2150" spc="-70">
                <a:latin typeface="Arial"/>
                <a:cs typeface="Arial"/>
              </a:rPr>
              <a:t> </a:t>
            </a:r>
            <a:r>
              <a:rPr dirty="0" sz="2150" spc="-55">
                <a:latin typeface="Arial"/>
                <a:cs typeface="Arial"/>
              </a:rPr>
              <a:t>languages</a:t>
            </a:r>
            <a:r>
              <a:rPr dirty="0" sz="2150" spc="30">
                <a:latin typeface="Arial"/>
                <a:cs typeface="Arial"/>
              </a:rPr>
              <a:t> </a:t>
            </a:r>
            <a:r>
              <a:rPr dirty="0" sz="2150">
                <a:latin typeface="Arial"/>
                <a:cs typeface="Arial"/>
              </a:rPr>
              <a:t>(ÇÂ,</a:t>
            </a:r>
            <a:r>
              <a:rPr dirty="0" sz="2150" spc="-70">
                <a:latin typeface="Arial"/>
                <a:cs typeface="Arial"/>
              </a:rPr>
              <a:t> </a:t>
            </a:r>
            <a:r>
              <a:rPr dirty="0" sz="2150" spc="-55">
                <a:latin typeface="Arial"/>
                <a:cs typeface="Arial"/>
              </a:rPr>
              <a:t>Português, </a:t>
            </a:r>
            <a:r>
              <a:rPr dirty="0" sz="2200" spc="-20">
                <a:latin typeface="Arial"/>
                <a:cs typeface="Arial"/>
              </a:rPr>
              <a:t>8t§Y</a:t>
            </a:r>
            <a:r>
              <a:rPr dirty="0" sz="2200">
                <a:latin typeface="Arial"/>
                <a:cs typeface="Arial"/>
              </a:rPr>
              <a:t>	</a:t>
            </a:r>
            <a:r>
              <a:rPr dirty="0" sz="2200" spc="-25">
                <a:latin typeface="Arial"/>
                <a:cs typeface="Arial"/>
              </a:rPr>
              <a:t>À,</a:t>
            </a:r>
            <a:r>
              <a:rPr dirty="0" sz="2200">
                <a:latin typeface="Arial"/>
                <a:cs typeface="Arial"/>
              </a:rPr>
              <a:t>	</a:t>
            </a:r>
            <a:r>
              <a:rPr dirty="0" sz="2200" spc="-120">
                <a:latin typeface="Arial"/>
                <a:cs typeface="Arial"/>
              </a:rPr>
              <a:t>and</a:t>
            </a:r>
            <a:r>
              <a:rPr dirty="0" sz="2200" spc="-3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more).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18708" y="7397750"/>
            <a:ext cx="5977255" cy="168465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900">
                <a:latin typeface="Arial"/>
                <a:cs typeface="Arial"/>
              </a:rPr>
              <a:t>Multi-Asset</a:t>
            </a:r>
            <a:r>
              <a:rPr dirty="0" sz="2900" spc="425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Support</a:t>
            </a:r>
            <a:endParaRPr sz="2900">
              <a:latin typeface="Arial"/>
              <a:cs typeface="Arial"/>
            </a:endParaRPr>
          </a:p>
          <a:p>
            <a:pPr marL="18415" marR="5080" indent="13970">
              <a:lnSpc>
                <a:spcPct val="92000"/>
              </a:lnSpc>
              <a:spcBef>
                <a:spcPts val="750"/>
              </a:spcBef>
            </a:pPr>
            <a:r>
              <a:rPr dirty="0" sz="2400" spc="-229">
                <a:latin typeface="Arial"/>
                <a:cs typeface="Arial"/>
              </a:rPr>
              <a:t>Track</a:t>
            </a:r>
            <a:r>
              <a:rPr dirty="0" sz="2400" spc="75">
                <a:latin typeface="Arial"/>
                <a:cs typeface="Arial"/>
              </a:rPr>
              <a:t> </a:t>
            </a:r>
            <a:r>
              <a:rPr dirty="0" sz="2400" spc="-185">
                <a:latin typeface="Arial"/>
                <a:cs typeface="Arial"/>
              </a:rPr>
              <a:t>global</a:t>
            </a:r>
            <a:r>
              <a:rPr dirty="0" sz="2400" spc="65">
                <a:latin typeface="Arial"/>
                <a:cs typeface="Arial"/>
              </a:rPr>
              <a:t> </a:t>
            </a:r>
            <a:r>
              <a:rPr dirty="0" sz="2400" spc="-170">
                <a:latin typeface="Arial"/>
                <a:cs typeface="Arial"/>
              </a:rPr>
              <a:t>equities,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spc="-295">
                <a:latin typeface="Arial"/>
                <a:cs typeface="Arial"/>
              </a:rPr>
              <a:t>ETFs,</a:t>
            </a:r>
            <a:r>
              <a:rPr dirty="0" sz="2400" spc="80">
                <a:latin typeface="Arial"/>
                <a:cs typeface="Arial"/>
              </a:rPr>
              <a:t> </a:t>
            </a:r>
            <a:r>
              <a:rPr dirty="0" sz="2400" spc="-250">
                <a:latin typeface="Arial"/>
                <a:cs typeface="Arial"/>
              </a:rPr>
              <a:t>and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major </a:t>
            </a:r>
            <a:r>
              <a:rPr dirty="0" sz="2500" spc="-200">
                <a:latin typeface="Arial"/>
                <a:cs typeface="Arial"/>
              </a:rPr>
              <a:t>cryptocurrencies.</a:t>
            </a:r>
            <a:r>
              <a:rPr dirty="0" sz="2500" spc="-65">
                <a:latin typeface="Arial"/>
                <a:cs typeface="Arial"/>
              </a:rPr>
              <a:t> </a:t>
            </a:r>
            <a:r>
              <a:rPr dirty="0" sz="2500" spc="-225">
                <a:latin typeface="Arial"/>
                <a:cs typeface="Arial"/>
              </a:rPr>
              <a:t>(Mutual</a:t>
            </a:r>
            <a:r>
              <a:rPr dirty="0" sz="2500" spc="45">
                <a:latin typeface="Arial"/>
                <a:cs typeface="Arial"/>
              </a:rPr>
              <a:t> </a:t>
            </a:r>
            <a:r>
              <a:rPr dirty="0" sz="2500" spc="-225">
                <a:latin typeface="Arial"/>
                <a:cs typeface="Arial"/>
              </a:rPr>
              <a:t>funds,</a:t>
            </a:r>
            <a:r>
              <a:rPr dirty="0" sz="2500" spc="40">
                <a:latin typeface="Arial"/>
                <a:cs typeface="Arial"/>
              </a:rPr>
              <a:t> </a:t>
            </a:r>
            <a:r>
              <a:rPr dirty="0" sz="2500" spc="-204">
                <a:latin typeface="Arial"/>
                <a:cs typeface="Arial"/>
              </a:rPr>
              <a:t>private</a:t>
            </a:r>
            <a:r>
              <a:rPr dirty="0" sz="2500" spc="45">
                <a:latin typeface="Arial"/>
                <a:cs typeface="Arial"/>
              </a:rPr>
              <a:t> </a:t>
            </a:r>
            <a:r>
              <a:rPr dirty="0" sz="2500" spc="-215">
                <a:latin typeface="Arial"/>
                <a:cs typeface="Arial"/>
              </a:rPr>
              <a:t>funds,</a:t>
            </a:r>
            <a:r>
              <a:rPr dirty="0" sz="2500" spc="-65">
                <a:latin typeface="Arial"/>
                <a:cs typeface="Arial"/>
              </a:rPr>
              <a:t> </a:t>
            </a:r>
            <a:r>
              <a:rPr dirty="0" sz="2500" spc="-310">
                <a:latin typeface="Arial"/>
                <a:cs typeface="Arial"/>
              </a:rPr>
              <a:t>and </a:t>
            </a:r>
            <a:r>
              <a:rPr dirty="0" sz="2550" spc="-310">
                <a:latin typeface="Arial"/>
                <a:cs typeface="Arial"/>
              </a:rPr>
              <a:t>more</a:t>
            </a:r>
            <a:r>
              <a:rPr dirty="0" sz="2550" spc="-50">
                <a:latin typeface="Arial"/>
                <a:cs typeface="Arial"/>
              </a:rPr>
              <a:t> </a:t>
            </a:r>
            <a:r>
              <a:rPr dirty="0" sz="2550" spc="-295">
                <a:latin typeface="Arial"/>
                <a:cs typeface="Arial"/>
              </a:rPr>
              <a:t>coming</a:t>
            </a:r>
            <a:r>
              <a:rPr dirty="0" sz="2550" spc="85">
                <a:latin typeface="Arial"/>
                <a:cs typeface="Arial"/>
              </a:rPr>
              <a:t> </a:t>
            </a:r>
            <a:r>
              <a:rPr dirty="0" sz="2550" spc="-285">
                <a:latin typeface="Arial"/>
                <a:cs typeface="Arial"/>
              </a:rPr>
              <a:t>soon).</a:t>
            </a:r>
            <a:endParaRPr sz="25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608469" y="3757332"/>
            <a:ext cx="4281170" cy="171196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3655">
              <a:lnSpc>
                <a:spcPct val="100000"/>
              </a:lnSpc>
              <a:spcBef>
                <a:spcPts val="865"/>
              </a:spcBef>
            </a:pPr>
            <a:r>
              <a:rPr dirty="0" sz="2900">
                <a:latin typeface="Arial"/>
                <a:cs typeface="Arial"/>
              </a:rPr>
              <a:t>Automated</a:t>
            </a:r>
            <a:r>
              <a:rPr dirty="0" sz="2900" spc="-195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Workflows</a:t>
            </a:r>
            <a:endParaRPr sz="2900">
              <a:latin typeface="Arial"/>
              <a:cs typeface="Arial"/>
            </a:endParaRPr>
          </a:p>
          <a:p>
            <a:pPr marL="12700" marR="5080" indent="13335">
              <a:lnSpc>
                <a:spcPct val="92200"/>
              </a:lnSpc>
              <a:spcBef>
                <a:spcPts val="840"/>
              </a:spcBef>
            </a:pPr>
            <a:r>
              <a:rPr dirty="0" sz="2350" spc="-229">
                <a:latin typeface="Arial"/>
                <a:cs typeface="Arial"/>
              </a:rPr>
              <a:t>Turn</a:t>
            </a:r>
            <a:r>
              <a:rPr dirty="0" sz="2350" spc="-40">
                <a:latin typeface="Arial"/>
                <a:cs typeface="Arial"/>
              </a:rPr>
              <a:t> </a:t>
            </a:r>
            <a:r>
              <a:rPr dirty="0" sz="2350" spc="-140">
                <a:latin typeface="Arial"/>
                <a:cs typeface="Arial"/>
              </a:rPr>
              <a:t>recurring</a:t>
            </a:r>
            <a:r>
              <a:rPr dirty="0" sz="2350" spc="15">
                <a:latin typeface="Arial"/>
                <a:cs typeface="Arial"/>
              </a:rPr>
              <a:t> </a:t>
            </a:r>
            <a:r>
              <a:rPr dirty="0" sz="2350" spc="-170">
                <a:latin typeface="Arial"/>
                <a:cs typeface="Arial"/>
              </a:rPr>
              <a:t>chores</a:t>
            </a:r>
            <a:r>
              <a:rPr dirty="0" sz="2350" spc="70">
                <a:latin typeface="Arial"/>
                <a:cs typeface="Arial"/>
              </a:rPr>
              <a:t> </a:t>
            </a:r>
            <a:r>
              <a:rPr dirty="0" sz="2350" spc="-135">
                <a:latin typeface="Arial"/>
                <a:cs typeface="Arial"/>
              </a:rPr>
              <a:t>like</a:t>
            </a:r>
            <a:r>
              <a:rPr dirty="0" sz="2350" spc="-100">
                <a:latin typeface="Arial"/>
                <a:cs typeface="Arial"/>
              </a:rPr>
              <a:t> </a:t>
            </a:r>
            <a:r>
              <a:rPr dirty="0" sz="2350" spc="-130">
                <a:latin typeface="Arial"/>
                <a:cs typeface="Arial"/>
              </a:rPr>
              <a:t>monitoring </a:t>
            </a:r>
            <a:r>
              <a:rPr dirty="0" sz="2500" spc="-254">
                <a:latin typeface="Arial"/>
                <a:cs typeface="Arial"/>
              </a:rPr>
              <a:t>markets</a:t>
            </a:r>
            <a:r>
              <a:rPr dirty="0" sz="2500" spc="120">
                <a:latin typeface="Arial"/>
                <a:cs typeface="Arial"/>
              </a:rPr>
              <a:t> </a:t>
            </a:r>
            <a:r>
              <a:rPr dirty="0" sz="2500" spc="-229">
                <a:latin typeface="Arial"/>
                <a:cs typeface="Arial"/>
              </a:rPr>
              <a:t>or</a:t>
            </a:r>
            <a:r>
              <a:rPr dirty="0" sz="2500" spc="-60">
                <a:latin typeface="Arial"/>
                <a:cs typeface="Arial"/>
              </a:rPr>
              <a:t> </a:t>
            </a:r>
            <a:r>
              <a:rPr dirty="0" sz="2500" spc="-215">
                <a:latin typeface="Arial"/>
                <a:cs typeface="Arial"/>
              </a:rPr>
              <a:t>surfacing</a:t>
            </a:r>
            <a:r>
              <a:rPr dirty="0" sz="2500" spc="55">
                <a:latin typeface="Arial"/>
                <a:cs typeface="Arial"/>
              </a:rPr>
              <a:t> </a:t>
            </a:r>
            <a:r>
              <a:rPr dirty="0" sz="2500" spc="-215">
                <a:latin typeface="Arial"/>
                <a:cs typeface="Arial"/>
              </a:rPr>
              <a:t>trends</a:t>
            </a:r>
            <a:r>
              <a:rPr dirty="0" sz="2500" spc="-60">
                <a:latin typeface="Arial"/>
                <a:cs typeface="Arial"/>
              </a:rPr>
              <a:t> </a:t>
            </a:r>
            <a:r>
              <a:rPr dirty="0" sz="2500" spc="-20">
                <a:latin typeface="Arial"/>
                <a:cs typeface="Arial"/>
              </a:rPr>
              <a:t>into </a:t>
            </a:r>
            <a:r>
              <a:rPr dirty="0" sz="2550" spc="-275">
                <a:latin typeface="Arial"/>
                <a:cs typeface="Arial"/>
              </a:rPr>
              <a:t>automated</a:t>
            </a:r>
            <a:r>
              <a:rPr dirty="0" sz="2550" spc="45">
                <a:latin typeface="Arial"/>
                <a:cs typeface="Arial"/>
              </a:rPr>
              <a:t> </a:t>
            </a:r>
            <a:r>
              <a:rPr dirty="0" sz="2550" spc="-65">
                <a:latin typeface="Arial"/>
                <a:cs typeface="Arial"/>
              </a:rPr>
              <a:t>tasks.</a:t>
            </a:r>
            <a:endParaRPr sz="25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228167" y="7366685"/>
            <a:ext cx="4564380" cy="171577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3050" spc="-155">
                <a:latin typeface="Arial"/>
                <a:cs typeface="Arial"/>
              </a:rPr>
              <a:t>Shared</a:t>
            </a:r>
            <a:r>
              <a:rPr dirty="0" sz="3050" spc="-185">
                <a:latin typeface="Arial"/>
                <a:cs typeface="Arial"/>
              </a:rPr>
              <a:t> </a:t>
            </a:r>
            <a:r>
              <a:rPr dirty="0" sz="3050" spc="-10">
                <a:latin typeface="Arial"/>
                <a:cs typeface="Arial"/>
              </a:rPr>
              <a:t>Learning</a:t>
            </a:r>
            <a:endParaRPr sz="3050">
              <a:latin typeface="Arial"/>
              <a:cs typeface="Arial"/>
            </a:endParaRPr>
          </a:p>
          <a:p>
            <a:pPr marL="19685" marR="5080" indent="-6350">
              <a:lnSpc>
                <a:spcPct val="93900"/>
              </a:lnSpc>
              <a:spcBef>
                <a:spcPts val="715"/>
              </a:spcBef>
            </a:pPr>
            <a:r>
              <a:rPr dirty="0" sz="2400" spc="-275">
                <a:latin typeface="Arial"/>
                <a:cs typeface="Arial"/>
              </a:rPr>
              <a:t>Gain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spc="-204">
                <a:latin typeface="Arial"/>
                <a:cs typeface="Arial"/>
              </a:rPr>
              <a:t>ideas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 spc="-160">
                <a:latin typeface="Arial"/>
                <a:cs typeface="Arial"/>
              </a:rPr>
              <a:t>from</a:t>
            </a:r>
            <a:r>
              <a:rPr dirty="0" sz="2400" spc="20">
                <a:latin typeface="Arial"/>
                <a:cs typeface="Arial"/>
              </a:rPr>
              <a:t> </a:t>
            </a:r>
            <a:r>
              <a:rPr dirty="0" sz="2400" spc="-229">
                <a:latin typeface="Arial"/>
                <a:cs typeface="Arial"/>
              </a:rPr>
              <a:t>shared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portfolios</a:t>
            </a:r>
            <a:r>
              <a:rPr dirty="0" sz="2400" spc="7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by </a:t>
            </a:r>
            <a:r>
              <a:rPr dirty="0" sz="2400" spc="-175">
                <a:latin typeface="Arial"/>
                <a:cs typeface="Arial"/>
              </a:rPr>
              <a:t>other</a:t>
            </a:r>
            <a:r>
              <a:rPr dirty="0" sz="2400" spc="15">
                <a:latin typeface="Arial"/>
                <a:cs typeface="Arial"/>
              </a:rPr>
              <a:t> </a:t>
            </a:r>
            <a:r>
              <a:rPr dirty="0" sz="2400" spc="-190">
                <a:latin typeface="Arial"/>
                <a:cs typeface="Arial"/>
              </a:rPr>
              <a:t>Sidekick</a:t>
            </a:r>
            <a:r>
              <a:rPr dirty="0" sz="2400" spc="145">
                <a:latin typeface="Arial"/>
                <a:cs typeface="Arial"/>
              </a:rPr>
              <a:t> </a:t>
            </a:r>
            <a:r>
              <a:rPr dirty="0" sz="2400" spc="-204">
                <a:latin typeface="Arial"/>
                <a:cs typeface="Arial"/>
              </a:rPr>
              <a:t>users,</a:t>
            </a:r>
            <a:r>
              <a:rPr dirty="0" sz="2400" spc="45">
                <a:latin typeface="Arial"/>
                <a:cs typeface="Arial"/>
              </a:rPr>
              <a:t> </a:t>
            </a:r>
            <a:r>
              <a:rPr dirty="0" sz="2400" spc="-200">
                <a:latin typeface="Arial"/>
                <a:cs typeface="Arial"/>
              </a:rPr>
              <a:t>sharing</a:t>
            </a:r>
            <a:r>
              <a:rPr dirty="0" sz="2400" spc="75">
                <a:latin typeface="Arial"/>
                <a:cs typeface="Arial"/>
              </a:rPr>
              <a:t> </a:t>
            </a:r>
            <a:r>
              <a:rPr dirty="0" sz="2400" spc="-195">
                <a:latin typeface="Arial"/>
                <a:cs typeface="Arial"/>
              </a:rPr>
              <a:t>only</a:t>
            </a:r>
            <a:r>
              <a:rPr dirty="0" sz="2400" spc="5">
                <a:latin typeface="Arial"/>
                <a:cs typeface="Arial"/>
              </a:rPr>
              <a:t> </a:t>
            </a:r>
            <a:r>
              <a:rPr dirty="0" sz="2400" spc="-130">
                <a:latin typeface="Arial"/>
                <a:cs typeface="Arial"/>
              </a:rPr>
              <a:t>what </a:t>
            </a:r>
            <a:r>
              <a:rPr dirty="0" sz="2550" spc="-320">
                <a:latin typeface="Arial"/>
                <a:cs typeface="Arial"/>
              </a:rPr>
              <a:t>you</a:t>
            </a:r>
            <a:r>
              <a:rPr dirty="0" sz="2550" spc="35">
                <a:latin typeface="Arial"/>
                <a:cs typeface="Arial"/>
              </a:rPr>
              <a:t> </a:t>
            </a:r>
            <a:r>
              <a:rPr dirty="0" sz="2550" spc="-290">
                <a:latin typeface="Arial"/>
                <a:cs typeface="Arial"/>
              </a:rPr>
              <a:t>want</a:t>
            </a:r>
            <a:r>
              <a:rPr dirty="0" sz="2550" spc="-15">
                <a:latin typeface="Arial"/>
                <a:cs typeface="Arial"/>
              </a:rPr>
              <a:t> </a:t>
            </a:r>
            <a:r>
              <a:rPr dirty="0" sz="2550" spc="-25">
                <a:latin typeface="Arial"/>
                <a:cs typeface="Arial"/>
              </a:rPr>
              <a:t>to.</a:t>
            </a:r>
            <a:endParaRPr sz="25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895960" y="3695276"/>
            <a:ext cx="4213860" cy="1763395"/>
          </a:xfrm>
          <a:prstGeom prst="rect">
            <a:avLst/>
          </a:prstGeom>
        </p:spPr>
        <p:txBody>
          <a:bodyPr wrap="square" lIns="0" tIns="171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2900" spc="-50">
                <a:latin typeface="Arial"/>
                <a:cs typeface="Arial"/>
              </a:rPr>
              <a:t>Simple</a:t>
            </a:r>
            <a:r>
              <a:rPr dirty="0" sz="2900" spc="-7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Portfolio</a:t>
            </a:r>
            <a:r>
              <a:rPr dirty="0" sz="2900" spc="-120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Uploads</a:t>
            </a:r>
            <a:endParaRPr sz="2900">
              <a:latin typeface="Arial"/>
              <a:cs typeface="Arial"/>
            </a:endParaRPr>
          </a:p>
          <a:p>
            <a:pPr marL="19685" marR="5080" indent="-3175">
              <a:lnSpc>
                <a:spcPct val="108100"/>
              </a:lnSpc>
              <a:spcBef>
                <a:spcPts val="725"/>
              </a:spcBef>
            </a:pPr>
            <a:r>
              <a:rPr dirty="0" sz="2050">
                <a:latin typeface="Arial"/>
                <a:cs typeface="Arial"/>
              </a:rPr>
              <a:t>Start</a:t>
            </a:r>
            <a:r>
              <a:rPr dirty="0" sz="2050" spc="-8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in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seconds</a:t>
            </a:r>
            <a:r>
              <a:rPr dirty="0" sz="2050" spc="10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by</a:t>
            </a:r>
            <a:r>
              <a:rPr dirty="0" sz="2050" spc="5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entering</a:t>
            </a:r>
            <a:r>
              <a:rPr dirty="0" sz="2050" spc="90">
                <a:latin typeface="Arial"/>
                <a:cs typeface="Arial"/>
              </a:rPr>
              <a:t> </a:t>
            </a:r>
            <a:r>
              <a:rPr dirty="0" sz="2050" spc="-10">
                <a:latin typeface="Arial"/>
                <a:cs typeface="Arial"/>
              </a:rPr>
              <a:t>tickers, </a:t>
            </a:r>
            <a:r>
              <a:rPr dirty="0" sz="2150" spc="-35">
                <a:latin typeface="Arial"/>
                <a:cs typeface="Arial"/>
              </a:rPr>
              <a:t>or</a:t>
            </a:r>
            <a:r>
              <a:rPr dirty="0" sz="2150" spc="-114">
                <a:latin typeface="Arial"/>
                <a:cs typeface="Arial"/>
              </a:rPr>
              <a:t> </a:t>
            </a:r>
            <a:r>
              <a:rPr dirty="0" sz="2150" spc="-35">
                <a:latin typeface="Arial"/>
                <a:cs typeface="Arial"/>
              </a:rPr>
              <a:t>upload</a:t>
            </a:r>
            <a:r>
              <a:rPr dirty="0" sz="2150" spc="-110">
                <a:latin typeface="Arial"/>
                <a:cs typeface="Arial"/>
              </a:rPr>
              <a:t> </a:t>
            </a:r>
            <a:r>
              <a:rPr dirty="0" sz="2150" spc="-185">
                <a:latin typeface="Arial"/>
                <a:cs typeface="Arial"/>
              </a:rPr>
              <a:t>a</a:t>
            </a:r>
            <a:r>
              <a:rPr dirty="0" sz="2150" spc="10">
                <a:latin typeface="Arial"/>
                <a:cs typeface="Arial"/>
              </a:rPr>
              <a:t> </a:t>
            </a:r>
            <a:r>
              <a:rPr dirty="0" sz="2150" spc="-60">
                <a:latin typeface="Arial"/>
                <a:cs typeface="Arial"/>
              </a:rPr>
              <a:t>brokerage</a:t>
            </a:r>
            <a:r>
              <a:rPr dirty="0" sz="2150" spc="15">
                <a:latin typeface="Arial"/>
                <a:cs typeface="Arial"/>
              </a:rPr>
              <a:t> </a:t>
            </a:r>
            <a:r>
              <a:rPr dirty="0" sz="2150" spc="-10">
                <a:latin typeface="Arial"/>
                <a:cs typeface="Arial"/>
              </a:rPr>
              <a:t>statement </a:t>
            </a:r>
            <a:r>
              <a:rPr dirty="0" sz="2150" spc="-180">
                <a:latin typeface="Arial"/>
                <a:cs typeface="Arial"/>
              </a:rPr>
              <a:t>(PDF</a:t>
            </a:r>
            <a:r>
              <a:rPr dirty="0" sz="2150" spc="30">
                <a:latin typeface="Arial"/>
                <a:cs typeface="Arial"/>
              </a:rPr>
              <a:t> </a:t>
            </a:r>
            <a:r>
              <a:rPr dirty="0" sz="2150">
                <a:latin typeface="Arial"/>
                <a:cs typeface="Arial"/>
              </a:rPr>
              <a:t>or</a:t>
            </a:r>
            <a:r>
              <a:rPr dirty="0" sz="2150" spc="-90">
                <a:latin typeface="Arial"/>
                <a:cs typeface="Arial"/>
              </a:rPr>
              <a:t> </a:t>
            </a:r>
            <a:r>
              <a:rPr dirty="0" sz="2150" spc="-10">
                <a:latin typeface="Arial"/>
                <a:cs typeface="Arial"/>
              </a:rPr>
              <a:t>screenshot).</a:t>
            </a:r>
            <a:endParaRPr sz="21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6114039" y="9422341"/>
            <a:ext cx="122364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>
                <a:latin typeface="Arial"/>
                <a:cs typeface="Arial"/>
              </a:rPr>
              <a:t>W</a:t>
            </a:r>
            <a:r>
              <a:rPr dirty="0" sz="1450" spc="135">
                <a:latin typeface="Arial"/>
                <a:cs typeface="Arial"/>
              </a:rPr>
              <a:t> </a:t>
            </a:r>
            <a:r>
              <a:rPr dirty="0" sz="1450" spc="-75">
                <a:latin typeface="Arial"/>
                <a:cs typeface="Arial"/>
              </a:rPr>
              <a:t>NotebaokLM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 descr=""/>
          <p:cNvSpPr txBox="1"/>
          <p:nvPr/>
        </p:nvSpPr>
        <p:spPr>
          <a:xfrm>
            <a:off x="16107384" y="9455853"/>
            <a:ext cx="1232535" cy="21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 sz="1300" spc="140">
                <a:latin typeface="Arial"/>
                <a:cs typeface="Arial"/>
              </a:rPr>
              <a:t>G</a:t>
            </a:r>
            <a:r>
              <a:rPr dirty="0" sz="1300" spc="34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485" rIns="0" bIns="0" rtlCol="0" vert="horz">
            <a:spAutoFit/>
          </a:bodyPr>
          <a:lstStyle/>
          <a:p>
            <a:pPr marL="1083310">
              <a:lnSpc>
                <a:spcPct val="100000"/>
              </a:lnSpc>
              <a:spcBef>
                <a:spcPts val="105"/>
              </a:spcBef>
            </a:pPr>
            <a:r>
              <a:rPr dirty="0" sz="5200">
                <a:solidFill>
                  <a:srgbClr val="131313"/>
                </a:solidFill>
              </a:rPr>
              <a:t>Choose</a:t>
            </a:r>
            <a:r>
              <a:rPr dirty="0" sz="5200" spc="20">
                <a:solidFill>
                  <a:srgbClr val="131313"/>
                </a:solidFill>
              </a:rPr>
              <a:t> </a:t>
            </a:r>
            <a:r>
              <a:rPr dirty="0" sz="5200" spc="145">
                <a:solidFill>
                  <a:srgbClr val="161616"/>
                </a:solidFill>
              </a:rPr>
              <a:t>the</a:t>
            </a:r>
            <a:r>
              <a:rPr dirty="0" sz="5200" spc="-190">
                <a:solidFill>
                  <a:srgbClr val="161616"/>
                </a:solidFill>
              </a:rPr>
              <a:t> </a:t>
            </a:r>
            <a:r>
              <a:rPr dirty="0" sz="5200">
                <a:solidFill>
                  <a:srgbClr val="151515"/>
                </a:solidFill>
              </a:rPr>
              <a:t>plan</a:t>
            </a:r>
            <a:r>
              <a:rPr dirty="0" sz="5200" spc="-200">
                <a:solidFill>
                  <a:srgbClr val="151515"/>
                </a:solidFill>
              </a:rPr>
              <a:t> </a:t>
            </a:r>
            <a:r>
              <a:rPr dirty="0" sz="5200" spc="100">
                <a:solidFill>
                  <a:srgbClr val="161616"/>
                </a:solidFill>
              </a:rPr>
              <a:t>that's</a:t>
            </a:r>
            <a:r>
              <a:rPr dirty="0" sz="5200" spc="-60">
                <a:solidFill>
                  <a:srgbClr val="161616"/>
                </a:solidFill>
              </a:rPr>
              <a:t> </a:t>
            </a:r>
            <a:r>
              <a:rPr dirty="0" sz="5200">
                <a:solidFill>
                  <a:srgbClr val="161616"/>
                </a:solidFill>
              </a:rPr>
              <a:t>right</a:t>
            </a:r>
            <a:r>
              <a:rPr dirty="0" sz="5200" spc="-150">
                <a:solidFill>
                  <a:srgbClr val="161616"/>
                </a:solidFill>
              </a:rPr>
              <a:t> </a:t>
            </a:r>
            <a:r>
              <a:rPr dirty="0" sz="5200">
                <a:solidFill>
                  <a:srgbClr val="1D1D1D"/>
                </a:solidFill>
              </a:rPr>
              <a:t>for</a:t>
            </a:r>
            <a:r>
              <a:rPr dirty="0" sz="5200" spc="-145">
                <a:solidFill>
                  <a:srgbClr val="1D1D1D"/>
                </a:solidFill>
              </a:rPr>
              <a:t> </a:t>
            </a:r>
            <a:r>
              <a:rPr dirty="0" sz="5200" spc="-20">
                <a:solidFill>
                  <a:srgbClr val="181818"/>
                </a:solidFill>
              </a:rPr>
              <a:t>you.</a:t>
            </a:r>
            <a:endParaRPr sz="5200"/>
          </a:p>
        </p:txBody>
      </p:sp>
      <p:sp>
        <p:nvSpPr>
          <p:cNvPr id="3" name="object 3" descr=""/>
          <p:cNvSpPr txBox="1"/>
          <p:nvPr/>
        </p:nvSpPr>
        <p:spPr>
          <a:xfrm>
            <a:off x="7549987" y="1978730"/>
            <a:ext cx="2362835" cy="417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dirty="0" baseline="26936" sz="2475" spc="-37">
                <a:latin typeface="Arial"/>
                <a:cs typeface="Arial"/>
              </a:rPr>
              <a:t>s</a:t>
            </a:r>
            <a:r>
              <a:rPr dirty="0" sz="2550" spc="-25">
                <a:latin typeface="Arial"/>
                <a:cs typeface="Arial"/>
              </a:rPr>
              <a:t>’1stmonth</a:t>
            </a:r>
            <a:r>
              <a:rPr dirty="0" sz="2550" spc="-125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free’*</a:t>
            </a:r>
            <a:endParaRPr sz="25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09820" y="2880932"/>
            <a:ext cx="4181475" cy="2684145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algn="ctr" marL="20320">
              <a:lnSpc>
                <a:spcPct val="100000"/>
              </a:lnSpc>
              <a:spcBef>
                <a:spcPts val="1065"/>
              </a:spcBef>
            </a:pPr>
            <a:r>
              <a:rPr dirty="0" sz="3750" spc="-10">
                <a:latin typeface="Cambria"/>
                <a:cs typeface="Cambria"/>
              </a:rPr>
              <a:t>Essential</a:t>
            </a:r>
            <a:endParaRPr sz="3750">
              <a:latin typeface="Cambria"/>
              <a:cs typeface="Cambria"/>
            </a:endParaRPr>
          </a:p>
          <a:p>
            <a:pPr algn="ctr" marL="24130">
              <a:lnSpc>
                <a:spcPct val="100000"/>
              </a:lnSpc>
              <a:spcBef>
                <a:spcPts val="1300"/>
              </a:spcBef>
            </a:pPr>
            <a:r>
              <a:rPr dirty="0" sz="4900" spc="-45">
                <a:latin typeface="Arial"/>
                <a:cs typeface="Arial"/>
              </a:rPr>
              <a:t>$10/month</a:t>
            </a:r>
            <a:endParaRPr sz="4900">
              <a:latin typeface="Arial"/>
              <a:cs typeface="Arial"/>
            </a:endParaRPr>
          </a:p>
          <a:p>
            <a:pPr algn="ctr" marR="7620">
              <a:lnSpc>
                <a:spcPts val="2995"/>
              </a:lnSpc>
              <a:spcBef>
                <a:spcPts val="2120"/>
              </a:spcBef>
            </a:pPr>
            <a:r>
              <a:rPr dirty="0" sz="2700" spc="-35">
                <a:latin typeface="Arial Narrow"/>
                <a:cs typeface="Arial Narrow"/>
              </a:rPr>
              <a:t>For</a:t>
            </a:r>
            <a:r>
              <a:rPr dirty="0" sz="2700" spc="-114">
                <a:latin typeface="Arial Narrow"/>
                <a:cs typeface="Arial Narrow"/>
              </a:rPr>
              <a:t> </a:t>
            </a:r>
            <a:r>
              <a:rPr dirty="0" sz="2700" spc="-45">
                <a:latin typeface="Arial Narrow"/>
                <a:cs typeface="Arial Narrow"/>
              </a:rPr>
              <a:t>personal</a:t>
            </a:r>
            <a:r>
              <a:rPr dirty="0" sz="2700" spc="-65">
                <a:latin typeface="Arial Narrow"/>
                <a:cs typeface="Arial Narrow"/>
              </a:rPr>
              <a:t> </a:t>
            </a:r>
            <a:r>
              <a:rPr dirty="0" sz="2700" spc="-25">
                <a:latin typeface="Arial Narrow"/>
                <a:cs typeface="Arial Narrow"/>
              </a:rPr>
              <a:t>investors</a:t>
            </a:r>
            <a:r>
              <a:rPr dirty="0" sz="2700" spc="-50">
                <a:latin typeface="Arial Narrow"/>
                <a:cs typeface="Arial Narrow"/>
              </a:rPr>
              <a:t> </a:t>
            </a:r>
            <a:r>
              <a:rPr dirty="0" sz="2700" spc="-35">
                <a:latin typeface="Arial Narrow"/>
                <a:cs typeface="Arial Narrow"/>
              </a:rPr>
              <a:t>checking</a:t>
            </a:r>
            <a:r>
              <a:rPr dirty="0" sz="2700" spc="-120">
                <a:latin typeface="Arial Narrow"/>
                <a:cs typeface="Arial Narrow"/>
              </a:rPr>
              <a:t> </a:t>
            </a:r>
            <a:r>
              <a:rPr dirty="0" sz="2700" spc="-25">
                <a:latin typeface="Arial Narrow"/>
                <a:cs typeface="Arial Narrow"/>
              </a:rPr>
              <a:t>in</a:t>
            </a:r>
            <a:endParaRPr sz="2700">
              <a:latin typeface="Arial Narrow"/>
              <a:cs typeface="Arial Narrow"/>
            </a:endParaRPr>
          </a:p>
          <a:p>
            <a:pPr algn="ctr" marL="13970">
              <a:lnSpc>
                <a:spcPts val="3175"/>
              </a:lnSpc>
            </a:pPr>
            <a:r>
              <a:rPr dirty="0" sz="2850" spc="-140">
                <a:latin typeface="Arial Narrow"/>
                <a:cs typeface="Arial Narrow"/>
              </a:rPr>
              <a:t>on</a:t>
            </a:r>
            <a:r>
              <a:rPr dirty="0" sz="2850" spc="-190">
                <a:latin typeface="Arial Narrow"/>
                <a:cs typeface="Arial Narrow"/>
              </a:rPr>
              <a:t> </a:t>
            </a:r>
            <a:r>
              <a:rPr dirty="0" sz="2850" spc="-55">
                <a:latin typeface="Arial Narrow"/>
                <a:cs typeface="Arial Narrow"/>
              </a:rPr>
              <a:t>their</a:t>
            </a:r>
            <a:r>
              <a:rPr dirty="0" sz="2850" spc="-110">
                <a:latin typeface="Arial Narrow"/>
                <a:cs typeface="Arial Narrow"/>
              </a:rPr>
              <a:t> </a:t>
            </a:r>
            <a:r>
              <a:rPr dirty="0" sz="2850" spc="-35">
                <a:latin typeface="Arial Narrow"/>
                <a:cs typeface="Arial Narrow"/>
              </a:rPr>
              <a:t>portfolio</a:t>
            </a:r>
            <a:r>
              <a:rPr dirty="0" sz="2850" spc="-15">
                <a:latin typeface="Arial Narrow"/>
                <a:cs typeface="Arial Narrow"/>
              </a:rPr>
              <a:t> </a:t>
            </a:r>
            <a:r>
              <a:rPr dirty="0" sz="2850" spc="-165">
                <a:latin typeface="Arial Narrow"/>
                <a:cs typeface="Arial Narrow"/>
              </a:rPr>
              <a:t>every</a:t>
            </a:r>
            <a:r>
              <a:rPr dirty="0" sz="2850">
                <a:latin typeface="Arial Narrow"/>
                <a:cs typeface="Arial Narrow"/>
              </a:rPr>
              <a:t> </a:t>
            </a:r>
            <a:r>
              <a:rPr dirty="0" sz="2850" spc="-80">
                <a:latin typeface="Arial Narrow"/>
                <a:cs typeface="Arial Narrow"/>
              </a:rPr>
              <a:t>few</a:t>
            </a:r>
            <a:r>
              <a:rPr dirty="0" sz="2850" spc="-65">
                <a:latin typeface="Arial Narrow"/>
                <a:cs typeface="Arial Narrow"/>
              </a:rPr>
              <a:t> </a:t>
            </a:r>
            <a:r>
              <a:rPr dirty="0" sz="2850" spc="-55">
                <a:latin typeface="Arial Narrow"/>
                <a:cs typeface="Arial Narrow"/>
              </a:rPr>
              <a:t>weeks.</a:t>
            </a:r>
            <a:endParaRPr sz="2850">
              <a:latin typeface="Arial Narrow"/>
              <a:cs typeface="Arial Narro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610330" y="2880932"/>
            <a:ext cx="4177029" cy="2684145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algn="ctr" marL="61594">
              <a:lnSpc>
                <a:spcPct val="100000"/>
              </a:lnSpc>
              <a:spcBef>
                <a:spcPts val="1065"/>
              </a:spcBef>
            </a:pPr>
            <a:r>
              <a:rPr dirty="0" sz="3750" spc="-25">
                <a:latin typeface="Cambria"/>
                <a:cs typeface="Cambria"/>
              </a:rPr>
              <a:t>Pro</a:t>
            </a:r>
            <a:endParaRPr sz="3750">
              <a:latin typeface="Cambria"/>
              <a:cs typeface="Cambria"/>
            </a:endParaRPr>
          </a:p>
          <a:p>
            <a:pPr algn="ctr" marL="27940">
              <a:lnSpc>
                <a:spcPct val="100000"/>
              </a:lnSpc>
              <a:spcBef>
                <a:spcPts val="1300"/>
              </a:spcBef>
            </a:pPr>
            <a:r>
              <a:rPr dirty="0" sz="4900" spc="-10">
                <a:latin typeface="Arial"/>
                <a:cs typeface="Arial"/>
              </a:rPr>
              <a:t>$50/month</a:t>
            </a:r>
            <a:endParaRPr sz="4900">
              <a:latin typeface="Arial"/>
              <a:cs typeface="Arial"/>
            </a:endParaRPr>
          </a:p>
          <a:p>
            <a:pPr marL="20320">
              <a:lnSpc>
                <a:spcPts val="2995"/>
              </a:lnSpc>
              <a:spcBef>
                <a:spcPts val="2120"/>
              </a:spcBef>
            </a:pPr>
            <a:r>
              <a:rPr dirty="0" sz="2700" spc="-85">
                <a:latin typeface="Arial Narrow"/>
                <a:cs typeface="Arial Narrow"/>
              </a:rPr>
              <a:t>For</a:t>
            </a:r>
            <a:r>
              <a:rPr dirty="0" sz="2700" spc="-70">
                <a:latin typeface="Arial Narrow"/>
                <a:cs typeface="Arial Narrow"/>
              </a:rPr>
              <a:t> </a:t>
            </a:r>
            <a:r>
              <a:rPr dirty="0" sz="2700" spc="-20">
                <a:latin typeface="Arial Narrow"/>
                <a:cs typeface="Arial Narrow"/>
              </a:rPr>
              <a:t>investors</a:t>
            </a:r>
            <a:r>
              <a:rPr dirty="0" sz="2700" spc="25">
                <a:latin typeface="Arial Narrow"/>
                <a:cs typeface="Arial Narrow"/>
              </a:rPr>
              <a:t> </a:t>
            </a:r>
            <a:r>
              <a:rPr dirty="0" sz="2700" spc="-25">
                <a:latin typeface="Arial Narrow"/>
                <a:cs typeface="Arial Narrow"/>
              </a:rPr>
              <a:t>wanting</a:t>
            </a:r>
            <a:r>
              <a:rPr dirty="0" sz="2700" spc="-130">
                <a:latin typeface="Arial Narrow"/>
                <a:cs typeface="Arial Narrow"/>
              </a:rPr>
              <a:t> </a:t>
            </a:r>
            <a:r>
              <a:rPr dirty="0" sz="2700" spc="-25">
                <a:latin typeface="Arial Narrow"/>
                <a:cs typeface="Arial Narrow"/>
              </a:rPr>
              <a:t>daily/weekly</a:t>
            </a:r>
            <a:endParaRPr sz="2700">
              <a:latin typeface="Arial Narrow"/>
              <a:cs typeface="Arial Narrow"/>
            </a:endParaRPr>
          </a:p>
          <a:p>
            <a:pPr marL="12700">
              <a:lnSpc>
                <a:spcPts val="3175"/>
              </a:lnSpc>
            </a:pPr>
            <a:r>
              <a:rPr dirty="0" sz="2850" spc="-50">
                <a:latin typeface="Arial Narrow"/>
                <a:cs typeface="Arial Narrow"/>
              </a:rPr>
              <a:t>insights</a:t>
            </a:r>
            <a:r>
              <a:rPr dirty="0" sz="2850" spc="-70">
                <a:latin typeface="Arial Narrow"/>
                <a:cs typeface="Arial Narrow"/>
              </a:rPr>
              <a:t> </a:t>
            </a:r>
            <a:r>
              <a:rPr dirty="0" sz="2850" spc="-165">
                <a:latin typeface="Arial Narrow"/>
                <a:cs typeface="Arial Narrow"/>
              </a:rPr>
              <a:t>and</a:t>
            </a:r>
            <a:r>
              <a:rPr dirty="0" sz="2850" spc="-10">
                <a:latin typeface="Arial Narrow"/>
                <a:cs typeface="Arial Narrow"/>
              </a:rPr>
              <a:t> </a:t>
            </a:r>
            <a:r>
              <a:rPr dirty="0" sz="2850" spc="-180">
                <a:latin typeface="Arial Narrow"/>
                <a:cs typeface="Arial Narrow"/>
              </a:rPr>
              <a:t>deep</a:t>
            </a:r>
            <a:r>
              <a:rPr dirty="0" sz="2850" spc="-100">
                <a:latin typeface="Arial Narrow"/>
                <a:cs typeface="Arial Narrow"/>
              </a:rPr>
              <a:t> </a:t>
            </a:r>
            <a:r>
              <a:rPr dirty="0" sz="2850" spc="-10">
                <a:latin typeface="Arial Narrow"/>
                <a:cs typeface="Arial Narrow"/>
              </a:rPr>
              <a:t>research.</a:t>
            </a:r>
            <a:endParaRPr sz="2850">
              <a:latin typeface="Arial Narrow"/>
              <a:cs typeface="Arial Narro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772965" y="6233230"/>
            <a:ext cx="3536315" cy="150749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7780" marR="5080" indent="-5715">
              <a:lnSpc>
                <a:spcPct val="96700"/>
              </a:lnSpc>
              <a:spcBef>
                <a:spcPts val="220"/>
              </a:spcBef>
            </a:pPr>
            <a:r>
              <a:rPr dirty="0" sz="2550" spc="-195">
                <a:latin typeface="Arial"/>
                <a:cs typeface="Arial"/>
              </a:rPr>
              <a:t>Includes</a:t>
            </a:r>
            <a:r>
              <a:rPr dirty="0" sz="2550" spc="-65">
                <a:latin typeface="Arial"/>
                <a:cs typeface="Arial"/>
              </a:rPr>
              <a:t> </a:t>
            </a:r>
            <a:r>
              <a:rPr dirty="0" sz="2550" spc="-180">
                <a:latin typeface="Arial"/>
                <a:cs typeface="Arial"/>
              </a:rPr>
              <a:t>multi-</a:t>
            </a:r>
            <a:r>
              <a:rPr dirty="0" sz="2550" spc="-190">
                <a:latin typeface="Arial"/>
                <a:cs typeface="Arial"/>
              </a:rPr>
              <a:t>asset</a:t>
            </a:r>
            <a:r>
              <a:rPr dirty="0" sz="2550" spc="95">
                <a:latin typeface="Arial"/>
                <a:cs typeface="Arial"/>
              </a:rPr>
              <a:t> </a:t>
            </a:r>
            <a:r>
              <a:rPr dirty="0" sz="2550" spc="-165">
                <a:latin typeface="Arial"/>
                <a:cs typeface="Arial"/>
              </a:rPr>
              <a:t>support, </a:t>
            </a:r>
            <a:r>
              <a:rPr dirty="0" sz="2500" spc="-150">
                <a:latin typeface="Arial"/>
                <a:cs typeface="Arial"/>
              </a:rPr>
              <a:t>unlimited</a:t>
            </a:r>
            <a:r>
              <a:rPr dirty="0" sz="2500" spc="5">
                <a:latin typeface="Arial"/>
                <a:cs typeface="Arial"/>
              </a:rPr>
              <a:t> </a:t>
            </a:r>
            <a:r>
              <a:rPr dirty="0" sz="2500" spc="-35">
                <a:latin typeface="Arial"/>
                <a:cs typeface="Arial"/>
              </a:rPr>
              <a:t>portfolios, </a:t>
            </a:r>
            <a:r>
              <a:rPr dirty="0" sz="2400" spc="-25">
                <a:latin typeface="Arial"/>
                <a:cs typeface="Arial"/>
              </a:rPr>
              <a:t>chat/talk/whatsapp, </a:t>
            </a:r>
            <a:r>
              <a:rPr dirty="0" sz="2500" spc="-185">
                <a:latin typeface="Arial"/>
                <a:cs typeface="Arial"/>
              </a:rPr>
              <a:t>statement</a:t>
            </a:r>
            <a:r>
              <a:rPr dirty="0" sz="2500" spc="65">
                <a:latin typeface="Arial"/>
                <a:cs typeface="Arial"/>
              </a:rPr>
              <a:t> </a:t>
            </a:r>
            <a:r>
              <a:rPr dirty="0" sz="2500" spc="-65">
                <a:latin typeface="Arial"/>
                <a:cs typeface="Arial"/>
              </a:rPr>
              <a:t>parser.</a:t>
            </a:r>
            <a:endParaRPr sz="25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076392" y="6206772"/>
            <a:ext cx="3389629" cy="153797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6510" marR="5080" indent="-4445">
              <a:lnSpc>
                <a:spcPct val="91000"/>
              </a:lnSpc>
              <a:spcBef>
                <a:spcPts val="425"/>
              </a:spcBef>
            </a:pPr>
            <a:r>
              <a:rPr dirty="0" sz="2750" spc="-70">
                <a:latin typeface="Arial Narrow"/>
                <a:cs typeface="Arial Narrow"/>
              </a:rPr>
              <a:t>Everything</a:t>
            </a:r>
            <a:r>
              <a:rPr dirty="0" sz="2750" spc="-30">
                <a:latin typeface="Arial Narrow"/>
                <a:cs typeface="Arial Narrow"/>
              </a:rPr>
              <a:t> </a:t>
            </a:r>
            <a:r>
              <a:rPr dirty="0" sz="2750">
                <a:latin typeface="Arial Narrow"/>
                <a:cs typeface="Arial Narrow"/>
              </a:rPr>
              <a:t>in</a:t>
            </a:r>
            <a:r>
              <a:rPr dirty="0" sz="2750" spc="-155">
                <a:latin typeface="Arial Narrow"/>
                <a:cs typeface="Arial Narrow"/>
              </a:rPr>
              <a:t> </a:t>
            </a:r>
            <a:r>
              <a:rPr dirty="0" sz="2750" spc="-75">
                <a:latin typeface="Arial Narrow"/>
                <a:cs typeface="Arial Narrow"/>
              </a:rPr>
              <a:t>Essential,</a:t>
            </a:r>
            <a:r>
              <a:rPr dirty="0" sz="2750" spc="-80">
                <a:latin typeface="Arial Narrow"/>
                <a:cs typeface="Arial Narrow"/>
              </a:rPr>
              <a:t> </a:t>
            </a:r>
            <a:r>
              <a:rPr dirty="0" sz="2750" spc="-20">
                <a:latin typeface="Arial Narrow"/>
                <a:cs typeface="Arial Narrow"/>
              </a:rPr>
              <a:t>plus </a:t>
            </a:r>
            <a:r>
              <a:rPr dirty="0" sz="2700" spc="-30">
                <a:latin typeface="Arial Narrow"/>
                <a:cs typeface="Arial Narrow"/>
              </a:rPr>
              <a:t>more</a:t>
            </a:r>
            <a:r>
              <a:rPr dirty="0" sz="2700" spc="-125">
                <a:latin typeface="Arial Narrow"/>
                <a:cs typeface="Arial Narrow"/>
              </a:rPr>
              <a:t> </a:t>
            </a:r>
            <a:r>
              <a:rPr dirty="0" sz="2700" spc="-65">
                <a:latin typeface="Arial Narrow"/>
                <a:cs typeface="Arial Narrow"/>
              </a:rPr>
              <a:t>usage</a:t>
            </a:r>
            <a:r>
              <a:rPr dirty="0" sz="2700" spc="-90">
                <a:latin typeface="Arial Narrow"/>
                <a:cs typeface="Arial Narrow"/>
              </a:rPr>
              <a:t> </a:t>
            </a:r>
            <a:r>
              <a:rPr dirty="0" sz="2700" spc="-60">
                <a:latin typeface="Arial Narrow"/>
                <a:cs typeface="Arial Narrow"/>
              </a:rPr>
              <a:t>and</a:t>
            </a:r>
            <a:r>
              <a:rPr dirty="0" sz="2700" spc="-90">
                <a:latin typeface="Arial Narrow"/>
                <a:cs typeface="Arial Narrow"/>
              </a:rPr>
              <a:t> </a:t>
            </a:r>
            <a:r>
              <a:rPr dirty="0" sz="2700" spc="-50">
                <a:latin typeface="Arial Narrow"/>
                <a:cs typeface="Arial Narrow"/>
              </a:rPr>
              <a:t>access</a:t>
            </a:r>
            <a:r>
              <a:rPr dirty="0" sz="2700" spc="-60">
                <a:latin typeface="Arial Narrow"/>
                <a:cs typeface="Arial Narrow"/>
              </a:rPr>
              <a:t> </a:t>
            </a:r>
            <a:r>
              <a:rPr dirty="0" sz="2700" spc="-25">
                <a:latin typeface="Arial Narrow"/>
                <a:cs typeface="Arial Narrow"/>
              </a:rPr>
              <a:t>to </a:t>
            </a:r>
            <a:r>
              <a:rPr dirty="0" sz="2550">
                <a:latin typeface="Arial Narrow"/>
                <a:cs typeface="Arial Narrow"/>
              </a:rPr>
              <a:t>specialized</a:t>
            </a:r>
            <a:r>
              <a:rPr dirty="0" sz="2550" spc="80">
                <a:latin typeface="Arial Narrow"/>
                <a:cs typeface="Arial Narrow"/>
              </a:rPr>
              <a:t> </a:t>
            </a:r>
            <a:r>
              <a:rPr dirty="0" sz="2550">
                <a:latin typeface="Arial Narrow"/>
                <a:cs typeface="Arial Narrow"/>
              </a:rPr>
              <a:t>analyses</a:t>
            </a:r>
            <a:r>
              <a:rPr dirty="0" sz="2550" spc="60">
                <a:latin typeface="Arial Narrow"/>
                <a:cs typeface="Arial Narrow"/>
              </a:rPr>
              <a:t> </a:t>
            </a:r>
            <a:r>
              <a:rPr dirty="0" sz="2550" spc="-10">
                <a:latin typeface="Arial Narrow"/>
                <a:cs typeface="Arial Narrow"/>
              </a:rPr>
              <a:t>(e.g., </a:t>
            </a:r>
            <a:r>
              <a:rPr dirty="0" sz="2600" spc="-10">
                <a:latin typeface="Arial Narrow"/>
                <a:cs typeface="Arial Narrow"/>
              </a:rPr>
              <a:t>over-</a:t>
            </a:r>
            <a:r>
              <a:rPr dirty="0" sz="2600">
                <a:latin typeface="Arial Narrow"/>
                <a:cs typeface="Arial Narrow"/>
              </a:rPr>
              <a:t>concentration</a:t>
            </a:r>
            <a:r>
              <a:rPr dirty="0" sz="2600" spc="15">
                <a:latin typeface="Arial Narrow"/>
                <a:cs typeface="Arial Narrow"/>
              </a:rPr>
              <a:t> </a:t>
            </a:r>
            <a:r>
              <a:rPr dirty="0" sz="2600" spc="-10">
                <a:latin typeface="Arial Narrow"/>
                <a:cs typeface="Arial Narrow"/>
              </a:rPr>
              <a:t>checks).</a:t>
            </a:r>
            <a:endParaRPr sz="2600">
              <a:latin typeface="Arial Narrow"/>
              <a:cs typeface="Arial Narro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911231" y="2861534"/>
            <a:ext cx="3679190" cy="2698750"/>
          </a:xfrm>
          <a:prstGeom prst="rect">
            <a:avLst/>
          </a:prstGeom>
        </p:spPr>
        <p:txBody>
          <a:bodyPr wrap="square" lIns="0" tIns="141605" rIns="0" bIns="0" rtlCol="0" vert="horz">
            <a:spAutoFit/>
          </a:bodyPr>
          <a:lstStyle/>
          <a:p>
            <a:pPr algn="ctr" marL="534670">
              <a:lnSpc>
                <a:spcPct val="100000"/>
              </a:lnSpc>
              <a:spcBef>
                <a:spcPts val="1115"/>
              </a:spcBef>
            </a:pPr>
            <a:r>
              <a:rPr dirty="0" sz="3850" spc="-10">
                <a:latin typeface="Times New Roman"/>
                <a:cs typeface="Times New Roman"/>
              </a:rPr>
              <a:t>Advisors</a:t>
            </a:r>
            <a:endParaRPr sz="3850">
              <a:latin typeface="Times New Roman"/>
              <a:cs typeface="Times New Roman"/>
            </a:endParaRPr>
          </a:p>
          <a:p>
            <a:pPr algn="ctr" marL="512445">
              <a:lnSpc>
                <a:spcPct val="100000"/>
              </a:lnSpc>
              <a:spcBef>
                <a:spcPts val="1280"/>
              </a:spcBef>
            </a:pPr>
            <a:r>
              <a:rPr dirty="0" sz="4900" spc="-110">
                <a:latin typeface="Arial"/>
                <a:cs typeface="Arial"/>
              </a:rPr>
              <a:t>$275/month</a:t>
            </a:r>
            <a:endParaRPr sz="4900">
              <a:latin typeface="Arial"/>
              <a:cs typeface="Arial"/>
            </a:endParaRPr>
          </a:p>
          <a:p>
            <a:pPr marL="12700">
              <a:lnSpc>
                <a:spcPts val="2955"/>
              </a:lnSpc>
              <a:spcBef>
                <a:spcPts val="2270"/>
              </a:spcBef>
            </a:pPr>
            <a:r>
              <a:rPr dirty="0" sz="2550" spc="-254">
                <a:latin typeface="Arial"/>
                <a:cs typeface="Arial"/>
              </a:rPr>
              <a:t>For</a:t>
            </a:r>
            <a:r>
              <a:rPr dirty="0" sz="2550" spc="-75">
                <a:latin typeface="Arial"/>
                <a:cs typeface="Arial"/>
              </a:rPr>
              <a:t> </a:t>
            </a:r>
            <a:r>
              <a:rPr dirty="0" sz="2550" spc="-200">
                <a:latin typeface="Arial"/>
                <a:cs typeface="Arial"/>
              </a:rPr>
              <a:t>advisors</a:t>
            </a:r>
            <a:r>
              <a:rPr dirty="0" sz="2550" spc="110">
                <a:latin typeface="Arial"/>
                <a:cs typeface="Arial"/>
              </a:rPr>
              <a:t> </a:t>
            </a:r>
            <a:r>
              <a:rPr dirty="0" sz="2550" spc="-204">
                <a:latin typeface="Arial"/>
                <a:cs typeface="Arial"/>
              </a:rPr>
              <a:t>scaling</a:t>
            </a:r>
            <a:r>
              <a:rPr dirty="0" sz="2550" spc="-120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their</a:t>
            </a:r>
            <a:endParaRPr sz="2550">
              <a:latin typeface="Arial"/>
              <a:cs typeface="Arial"/>
            </a:endParaRPr>
          </a:p>
          <a:p>
            <a:pPr marL="13970">
              <a:lnSpc>
                <a:spcPts val="3015"/>
              </a:lnSpc>
            </a:pPr>
            <a:r>
              <a:rPr dirty="0" sz="2600" spc="-120">
                <a:latin typeface="Arial"/>
                <a:cs typeface="Arial"/>
              </a:rPr>
              <a:t>expertise.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376763" y="6233230"/>
            <a:ext cx="3425190" cy="113601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 indent="15875">
              <a:lnSpc>
                <a:spcPct val="96300"/>
              </a:lnSpc>
              <a:spcBef>
                <a:spcPts val="229"/>
              </a:spcBef>
            </a:pPr>
            <a:r>
              <a:rPr dirty="0" sz="2550" spc="-235">
                <a:latin typeface="Arial"/>
                <a:cs typeface="Arial"/>
              </a:rPr>
              <a:t>Supports</a:t>
            </a:r>
            <a:r>
              <a:rPr dirty="0" sz="2550" spc="10">
                <a:latin typeface="Arial"/>
                <a:cs typeface="Arial"/>
              </a:rPr>
              <a:t> </a:t>
            </a:r>
            <a:r>
              <a:rPr dirty="0" sz="2550" spc="-165">
                <a:latin typeface="Arial"/>
                <a:cs typeface="Arial"/>
              </a:rPr>
              <a:t>multiple</a:t>
            </a:r>
            <a:r>
              <a:rPr dirty="0" sz="2550" spc="40">
                <a:latin typeface="Arial"/>
                <a:cs typeface="Arial"/>
              </a:rPr>
              <a:t> </a:t>
            </a:r>
            <a:r>
              <a:rPr dirty="0" sz="2550" spc="-25">
                <a:latin typeface="Arial"/>
                <a:cs typeface="Arial"/>
              </a:rPr>
              <a:t>clients, </a:t>
            </a:r>
            <a:r>
              <a:rPr dirty="0" sz="2550" spc="-220">
                <a:latin typeface="Arial"/>
                <a:cs typeface="Arial"/>
              </a:rPr>
              <a:t>team</a:t>
            </a:r>
            <a:r>
              <a:rPr dirty="0" sz="2550" spc="-70">
                <a:latin typeface="Arial"/>
                <a:cs typeface="Arial"/>
              </a:rPr>
              <a:t> </a:t>
            </a:r>
            <a:r>
              <a:rPr dirty="0" sz="2550" spc="-215">
                <a:latin typeface="Arial"/>
                <a:cs typeface="Arial"/>
              </a:rPr>
              <a:t>plans</a:t>
            </a:r>
            <a:r>
              <a:rPr dirty="0" sz="2550" spc="-90">
                <a:latin typeface="Arial"/>
                <a:cs typeface="Arial"/>
              </a:rPr>
              <a:t> </a:t>
            </a:r>
            <a:r>
              <a:rPr dirty="0" sz="2550" spc="-245">
                <a:latin typeface="Arial"/>
                <a:cs typeface="Arial"/>
              </a:rPr>
              <a:t>up</a:t>
            </a:r>
            <a:r>
              <a:rPr dirty="0" sz="2550" spc="-150">
                <a:latin typeface="Arial"/>
                <a:cs typeface="Arial"/>
              </a:rPr>
              <a:t> </a:t>
            </a:r>
            <a:r>
              <a:rPr dirty="0" sz="2550" spc="-80">
                <a:latin typeface="Arial"/>
                <a:cs typeface="Arial"/>
              </a:rPr>
              <a:t>to</a:t>
            </a:r>
            <a:r>
              <a:rPr dirty="0" sz="2550" spc="-150">
                <a:latin typeface="Arial"/>
                <a:cs typeface="Arial"/>
              </a:rPr>
              <a:t> </a:t>
            </a:r>
            <a:r>
              <a:rPr dirty="0" sz="2550" spc="-285">
                <a:latin typeface="Arial"/>
                <a:cs typeface="Arial"/>
              </a:rPr>
              <a:t>5</a:t>
            </a:r>
            <a:r>
              <a:rPr dirty="0" sz="2550" spc="-120">
                <a:latin typeface="Arial"/>
                <a:cs typeface="Arial"/>
              </a:rPr>
              <a:t> </a:t>
            </a:r>
            <a:r>
              <a:rPr dirty="0" sz="2550" spc="-190">
                <a:latin typeface="Arial"/>
                <a:cs typeface="Arial"/>
              </a:rPr>
              <a:t>advisors, </a:t>
            </a:r>
            <a:r>
              <a:rPr dirty="0" sz="2350" spc="-65">
                <a:latin typeface="Arial"/>
                <a:cs typeface="Arial"/>
              </a:rPr>
              <a:t>train</a:t>
            </a:r>
            <a:r>
              <a:rPr dirty="0" sz="2350" spc="-100">
                <a:latin typeface="Arial"/>
                <a:cs typeface="Arial"/>
              </a:rPr>
              <a:t> </a:t>
            </a:r>
            <a:r>
              <a:rPr dirty="0" sz="2350" spc="-140">
                <a:latin typeface="Arial"/>
                <a:cs typeface="Arial"/>
              </a:rPr>
              <a:t>on</a:t>
            </a:r>
            <a:r>
              <a:rPr dirty="0" sz="2350" spc="-95">
                <a:latin typeface="Arial"/>
                <a:cs typeface="Arial"/>
              </a:rPr>
              <a:t> </a:t>
            </a:r>
            <a:r>
              <a:rPr dirty="0" sz="2350" spc="-90">
                <a:latin typeface="Arial"/>
                <a:cs typeface="Arial"/>
              </a:rPr>
              <a:t>proprietary</a:t>
            </a:r>
            <a:r>
              <a:rPr dirty="0" sz="2350" spc="-40">
                <a:latin typeface="Arial"/>
                <a:cs typeface="Arial"/>
              </a:rPr>
              <a:t> </a:t>
            </a:r>
            <a:r>
              <a:rPr dirty="0" sz="2350" spc="-10">
                <a:latin typeface="Arial"/>
                <a:cs typeface="Arial"/>
              </a:rPr>
              <a:t>data.</a:t>
            </a:r>
            <a:endParaRPr sz="23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014263" y="8977489"/>
            <a:ext cx="1873885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170">
                <a:latin typeface="Arial"/>
                <a:cs typeface="Arial"/>
              </a:rPr>
              <a:t>Cancel</a:t>
            </a:r>
            <a:r>
              <a:rPr dirty="0" sz="2350" spc="20">
                <a:latin typeface="Arial"/>
                <a:cs typeface="Arial"/>
              </a:rPr>
              <a:t> </a:t>
            </a:r>
            <a:r>
              <a:rPr dirty="0" sz="2350" spc="-100">
                <a:latin typeface="Arial"/>
                <a:cs typeface="Arial"/>
              </a:rPr>
              <a:t>anytime</a:t>
            </a:r>
            <a:endParaRPr sz="23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101858" y="8977489"/>
            <a:ext cx="1762125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175">
                <a:latin typeface="Arial"/>
                <a:cs typeface="Arial"/>
              </a:rPr>
              <a:t>No</a:t>
            </a:r>
            <a:r>
              <a:rPr dirty="0" sz="2350" spc="-25">
                <a:latin typeface="Arial"/>
                <a:cs typeface="Arial"/>
              </a:rPr>
              <a:t> </a:t>
            </a:r>
            <a:r>
              <a:rPr dirty="0" sz="2350" spc="-110">
                <a:latin typeface="Arial"/>
                <a:cs typeface="Arial"/>
              </a:rPr>
              <a:t>set</a:t>
            </a:r>
            <a:r>
              <a:rPr dirty="0" sz="2350" spc="-55">
                <a:latin typeface="Arial"/>
                <a:cs typeface="Arial"/>
              </a:rPr>
              <a:t> </a:t>
            </a:r>
            <a:r>
              <a:rPr dirty="0" sz="2350" spc="-140">
                <a:latin typeface="Arial"/>
                <a:cs typeface="Arial"/>
              </a:rPr>
              <a:t>up</a:t>
            </a:r>
            <a:r>
              <a:rPr dirty="0" sz="2350" spc="-80">
                <a:latin typeface="Arial"/>
                <a:cs typeface="Arial"/>
              </a:rPr>
              <a:t> </a:t>
            </a:r>
            <a:r>
              <a:rPr dirty="0" sz="2350" spc="-90">
                <a:latin typeface="Arial"/>
                <a:cs typeface="Arial"/>
              </a:rPr>
              <a:t>fees</a:t>
            </a:r>
            <a:endParaRPr sz="23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079728" y="8977489"/>
            <a:ext cx="3355975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170">
                <a:latin typeface="Arial"/>
                <a:cs typeface="Arial"/>
              </a:rPr>
              <a:t>Secure</a:t>
            </a:r>
            <a:r>
              <a:rPr dirty="0" sz="2350" spc="10">
                <a:latin typeface="Arial"/>
                <a:cs typeface="Arial"/>
              </a:rPr>
              <a:t> </a:t>
            </a:r>
            <a:r>
              <a:rPr dirty="0" sz="2350" spc="-130">
                <a:latin typeface="Arial"/>
                <a:cs typeface="Arial"/>
              </a:rPr>
              <a:t>payment</a:t>
            </a:r>
            <a:r>
              <a:rPr dirty="0" sz="2350" spc="-15">
                <a:latin typeface="Arial"/>
                <a:cs typeface="Arial"/>
              </a:rPr>
              <a:t> </a:t>
            </a:r>
            <a:r>
              <a:rPr dirty="0" sz="2350" spc="-105">
                <a:latin typeface="Arial"/>
                <a:cs typeface="Arial"/>
              </a:rPr>
              <a:t>processing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26900" y="3683000"/>
            <a:ext cx="2146300" cy="22860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47900" y="3733800"/>
            <a:ext cx="2146300" cy="17526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36900" y="1346200"/>
            <a:ext cx="1003300" cy="469900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5803900" y="304165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 h="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080500" y="5700183"/>
            <a:ext cx="372745" cy="0"/>
          </a:xfrm>
          <a:custGeom>
            <a:avLst/>
            <a:gdLst/>
            <a:ahLst/>
            <a:cxnLst/>
            <a:rect l="l" t="t" r="r" b="b"/>
            <a:pathLst>
              <a:path w="372745" h="0">
                <a:moveTo>
                  <a:pt x="0" y="0"/>
                </a:moveTo>
                <a:lnTo>
                  <a:pt x="372533" y="0"/>
                </a:lnTo>
              </a:path>
            </a:pathLst>
          </a:custGeom>
          <a:ln w="296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66214" y="831849"/>
            <a:ext cx="5447665" cy="4051300"/>
          </a:xfrm>
          <a:prstGeom prst="rect"/>
        </p:spPr>
        <p:txBody>
          <a:bodyPr wrap="square" lIns="0" tIns="191770" rIns="0" bIns="0" rtlCol="0" vert="horz">
            <a:spAutoFit/>
          </a:bodyPr>
          <a:lstStyle/>
          <a:p>
            <a:pPr marL="12700" marR="5080" indent="33655">
              <a:lnSpc>
                <a:spcPct val="84300"/>
              </a:lnSpc>
              <a:spcBef>
                <a:spcPts val="1510"/>
              </a:spcBef>
              <a:tabLst>
                <a:tab pos="3368040" algn="l"/>
              </a:tabLst>
            </a:pPr>
            <a:r>
              <a:rPr dirty="0" sz="7500" spc="-10">
                <a:solidFill>
                  <a:srgbClr val="2A2A2A"/>
                </a:solidFill>
              </a:rPr>
              <a:t>Built</a:t>
            </a:r>
            <a:r>
              <a:rPr dirty="0" sz="7500">
                <a:solidFill>
                  <a:srgbClr val="2A2A2A"/>
                </a:solidFill>
              </a:rPr>
              <a:t>	</a:t>
            </a:r>
            <a:r>
              <a:rPr dirty="0" sz="7500" spc="145">
                <a:solidFill>
                  <a:srgbClr val="2F2F2F"/>
                </a:solidFill>
              </a:rPr>
              <a:t>a </a:t>
            </a:r>
            <a:r>
              <a:rPr dirty="0" sz="7550" spc="160">
                <a:solidFill>
                  <a:srgbClr val="2A2A2A"/>
                </a:solidFill>
              </a:rPr>
              <a:t>foundation</a:t>
            </a:r>
            <a:r>
              <a:rPr dirty="0" sz="7550" spc="350">
                <a:solidFill>
                  <a:srgbClr val="2A2A2A"/>
                </a:solidFill>
              </a:rPr>
              <a:t> </a:t>
            </a:r>
            <a:r>
              <a:rPr dirty="0" sz="7550" spc="-100">
                <a:solidFill>
                  <a:srgbClr val="2D2D2D"/>
                </a:solidFill>
              </a:rPr>
              <a:t>of </a:t>
            </a:r>
            <a:r>
              <a:rPr dirty="0" sz="7400" spc="195">
                <a:solidFill>
                  <a:srgbClr val="282828"/>
                </a:solidFill>
              </a:rPr>
              <a:t>institutional </a:t>
            </a:r>
            <a:r>
              <a:rPr dirty="0" sz="7500" spc="265">
                <a:solidFill>
                  <a:srgbClr val="2D2D2D"/>
                </a:solidFill>
              </a:rPr>
              <a:t>trust.</a:t>
            </a:r>
            <a:endParaRPr sz="7500"/>
          </a:p>
        </p:txBody>
      </p:sp>
      <p:sp>
        <p:nvSpPr>
          <p:cNvPr id="12" name="object 12" descr=""/>
          <p:cNvSpPr txBox="1"/>
          <p:nvPr/>
        </p:nvSpPr>
        <p:spPr>
          <a:xfrm>
            <a:off x="16107384" y="9455853"/>
            <a:ext cx="1232535" cy="21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 sz="1300" spc="140">
                <a:latin typeface="Arial"/>
                <a:cs typeface="Arial"/>
              </a:rPr>
              <a:t>G</a:t>
            </a:r>
            <a:r>
              <a:rPr dirty="0" sz="1300" spc="34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84863" y="5164313"/>
            <a:ext cx="6252210" cy="217170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 indent="3810">
              <a:lnSpc>
                <a:spcPct val="108700"/>
              </a:lnSpc>
              <a:spcBef>
                <a:spcPts val="170"/>
              </a:spcBef>
            </a:pPr>
            <a:r>
              <a:rPr dirty="0" sz="2550" spc="-70">
                <a:latin typeface="Arial"/>
                <a:cs typeface="Arial"/>
              </a:rPr>
              <a:t>From</a:t>
            </a:r>
            <a:r>
              <a:rPr dirty="0" sz="2550" spc="-11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app</a:t>
            </a:r>
            <a:r>
              <a:rPr dirty="0" sz="2550" spc="-90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authentication</a:t>
            </a:r>
            <a:r>
              <a:rPr dirty="0" sz="2550" spc="-245">
                <a:latin typeface="Arial"/>
                <a:cs typeface="Arial"/>
              </a:rPr>
              <a:t> </a:t>
            </a:r>
            <a:r>
              <a:rPr dirty="0" sz="2550" spc="-45">
                <a:latin typeface="Arial"/>
                <a:cs typeface="Arial"/>
              </a:rPr>
              <a:t>and</a:t>
            </a:r>
            <a:r>
              <a:rPr dirty="0" sz="2550" spc="-135">
                <a:latin typeface="Arial"/>
                <a:cs typeface="Arial"/>
              </a:rPr>
              <a:t> </a:t>
            </a:r>
            <a:r>
              <a:rPr dirty="0" sz="2550" spc="-20">
                <a:latin typeface="Arial"/>
                <a:cs typeface="Arial"/>
              </a:rPr>
              <a:t>data</a:t>
            </a:r>
            <a:r>
              <a:rPr dirty="0" sz="2550" spc="-130">
                <a:latin typeface="Arial"/>
                <a:cs typeface="Arial"/>
              </a:rPr>
              <a:t> </a:t>
            </a:r>
            <a:r>
              <a:rPr dirty="0" sz="2550" spc="-30">
                <a:latin typeface="Arial"/>
                <a:cs typeface="Arial"/>
              </a:rPr>
              <a:t>encryption </a:t>
            </a:r>
            <a:r>
              <a:rPr dirty="0" sz="2550">
                <a:latin typeface="Arial"/>
                <a:cs typeface="Arial"/>
              </a:rPr>
              <a:t>to</a:t>
            </a:r>
            <a:r>
              <a:rPr dirty="0" sz="2550" spc="-180">
                <a:latin typeface="Arial"/>
                <a:cs typeface="Arial"/>
              </a:rPr>
              <a:t> </a:t>
            </a:r>
            <a:r>
              <a:rPr dirty="0" sz="2550" spc="-25">
                <a:latin typeface="Arial"/>
                <a:cs typeface="Arial"/>
              </a:rPr>
              <a:t>asset</a:t>
            </a:r>
            <a:r>
              <a:rPr dirty="0" sz="2550" spc="-130">
                <a:latin typeface="Arial"/>
                <a:cs typeface="Arial"/>
              </a:rPr>
              <a:t> </a:t>
            </a:r>
            <a:r>
              <a:rPr dirty="0" sz="2550" spc="-25">
                <a:latin typeface="Arial"/>
                <a:cs typeface="Arial"/>
              </a:rPr>
              <a:t>custody</a:t>
            </a:r>
            <a:r>
              <a:rPr dirty="0" sz="2550" spc="25">
                <a:latin typeface="Arial"/>
                <a:cs typeface="Arial"/>
              </a:rPr>
              <a:t> </a:t>
            </a:r>
            <a:r>
              <a:rPr dirty="0" sz="2550" spc="-85">
                <a:latin typeface="Arial"/>
                <a:cs typeface="Arial"/>
              </a:rPr>
              <a:t>and</a:t>
            </a:r>
            <a:r>
              <a:rPr dirty="0" sz="2550" spc="-95">
                <a:latin typeface="Arial"/>
                <a:cs typeface="Arial"/>
              </a:rPr>
              <a:t> </a:t>
            </a:r>
            <a:r>
              <a:rPr dirty="0" sz="2550" spc="-35">
                <a:latin typeface="Arial"/>
                <a:cs typeface="Arial"/>
              </a:rPr>
              <a:t>regulatory </a:t>
            </a:r>
            <a:r>
              <a:rPr dirty="0" sz="2550" spc="-10">
                <a:latin typeface="Arial"/>
                <a:cs typeface="Arial"/>
              </a:rPr>
              <a:t>oversight, </a:t>
            </a:r>
            <a:r>
              <a:rPr dirty="0" sz="2700" spc="-110">
                <a:latin typeface="Arial"/>
                <a:cs typeface="Arial"/>
              </a:rPr>
              <a:t>Arta</a:t>
            </a:r>
            <a:r>
              <a:rPr dirty="0" sz="2700" spc="-80">
                <a:latin typeface="Arial"/>
                <a:cs typeface="Arial"/>
              </a:rPr>
              <a:t> </a:t>
            </a:r>
            <a:r>
              <a:rPr dirty="0" sz="2700" spc="-85">
                <a:latin typeface="Arial"/>
                <a:cs typeface="Arial"/>
              </a:rPr>
              <a:t>unites</a:t>
            </a:r>
            <a:r>
              <a:rPr dirty="0" sz="2700" spc="-55">
                <a:latin typeface="Arial"/>
                <a:cs typeface="Arial"/>
              </a:rPr>
              <a:t> </a:t>
            </a:r>
            <a:r>
              <a:rPr dirty="0" sz="2700" spc="-204">
                <a:latin typeface="Arial"/>
                <a:cs typeface="Arial"/>
              </a:rPr>
              <a:t>deep</a:t>
            </a:r>
            <a:r>
              <a:rPr dirty="0" sz="2700" spc="-50">
                <a:latin typeface="Arial"/>
                <a:cs typeface="Arial"/>
              </a:rPr>
              <a:t> </a:t>
            </a:r>
            <a:r>
              <a:rPr dirty="0" sz="2700" spc="-85">
                <a:latin typeface="Arial"/>
                <a:cs typeface="Arial"/>
              </a:rPr>
              <a:t>tech</a:t>
            </a:r>
            <a:r>
              <a:rPr dirty="0" sz="2700" spc="-55">
                <a:latin typeface="Arial"/>
                <a:cs typeface="Arial"/>
              </a:rPr>
              <a:t> </a:t>
            </a:r>
            <a:r>
              <a:rPr dirty="0" sz="2700" spc="-190">
                <a:latin typeface="Arial"/>
                <a:cs typeface="Arial"/>
              </a:rPr>
              <a:t>and</a:t>
            </a:r>
            <a:r>
              <a:rPr dirty="0" sz="2700" spc="-110">
                <a:latin typeface="Arial"/>
                <a:cs typeface="Arial"/>
              </a:rPr>
              <a:t> </a:t>
            </a:r>
            <a:r>
              <a:rPr dirty="0" sz="2700" spc="-114">
                <a:latin typeface="Arial"/>
                <a:cs typeface="Arial"/>
              </a:rPr>
              <a:t>high</a:t>
            </a:r>
            <a:r>
              <a:rPr dirty="0" sz="2700" spc="-55">
                <a:latin typeface="Arial"/>
                <a:cs typeface="Arial"/>
              </a:rPr>
              <a:t> </a:t>
            </a:r>
            <a:r>
              <a:rPr dirty="0" sz="2700" spc="-130">
                <a:latin typeface="Arial"/>
                <a:cs typeface="Arial"/>
              </a:rPr>
              <a:t>finance</a:t>
            </a:r>
            <a:r>
              <a:rPr dirty="0" sz="2700" spc="-55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to </a:t>
            </a:r>
            <a:r>
              <a:rPr dirty="0" sz="2550" spc="-80">
                <a:latin typeface="Arial"/>
                <a:cs typeface="Arial"/>
              </a:rPr>
              <a:t>ensure</a:t>
            </a:r>
            <a:r>
              <a:rPr dirty="0" sz="2550" spc="-100">
                <a:latin typeface="Arial"/>
                <a:cs typeface="Arial"/>
              </a:rPr>
              <a:t> </a:t>
            </a:r>
            <a:r>
              <a:rPr dirty="0" sz="2550" spc="-40">
                <a:latin typeface="Arial"/>
                <a:cs typeface="Arial"/>
              </a:rPr>
              <a:t>security.</a:t>
            </a:r>
            <a:r>
              <a:rPr dirty="0" sz="2550" spc="-50">
                <a:latin typeface="Arial"/>
                <a:cs typeface="Arial"/>
              </a:rPr>
              <a:t> </a:t>
            </a:r>
            <a:r>
              <a:rPr dirty="0" sz="2550" spc="-125">
                <a:latin typeface="Arial"/>
                <a:cs typeface="Arial"/>
              </a:rPr>
              <a:t>Your</a:t>
            </a:r>
            <a:r>
              <a:rPr dirty="0" sz="2550" spc="-35">
                <a:latin typeface="Arial"/>
                <a:cs typeface="Arial"/>
              </a:rPr>
              <a:t> </a:t>
            </a:r>
            <a:r>
              <a:rPr dirty="0" sz="2550" spc="-70">
                <a:latin typeface="Arial"/>
                <a:cs typeface="Arial"/>
              </a:rPr>
              <a:t>wealth,</a:t>
            </a:r>
            <a:r>
              <a:rPr dirty="0" sz="2550" spc="-110">
                <a:latin typeface="Arial"/>
                <a:cs typeface="Arial"/>
              </a:rPr>
              <a:t> </a:t>
            </a:r>
            <a:r>
              <a:rPr dirty="0" sz="2550" spc="-20">
                <a:latin typeface="Arial"/>
                <a:cs typeface="Arial"/>
              </a:rPr>
              <a:t>and</a:t>
            </a:r>
            <a:r>
              <a:rPr dirty="0" sz="2550" spc="-90">
                <a:latin typeface="Arial"/>
                <a:cs typeface="Arial"/>
              </a:rPr>
              <a:t> </a:t>
            </a:r>
            <a:r>
              <a:rPr dirty="0" sz="2550" spc="-80">
                <a:latin typeface="Arial"/>
                <a:cs typeface="Arial"/>
              </a:rPr>
              <a:t>your</a:t>
            </a:r>
            <a:r>
              <a:rPr dirty="0" sz="2550" spc="-100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trust, </a:t>
            </a:r>
            <a:r>
              <a:rPr dirty="0" sz="2550" spc="-110">
                <a:latin typeface="Arial"/>
                <a:cs typeface="Arial"/>
              </a:rPr>
              <a:t>are</a:t>
            </a:r>
            <a:r>
              <a:rPr dirty="0" sz="2550" spc="-80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paramount.</a:t>
            </a:r>
            <a:endParaRPr sz="25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434461" y="7460191"/>
            <a:ext cx="148907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140">
                <a:latin typeface="Arial"/>
                <a:cs typeface="Arial"/>
              </a:rPr>
              <a:t>Regulation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532149" y="7453841"/>
            <a:ext cx="111887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145">
                <a:latin typeface="Arial"/>
                <a:cs typeface="Arial"/>
              </a:rPr>
              <a:t>Security</a:t>
            </a:r>
            <a:endParaRPr sz="27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5206026" y="7462660"/>
            <a:ext cx="1613535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 spc="120">
                <a:latin typeface="Arial Narrow"/>
                <a:cs typeface="Arial Narrow"/>
              </a:rPr>
              <a:t>Partnership</a:t>
            </a:r>
            <a:endParaRPr sz="26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62700" y="7131050"/>
            <a:ext cx="939800" cy="28575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4100" y="3517900"/>
            <a:ext cx="1638300" cy="4064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72100" y="7791450"/>
            <a:ext cx="292100" cy="27305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240000" y="7124700"/>
            <a:ext cx="914400" cy="65405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96100" y="4038600"/>
            <a:ext cx="2032000" cy="177800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12649200" y="3568700"/>
            <a:ext cx="1333500" cy="571500"/>
            <a:chOff x="12649200" y="3568700"/>
            <a:chExt cx="1333500" cy="571500"/>
          </a:xfrm>
        </p:grpSpPr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119100" y="3594100"/>
              <a:ext cx="863600" cy="34290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49200" y="3568700"/>
              <a:ext cx="622300" cy="17780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373100" y="3886200"/>
              <a:ext cx="12700" cy="254000"/>
            </a:xfrm>
            <a:prstGeom prst="rect">
              <a:avLst/>
            </a:prstGeom>
          </p:spPr>
        </p:pic>
      </p:grpSp>
      <p:pic>
        <p:nvPicPr>
          <p:cNvPr id="11" name="object 1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16000" y="4051300"/>
            <a:ext cx="1676400" cy="24765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649200" y="3949700"/>
            <a:ext cx="609600" cy="27940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2658" rIns="0" bIns="0" rtlCol="0" vert="horz">
            <a:spAutoFit/>
          </a:bodyPr>
          <a:lstStyle/>
          <a:p>
            <a:pPr marL="944244">
              <a:lnSpc>
                <a:spcPct val="100000"/>
              </a:lnSpc>
              <a:spcBef>
                <a:spcPts val="100"/>
              </a:spcBef>
            </a:pPr>
            <a:r>
              <a:rPr dirty="0" spc="105">
                <a:solidFill>
                  <a:srgbClr val="262626"/>
                </a:solidFill>
              </a:rPr>
              <a:t>Regulated,</a:t>
            </a:r>
            <a:r>
              <a:rPr dirty="0" spc="245">
                <a:solidFill>
                  <a:srgbClr val="262626"/>
                </a:solidFill>
              </a:rPr>
              <a:t> </a:t>
            </a:r>
            <a:r>
              <a:rPr dirty="0" spc="90"/>
              <a:t>Recognized,</a:t>
            </a:r>
            <a:r>
              <a:rPr dirty="0" spc="275"/>
              <a:t> </a:t>
            </a:r>
            <a:r>
              <a:rPr dirty="0" spc="215">
                <a:solidFill>
                  <a:srgbClr val="2A2A2A"/>
                </a:solidFill>
              </a:rPr>
              <a:t>and</a:t>
            </a:r>
            <a:r>
              <a:rPr dirty="0" spc="-20">
                <a:solidFill>
                  <a:srgbClr val="2A2A2A"/>
                </a:solidFill>
              </a:rPr>
              <a:t> </a:t>
            </a:r>
            <a:r>
              <a:rPr dirty="0" spc="114"/>
              <a:t>Secure.</a:t>
            </a:r>
          </a:p>
        </p:txBody>
      </p:sp>
      <p:sp>
        <p:nvSpPr>
          <p:cNvPr id="23" name="object 23" descr=""/>
          <p:cNvSpPr txBox="1"/>
          <p:nvPr/>
        </p:nvSpPr>
        <p:spPr>
          <a:xfrm>
            <a:off x="16107384" y="9455853"/>
            <a:ext cx="1232535" cy="21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 sz="1300" spc="140">
                <a:latin typeface="Arial"/>
                <a:cs typeface="Arial"/>
              </a:rPr>
              <a:t>G</a:t>
            </a:r>
            <a:r>
              <a:rPr dirty="0" sz="1300" spc="34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79597" y="2319513"/>
            <a:ext cx="2985135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 spc="-125">
                <a:latin typeface="Times New Roman"/>
                <a:cs typeface="Times New Roman"/>
              </a:rPr>
              <a:t>Security</a:t>
            </a:r>
            <a:r>
              <a:rPr dirty="0" sz="2950">
                <a:latin typeface="Times New Roman"/>
                <a:cs typeface="Times New Roman"/>
              </a:rPr>
              <a:t> </a:t>
            </a:r>
            <a:r>
              <a:rPr dirty="0" sz="2950" spc="-830">
                <a:latin typeface="Times New Roman"/>
                <a:cs typeface="Times New Roman"/>
              </a:rPr>
              <a:t>&amp;</a:t>
            </a:r>
            <a:r>
              <a:rPr dirty="0" sz="2950" spc="130">
                <a:latin typeface="Times New Roman"/>
                <a:cs typeface="Times New Roman"/>
              </a:rPr>
              <a:t> </a:t>
            </a:r>
            <a:r>
              <a:rPr dirty="0" sz="2950" spc="-160">
                <a:latin typeface="Times New Roman"/>
                <a:cs typeface="Times New Roman"/>
              </a:rPr>
              <a:t>Regulation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041999" y="3242733"/>
            <a:ext cx="3081655" cy="12338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6510">
              <a:lnSpc>
                <a:spcPts val="3165"/>
              </a:lnSpc>
              <a:spcBef>
                <a:spcPts val="114"/>
              </a:spcBef>
            </a:pPr>
            <a:r>
              <a:rPr dirty="0" sz="2900" spc="-10">
                <a:latin typeface="Arial Narrow"/>
                <a:cs typeface="Arial Narrow"/>
              </a:rPr>
              <a:t>Capital</a:t>
            </a:r>
            <a:r>
              <a:rPr dirty="0" sz="2900" spc="-130">
                <a:latin typeface="Arial Narrow"/>
                <a:cs typeface="Arial Narrow"/>
              </a:rPr>
              <a:t> </a:t>
            </a:r>
            <a:r>
              <a:rPr dirty="0" sz="2900" spc="-10">
                <a:latin typeface="Arial Narrow"/>
                <a:cs typeface="Arial Narrow"/>
              </a:rPr>
              <a:t>Markets</a:t>
            </a:r>
            <a:endParaRPr sz="2900">
              <a:latin typeface="Arial Narrow"/>
              <a:cs typeface="Arial Narrow"/>
            </a:endParaRPr>
          </a:p>
          <a:p>
            <a:pPr marL="16510">
              <a:lnSpc>
                <a:spcPts val="3065"/>
              </a:lnSpc>
            </a:pPr>
            <a:r>
              <a:rPr dirty="0" sz="3050" spc="-105">
                <a:latin typeface="Arial Narrow"/>
                <a:cs typeface="Arial Narrow"/>
              </a:rPr>
              <a:t>Services</a:t>
            </a:r>
            <a:r>
              <a:rPr dirty="0" sz="3050" spc="-40">
                <a:latin typeface="Arial Narrow"/>
                <a:cs typeface="Arial Narrow"/>
              </a:rPr>
              <a:t> </a:t>
            </a:r>
            <a:r>
              <a:rPr dirty="0" sz="3050" spc="-10">
                <a:latin typeface="Arial Narrow"/>
                <a:cs typeface="Arial Narrow"/>
              </a:rPr>
              <a:t>license</a:t>
            </a:r>
            <a:endParaRPr sz="3050">
              <a:latin typeface="Arial Narrow"/>
              <a:cs typeface="Arial Narrow"/>
            </a:endParaRPr>
          </a:p>
          <a:p>
            <a:pPr marL="12700">
              <a:lnSpc>
                <a:spcPts val="3260"/>
              </a:lnSpc>
            </a:pPr>
            <a:r>
              <a:rPr dirty="0" sz="2950" spc="-150">
                <a:latin typeface="Arial Narrow"/>
                <a:cs typeface="Arial Narrow"/>
              </a:rPr>
              <a:t>(CMS</a:t>
            </a:r>
            <a:r>
              <a:rPr dirty="0" sz="2950" spc="-25">
                <a:latin typeface="Arial Narrow"/>
                <a:cs typeface="Arial Narrow"/>
              </a:rPr>
              <a:t> </a:t>
            </a:r>
            <a:r>
              <a:rPr dirty="0" sz="2950" spc="-60">
                <a:latin typeface="Arial Narrow"/>
                <a:cs typeface="Arial Narrow"/>
              </a:rPr>
              <a:t>License</a:t>
            </a:r>
            <a:r>
              <a:rPr dirty="0" sz="2950" spc="-80">
                <a:latin typeface="Arial Narrow"/>
                <a:cs typeface="Arial Narrow"/>
              </a:rPr>
              <a:t> </a:t>
            </a:r>
            <a:r>
              <a:rPr dirty="0" sz="2950" spc="-35">
                <a:latin typeface="Arial Narrow"/>
                <a:cs typeface="Arial Narrow"/>
              </a:rPr>
              <a:t>101441).</a:t>
            </a:r>
            <a:endParaRPr sz="2950">
              <a:latin typeface="Arial Narrow"/>
              <a:cs typeface="Arial Narrow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82927" y="5755216"/>
            <a:ext cx="2272030" cy="533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00" spc="-75">
                <a:latin typeface="Arial Narrow"/>
                <a:cs typeface="Arial Narrow"/>
              </a:rPr>
              <a:t>Industry</a:t>
            </a:r>
            <a:r>
              <a:rPr dirty="0" sz="3300" spc="-40">
                <a:latin typeface="Arial Narrow"/>
                <a:cs typeface="Arial Narrow"/>
              </a:rPr>
              <a:t> </a:t>
            </a:r>
            <a:r>
              <a:rPr dirty="0" sz="3300" spc="-170">
                <a:latin typeface="Arial Narrow"/>
                <a:cs typeface="Arial Narrow"/>
              </a:rPr>
              <a:t>Awards</a:t>
            </a:r>
            <a:endParaRPr sz="3300">
              <a:latin typeface="Arial Narrow"/>
              <a:cs typeface="Arial Narro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441416" y="6910210"/>
            <a:ext cx="2450465" cy="1997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48260">
              <a:lnSpc>
                <a:spcPts val="5385"/>
              </a:lnSpc>
              <a:spcBef>
                <a:spcPts val="135"/>
              </a:spcBef>
            </a:pPr>
            <a:r>
              <a:rPr dirty="0" sz="5100" spc="-60">
                <a:solidFill>
                  <a:srgbClr val="282828"/>
                </a:solidFill>
                <a:latin typeface="Cambria"/>
                <a:cs typeface="Cambria"/>
              </a:rPr>
              <a:t>Forbes</a:t>
            </a:r>
            <a:endParaRPr sz="5100">
              <a:latin typeface="Cambria"/>
              <a:cs typeface="Cambria"/>
            </a:endParaRPr>
          </a:p>
          <a:p>
            <a:pPr algn="ctr">
              <a:lnSpc>
                <a:spcPts val="4305"/>
              </a:lnSpc>
            </a:pPr>
            <a:r>
              <a:rPr dirty="0" sz="4200" spc="-50">
                <a:solidFill>
                  <a:srgbClr val="2B2B2B"/>
                </a:solidFill>
                <a:latin typeface="Cambria"/>
                <a:cs typeface="Cambria"/>
              </a:rPr>
              <a:t>Fintech</a:t>
            </a:r>
            <a:r>
              <a:rPr dirty="0" sz="4200" spc="-165">
                <a:solidFill>
                  <a:srgbClr val="2B2B2B"/>
                </a:solidFill>
                <a:latin typeface="Cambria"/>
                <a:cs typeface="Cambria"/>
              </a:rPr>
              <a:t> </a:t>
            </a:r>
            <a:r>
              <a:rPr dirty="0" sz="4200" spc="200">
                <a:solidFill>
                  <a:srgbClr val="313131"/>
                </a:solidFill>
                <a:latin typeface="Cambria"/>
                <a:cs typeface="Cambria"/>
              </a:rPr>
              <a:t>50</a:t>
            </a:r>
            <a:endParaRPr sz="4200">
              <a:latin typeface="Cambria"/>
              <a:cs typeface="Cambria"/>
            </a:endParaRPr>
          </a:p>
          <a:p>
            <a:pPr algn="ctr" marR="5080">
              <a:lnSpc>
                <a:spcPct val="100000"/>
              </a:lnSpc>
              <a:spcBef>
                <a:spcPts val="2310"/>
              </a:spcBef>
            </a:pPr>
            <a:r>
              <a:rPr dirty="0" sz="2900" spc="-20">
                <a:latin typeface="Times New Roman"/>
                <a:cs typeface="Times New Roman"/>
              </a:rPr>
              <a:t>2024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701747" y="7284155"/>
            <a:ext cx="2337435" cy="1625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370"/>
              </a:lnSpc>
              <a:spcBef>
                <a:spcPts val="95"/>
              </a:spcBef>
            </a:pPr>
            <a:r>
              <a:rPr dirty="0" sz="3200" spc="155">
                <a:solidFill>
                  <a:srgbClr val="1C1C1C"/>
                </a:solidFill>
                <a:latin typeface="Consolas"/>
                <a:cs typeface="Consolas"/>
              </a:rPr>
              <a:t>j</a:t>
            </a:r>
            <a:r>
              <a:rPr dirty="0" sz="3200" spc="710">
                <a:solidFill>
                  <a:srgbClr val="1C1C1C"/>
                </a:solidFill>
                <a:latin typeface="Consolas"/>
                <a:cs typeface="Consolas"/>
              </a:rPr>
              <a:t> </a:t>
            </a:r>
            <a:r>
              <a:rPr dirty="0" sz="1850" spc="215">
                <a:solidFill>
                  <a:srgbClr val="1C1C1C"/>
                </a:solidFill>
                <a:latin typeface="Consolas"/>
                <a:cs typeface="Consolas"/>
              </a:rPr>
              <a:t>N</a:t>
            </a:r>
            <a:r>
              <a:rPr dirty="0" sz="3200" spc="215">
                <a:solidFill>
                  <a:srgbClr val="1C1C1C"/>
                </a:solidFill>
                <a:latin typeface="Consolas"/>
                <a:cs typeface="Consolas"/>
              </a:rPr>
              <a:t>n</a:t>
            </a:r>
            <a:r>
              <a:rPr dirty="0" sz="1850" spc="215">
                <a:solidFill>
                  <a:srgbClr val="1C1C1C"/>
                </a:solidFill>
                <a:latin typeface="Consolas"/>
                <a:cs typeface="Consolas"/>
              </a:rPr>
              <a:t>d</a:t>
            </a:r>
            <a:r>
              <a:rPr dirty="0" sz="3200" spc="215">
                <a:solidFill>
                  <a:srgbClr val="1C1C1C"/>
                </a:solidFill>
                <a:latin typeface="Consolas"/>
                <a:cs typeface="Consolas"/>
              </a:rPr>
              <a:t>e:h</a:t>
            </a:r>
            <a:endParaRPr sz="3200">
              <a:latin typeface="Consolas"/>
              <a:cs typeface="Consolas"/>
            </a:endParaRPr>
          </a:p>
          <a:p>
            <a:pPr marL="635635">
              <a:lnSpc>
                <a:spcPts val="3250"/>
              </a:lnSpc>
            </a:pPr>
            <a:r>
              <a:rPr dirty="0" sz="3100" spc="-30">
                <a:solidFill>
                  <a:srgbClr val="151515"/>
                </a:solidFill>
                <a:latin typeface="Times New Roman"/>
                <a:cs typeface="Times New Roman"/>
              </a:rPr>
              <a:t>Trailblazer</a:t>
            </a:r>
            <a:endParaRPr sz="3100">
              <a:latin typeface="Times New Roman"/>
              <a:cs typeface="Times New Roman"/>
            </a:endParaRPr>
          </a:p>
          <a:p>
            <a:pPr marL="690880">
              <a:lnSpc>
                <a:spcPct val="100000"/>
              </a:lnSpc>
              <a:spcBef>
                <a:spcPts val="2680"/>
              </a:spcBef>
            </a:pPr>
            <a:r>
              <a:rPr dirty="0" sz="2750" spc="-20">
                <a:latin typeface="Times New Roman"/>
                <a:cs typeface="Times New Roman"/>
              </a:rPr>
              <a:t>2023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284084" y="3251552"/>
            <a:ext cx="2442210" cy="122682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 marR="5080" indent="12065">
              <a:lnSpc>
                <a:spcPts val="3000"/>
              </a:lnSpc>
              <a:spcBef>
                <a:spcPts val="545"/>
              </a:spcBef>
            </a:pPr>
            <a:r>
              <a:rPr dirty="0" sz="2850">
                <a:latin typeface="Arial Narrow"/>
                <a:cs typeface="Arial Narrow"/>
              </a:rPr>
              <a:t>Assets</a:t>
            </a:r>
            <a:r>
              <a:rPr dirty="0" sz="2850" spc="-110">
                <a:latin typeface="Arial Narrow"/>
                <a:cs typeface="Arial Narrow"/>
              </a:rPr>
              <a:t> </a:t>
            </a:r>
            <a:r>
              <a:rPr dirty="0" sz="2850">
                <a:latin typeface="Arial Narrow"/>
                <a:cs typeface="Arial Narrow"/>
              </a:rPr>
              <a:t>held</a:t>
            </a:r>
            <a:r>
              <a:rPr dirty="0" sz="2850" spc="-135">
                <a:latin typeface="Arial Narrow"/>
                <a:cs typeface="Arial Narrow"/>
              </a:rPr>
              <a:t> </a:t>
            </a:r>
            <a:r>
              <a:rPr dirty="0" sz="2850">
                <a:latin typeface="Arial Narrow"/>
                <a:cs typeface="Arial Narrow"/>
              </a:rPr>
              <a:t>by</a:t>
            </a:r>
            <a:r>
              <a:rPr dirty="0" sz="2850" spc="-130">
                <a:latin typeface="Arial Narrow"/>
                <a:cs typeface="Arial Narrow"/>
              </a:rPr>
              <a:t> </a:t>
            </a:r>
            <a:r>
              <a:rPr dirty="0" sz="2850" spc="-25">
                <a:latin typeface="Arial Narrow"/>
                <a:cs typeface="Arial Narrow"/>
              </a:rPr>
              <a:t>the </a:t>
            </a:r>
            <a:r>
              <a:rPr dirty="0" sz="2900">
                <a:latin typeface="Arial Narrow"/>
                <a:cs typeface="Arial Narrow"/>
              </a:rPr>
              <a:t>world's</a:t>
            </a:r>
            <a:r>
              <a:rPr dirty="0" sz="2900" spc="-105">
                <a:latin typeface="Arial Narrow"/>
                <a:cs typeface="Arial Narrow"/>
              </a:rPr>
              <a:t> </a:t>
            </a:r>
            <a:r>
              <a:rPr dirty="0" sz="2900" spc="-10">
                <a:latin typeface="Arial Narrow"/>
                <a:cs typeface="Arial Narrow"/>
              </a:rPr>
              <a:t>largest </a:t>
            </a:r>
            <a:r>
              <a:rPr dirty="0" sz="3050" spc="-10">
                <a:latin typeface="Arial Narrow"/>
                <a:cs typeface="Arial Narrow"/>
              </a:rPr>
              <a:t>custodian.</a:t>
            </a:r>
            <a:endParaRPr sz="3050">
              <a:latin typeface="Arial Narrow"/>
              <a:cs typeface="Arial Narrow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9435041" y="7031566"/>
            <a:ext cx="2636520" cy="18783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14604">
              <a:lnSpc>
                <a:spcPts val="2105"/>
              </a:lnSpc>
              <a:spcBef>
                <a:spcPts val="130"/>
              </a:spcBef>
            </a:pPr>
            <a:r>
              <a:rPr dirty="0" sz="2050" spc="-40">
                <a:solidFill>
                  <a:srgbClr val="232323"/>
                </a:solidFill>
                <a:latin typeface="Times New Roman"/>
                <a:cs typeface="Times New Roman"/>
              </a:rPr>
              <a:t>REAL</a:t>
            </a:r>
            <a:r>
              <a:rPr dirty="0" sz="2050" spc="-145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2050" spc="-10">
                <a:solidFill>
                  <a:srgbClr val="1D1D1D"/>
                </a:solidFill>
                <a:latin typeface="Times New Roman"/>
                <a:cs typeface="Times New Roman"/>
              </a:rPr>
              <a:t>SIMPLE</a:t>
            </a:r>
            <a:endParaRPr sz="2050">
              <a:latin typeface="Times New Roman"/>
              <a:cs typeface="Times New Roman"/>
            </a:endParaRPr>
          </a:p>
          <a:p>
            <a:pPr algn="ctr" marL="12700" marR="5080">
              <a:lnSpc>
                <a:spcPct val="75800"/>
              </a:lnSpc>
              <a:spcBef>
                <a:spcPts val="605"/>
              </a:spcBef>
            </a:pPr>
            <a:r>
              <a:rPr dirty="0" sz="3300" spc="295">
                <a:solidFill>
                  <a:srgbClr val="212121"/>
                </a:solidFill>
                <a:latin typeface="Times New Roman"/>
                <a:cs typeface="Times New Roman"/>
              </a:rPr>
              <a:t>Smart</a:t>
            </a:r>
            <a:r>
              <a:rPr dirty="0" sz="3300" spc="24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3300" spc="135">
                <a:solidFill>
                  <a:srgbClr val="262626"/>
                </a:solidFill>
                <a:latin typeface="Times New Roman"/>
                <a:cs typeface="Times New Roman"/>
              </a:rPr>
              <a:t>Money </a:t>
            </a:r>
            <a:r>
              <a:rPr dirty="0" sz="3300" spc="155">
                <a:solidFill>
                  <a:srgbClr val="212121"/>
                </a:solidFill>
                <a:latin typeface="Times New Roman"/>
                <a:cs typeface="Times New Roman"/>
              </a:rPr>
              <a:t>Awards</a:t>
            </a:r>
            <a:endParaRPr sz="3300">
              <a:latin typeface="Times New Roman"/>
              <a:cs typeface="Times New Roman"/>
            </a:endParaRPr>
          </a:p>
          <a:p>
            <a:pPr algn="ctr" marL="38735">
              <a:lnSpc>
                <a:spcPct val="100000"/>
              </a:lnSpc>
              <a:spcBef>
                <a:spcPts val="2540"/>
              </a:spcBef>
            </a:pPr>
            <a:r>
              <a:rPr dirty="0" sz="2750" spc="-20">
                <a:latin typeface="Times New Roman"/>
                <a:cs typeface="Times New Roman"/>
              </a:rPr>
              <a:t>2023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4664880" y="3433233"/>
            <a:ext cx="1724660" cy="850900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 marR="5080" indent="22860">
              <a:lnSpc>
                <a:spcPts val="3000"/>
              </a:lnSpc>
              <a:spcBef>
                <a:spcPts val="615"/>
              </a:spcBef>
              <a:tabLst>
                <a:tab pos="1566545" algn="l"/>
              </a:tabLst>
            </a:pPr>
            <a:r>
              <a:rPr dirty="0" sz="2900" spc="-10">
                <a:latin typeface="Times New Roman"/>
                <a:cs typeface="Times New Roman"/>
              </a:rPr>
              <a:t>Pmtectd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 spc="-380">
                <a:latin typeface="Times New Roman"/>
                <a:cs typeface="Times New Roman"/>
              </a:rPr>
              <a:t>p </a:t>
            </a:r>
            <a:r>
              <a:rPr dirty="0" sz="2900" spc="-90">
                <a:latin typeface="Times New Roman"/>
                <a:cs typeface="Times New Roman"/>
              </a:rPr>
              <a:t>to</a:t>
            </a:r>
            <a:r>
              <a:rPr dirty="0" sz="2900" spc="-140">
                <a:latin typeface="Times New Roman"/>
                <a:cs typeface="Times New Roman"/>
              </a:rPr>
              <a:t> </a:t>
            </a:r>
            <a:r>
              <a:rPr dirty="0" sz="2900" spc="-85">
                <a:latin typeface="Times New Roman"/>
                <a:cs typeface="Times New Roman"/>
              </a:rPr>
              <a:t>$500K.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476248" y="7006519"/>
            <a:ext cx="2497455" cy="1900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2590"/>
              </a:lnSpc>
              <a:spcBef>
                <a:spcPts val="130"/>
              </a:spcBef>
            </a:pPr>
            <a:r>
              <a:rPr dirty="0" sz="2400" spc="-125">
                <a:solidFill>
                  <a:srgbClr val="1A1A1A"/>
                </a:solidFill>
                <a:latin typeface="Times New Roman"/>
                <a:cs typeface="Times New Roman"/>
              </a:rPr>
              <a:t>CGV</a:t>
            </a:r>
            <a:r>
              <a:rPr dirty="0" sz="2400" spc="-20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1A1A1A"/>
                </a:solidFill>
                <a:latin typeface="Times New Roman"/>
                <a:cs typeface="Times New Roman"/>
              </a:rPr>
              <a:t>Capital</a:t>
            </a:r>
            <a:endParaRPr sz="2400">
              <a:latin typeface="Times New Roman"/>
              <a:cs typeface="Times New Roman"/>
            </a:endParaRPr>
          </a:p>
          <a:p>
            <a:pPr marL="29845">
              <a:lnSpc>
                <a:spcPts val="2795"/>
              </a:lnSpc>
            </a:pPr>
            <a:r>
              <a:rPr dirty="0" sz="3100" spc="160">
                <a:solidFill>
                  <a:srgbClr val="232323"/>
                </a:solidFill>
                <a:latin typeface="Times New Roman"/>
                <a:cs typeface="Times New Roman"/>
              </a:rPr>
              <a:t>Fintech</a:t>
            </a:r>
            <a:endParaRPr sz="3100">
              <a:latin typeface="Times New Roman"/>
              <a:cs typeface="Times New Roman"/>
            </a:endParaRPr>
          </a:p>
          <a:p>
            <a:pPr marL="24765">
              <a:lnSpc>
                <a:spcPts val="3625"/>
              </a:lnSpc>
              <a:tabLst>
                <a:tab pos="2165985" algn="l"/>
              </a:tabLst>
            </a:pPr>
            <a:r>
              <a:rPr dirty="0" sz="3550" spc="-10">
                <a:solidFill>
                  <a:srgbClr val="1F1F1F"/>
                </a:solidFill>
                <a:latin typeface="Times New Roman"/>
                <a:cs typeface="Times New Roman"/>
              </a:rPr>
              <a:t>Innovation</a:t>
            </a:r>
            <a:r>
              <a:rPr dirty="0" sz="3550">
                <a:solidFill>
                  <a:srgbClr val="1F1F1F"/>
                </a:solidFill>
                <a:latin typeface="Times New Roman"/>
                <a:cs typeface="Times New Roman"/>
              </a:rPr>
              <a:t>	</a:t>
            </a:r>
            <a:r>
              <a:rPr dirty="0" sz="3550" spc="-50">
                <a:solidFill>
                  <a:srgbClr val="2F2F2F"/>
                </a:solidFill>
                <a:latin typeface="Times New Roman"/>
                <a:cs typeface="Times New Roman"/>
              </a:rPr>
              <a:t>V</a:t>
            </a:r>
            <a:endParaRPr sz="3550">
              <a:latin typeface="Times New Roman"/>
              <a:cs typeface="Times New Roman"/>
            </a:endParaRPr>
          </a:p>
          <a:p>
            <a:pPr marL="1019175">
              <a:lnSpc>
                <a:spcPct val="100000"/>
              </a:lnSpc>
              <a:spcBef>
                <a:spcPts val="2240"/>
              </a:spcBef>
            </a:pPr>
            <a:r>
              <a:rPr dirty="0" sz="2900" spc="-20">
                <a:latin typeface="Times New Roman"/>
                <a:cs typeface="Times New Roman"/>
              </a:rPr>
              <a:t>2023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5739" y="702733"/>
            <a:ext cx="5620385" cy="155321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9685">
              <a:lnSpc>
                <a:spcPts val="5915"/>
              </a:lnSpc>
              <a:spcBef>
                <a:spcPts val="114"/>
              </a:spcBef>
            </a:pPr>
            <a:r>
              <a:rPr dirty="0" sz="5400">
                <a:solidFill>
                  <a:srgbClr val="232323"/>
                </a:solidFill>
                <a:latin typeface="Cambria"/>
                <a:cs typeface="Cambria"/>
              </a:rPr>
              <a:t>What</a:t>
            </a:r>
            <a:r>
              <a:rPr dirty="0" sz="5400" spc="-25">
                <a:solidFill>
                  <a:srgbClr val="232323"/>
                </a:solidFill>
                <a:latin typeface="Cambria"/>
                <a:cs typeface="Cambria"/>
              </a:rPr>
              <a:t> </a:t>
            </a:r>
            <a:r>
              <a:rPr dirty="0" sz="5400">
                <a:solidFill>
                  <a:srgbClr val="282828"/>
                </a:solidFill>
                <a:latin typeface="Cambria"/>
                <a:cs typeface="Cambria"/>
              </a:rPr>
              <a:t>our</a:t>
            </a:r>
            <a:r>
              <a:rPr dirty="0" sz="5400" spc="-20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dirty="0" sz="5400" spc="-10">
                <a:solidFill>
                  <a:srgbClr val="282828"/>
                </a:solidFill>
                <a:latin typeface="Cambria"/>
                <a:cs typeface="Cambria"/>
              </a:rPr>
              <a:t>investors</a:t>
            </a:r>
            <a:endParaRPr sz="5400">
              <a:latin typeface="Cambria"/>
              <a:cs typeface="Cambria"/>
            </a:endParaRPr>
          </a:p>
          <a:p>
            <a:pPr marL="12700">
              <a:lnSpc>
                <a:spcPts val="6095"/>
              </a:lnSpc>
            </a:pPr>
            <a:r>
              <a:rPr dirty="0" sz="5550" spc="-130">
                <a:solidFill>
                  <a:srgbClr val="282828"/>
                </a:solidFill>
                <a:latin typeface="Cambria"/>
                <a:cs typeface="Cambria"/>
              </a:rPr>
              <a:t>are</a:t>
            </a:r>
            <a:r>
              <a:rPr dirty="0" sz="5550" spc="-175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dirty="0" sz="5550" spc="-10">
                <a:solidFill>
                  <a:srgbClr val="232323"/>
                </a:solidFill>
                <a:latin typeface="Cambria"/>
                <a:cs typeface="Cambria"/>
              </a:rPr>
              <a:t>saying.</a:t>
            </a:r>
            <a:endParaRPr sz="555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6107384" y="9455853"/>
            <a:ext cx="1232535" cy="21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 sz="1300" spc="140">
                <a:latin typeface="Arial"/>
                <a:cs typeface="Arial"/>
              </a:rPr>
              <a:t>G</a:t>
            </a:r>
            <a:r>
              <a:rPr dirty="0" sz="1300" spc="34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288529" y="2864555"/>
            <a:ext cx="4912360" cy="3272154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92710" marR="5080" indent="-80645">
              <a:lnSpc>
                <a:spcPct val="83600"/>
              </a:lnSpc>
              <a:spcBef>
                <a:spcPts val="725"/>
              </a:spcBef>
            </a:pPr>
            <a:r>
              <a:rPr dirty="0" sz="3200" spc="-140">
                <a:latin typeface="Arial Narrow"/>
                <a:cs typeface="Arial Narrow"/>
              </a:rPr>
              <a:t>“Combining</a:t>
            </a:r>
            <a:r>
              <a:rPr dirty="0" sz="3200" spc="10">
                <a:latin typeface="Arial Narrow"/>
                <a:cs typeface="Arial Narrow"/>
              </a:rPr>
              <a:t> </a:t>
            </a:r>
            <a:r>
              <a:rPr dirty="0" sz="3200" spc="-190">
                <a:latin typeface="Arial Narrow"/>
                <a:cs typeface="Arial Narrow"/>
              </a:rPr>
              <a:t>advanced</a:t>
            </a:r>
            <a:r>
              <a:rPr dirty="0" sz="3200" spc="25">
                <a:latin typeface="Arial Narrow"/>
                <a:cs typeface="Arial Narrow"/>
              </a:rPr>
              <a:t> </a:t>
            </a:r>
            <a:r>
              <a:rPr dirty="0" sz="3200" spc="-10">
                <a:latin typeface="Arial Narrow"/>
                <a:cs typeface="Arial Narrow"/>
              </a:rPr>
              <a:t>financial </a:t>
            </a:r>
            <a:r>
              <a:rPr dirty="0" sz="2900">
                <a:latin typeface="Arial Narrow"/>
                <a:cs typeface="Arial Narrow"/>
              </a:rPr>
              <a:t>strategies</a:t>
            </a:r>
            <a:r>
              <a:rPr dirty="0" sz="2900" spc="180">
                <a:latin typeface="Arial Narrow"/>
                <a:cs typeface="Arial Narrow"/>
              </a:rPr>
              <a:t> </a:t>
            </a:r>
            <a:r>
              <a:rPr dirty="0" sz="2900">
                <a:latin typeface="Arial Narrow"/>
                <a:cs typeface="Arial Narrow"/>
              </a:rPr>
              <a:t>with</a:t>
            </a:r>
            <a:r>
              <a:rPr dirty="0" sz="2900" spc="-5">
                <a:latin typeface="Arial Narrow"/>
                <a:cs typeface="Arial Narrow"/>
              </a:rPr>
              <a:t> </a:t>
            </a:r>
            <a:r>
              <a:rPr dirty="0" sz="2900" spc="-20">
                <a:latin typeface="Arial Narrow"/>
                <a:cs typeface="Arial Narrow"/>
              </a:rPr>
              <a:t>AI</a:t>
            </a:r>
            <a:r>
              <a:rPr dirty="0" sz="2900" spc="-60">
                <a:latin typeface="Arial Narrow"/>
                <a:cs typeface="Arial Narrow"/>
              </a:rPr>
              <a:t> </a:t>
            </a:r>
            <a:r>
              <a:rPr dirty="0" sz="2900">
                <a:latin typeface="Arial Narrow"/>
                <a:cs typeface="Arial Narrow"/>
              </a:rPr>
              <a:t>is</a:t>
            </a:r>
            <a:r>
              <a:rPr dirty="0" sz="2900" spc="-60">
                <a:latin typeface="Arial Narrow"/>
                <a:cs typeface="Arial Narrow"/>
              </a:rPr>
              <a:t> </a:t>
            </a:r>
            <a:r>
              <a:rPr dirty="0" sz="2900">
                <a:latin typeface="Arial Narrow"/>
                <a:cs typeface="Arial Narrow"/>
              </a:rPr>
              <a:t>the</a:t>
            </a:r>
            <a:r>
              <a:rPr dirty="0" sz="2900" spc="-130">
                <a:latin typeface="Arial Narrow"/>
                <a:cs typeface="Arial Narrow"/>
              </a:rPr>
              <a:t> </a:t>
            </a:r>
            <a:r>
              <a:rPr dirty="0" sz="2900">
                <a:latin typeface="Arial Narrow"/>
                <a:cs typeface="Arial Narrow"/>
              </a:rPr>
              <a:t>type</a:t>
            </a:r>
            <a:r>
              <a:rPr dirty="0" sz="2900" spc="-25">
                <a:latin typeface="Arial Narrow"/>
                <a:cs typeface="Arial Narrow"/>
              </a:rPr>
              <a:t> of </a:t>
            </a:r>
            <a:r>
              <a:rPr dirty="0" sz="3050" spc="-50">
                <a:latin typeface="Arial Narrow"/>
                <a:cs typeface="Arial Narrow"/>
              </a:rPr>
              <a:t>visionary</a:t>
            </a:r>
            <a:r>
              <a:rPr dirty="0" sz="3050" spc="-90">
                <a:latin typeface="Arial Narrow"/>
                <a:cs typeface="Arial Narrow"/>
              </a:rPr>
              <a:t> </a:t>
            </a:r>
            <a:r>
              <a:rPr dirty="0" sz="3050" spc="-30">
                <a:latin typeface="Arial Narrow"/>
                <a:cs typeface="Arial Narrow"/>
              </a:rPr>
              <a:t>thinking</a:t>
            </a:r>
            <a:r>
              <a:rPr dirty="0" sz="3050" spc="-80">
                <a:latin typeface="Arial Narrow"/>
                <a:cs typeface="Arial Narrow"/>
              </a:rPr>
              <a:t> </a:t>
            </a:r>
            <a:r>
              <a:rPr dirty="0" sz="3050">
                <a:latin typeface="Arial Narrow"/>
                <a:cs typeface="Arial Narrow"/>
              </a:rPr>
              <a:t>that</a:t>
            </a:r>
            <a:r>
              <a:rPr dirty="0" sz="3050" spc="-165">
                <a:latin typeface="Arial Narrow"/>
                <a:cs typeface="Arial Narrow"/>
              </a:rPr>
              <a:t> </a:t>
            </a:r>
            <a:r>
              <a:rPr dirty="0" sz="3050" spc="-40">
                <a:latin typeface="Arial Narrow"/>
                <a:cs typeface="Arial Narrow"/>
              </a:rPr>
              <a:t>brings</a:t>
            </a:r>
            <a:r>
              <a:rPr dirty="0" sz="3050" spc="-110">
                <a:latin typeface="Arial Narrow"/>
                <a:cs typeface="Arial Narrow"/>
              </a:rPr>
              <a:t> </a:t>
            </a:r>
            <a:r>
              <a:rPr dirty="0" sz="3050" spc="-10">
                <a:latin typeface="Arial Narrow"/>
                <a:cs typeface="Arial Narrow"/>
              </a:rPr>
              <a:t>about </a:t>
            </a:r>
            <a:r>
              <a:rPr dirty="0" sz="3200" spc="-130">
                <a:latin typeface="Arial Narrow"/>
                <a:cs typeface="Arial Narrow"/>
              </a:rPr>
              <a:t>real</a:t>
            </a:r>
            <a:r>
              <a:rPr dirty="0" sz="3200" spc="-55">
                <a:latin typeface="Arial Narrow"/>
                <a:cs typeface="Arial Narrow"/>
              </a:rPr>
              <a:t> </a:t>
            </a:r>
            <a:r>
              <a:rPr dirty="0" sz="3200" spc="-130">
                <a:latin typeface="Arial Narrow"/>
                <a:cs typeface="Arial Narrow"/>
              </a:rPr>
              <a:t>step-</a:t>
            </a:r>
            <a:r>
              <a:rPr dirty="0" sz="3200" spc="-100">
                <a:latin typeface="Arial Narrow"/>
                <a:cs typeface="Arial Narrow"/>
              </a:rPr>
              <a:t>function</a:t>
            </a:r>
            <a:r>
              <a:rPr dirty="0" sz="3200" spc="15">
                <a:latin typeface="Arial Narrow"/>
                <a:cs typeface="Arial Narrow"/>
              </a:rPr>
              <a:t> </a:t>
            </a:r>
            <a:r>
              <a:rPr dirty="0" sz="3200" spc="-180">
                <a:latin typeface="Arial Narrow"/>
                <a:cs typeface="Arial Narrow"/>
              </a:rPr>
              <a:t>change...</a:t>
            </a:r>
            <a:r>
              <a:rPr dirty="0" sz="3200" spc="-60">
                <a:latin typeface="Arial Narrow"/>
                <a:cs typeface="Arial Narrow"/>
              </a:rPr>
              <a:t> </a:t>
            </a:r>
            <a:r>
              <a:rPr dirty="0" sz="3200">
                <a:latin typeface="Arial Narrow"/>
                <a:cs typeface="Arial Narrow"/>
              </a:rPr>
              <a:t>I</a:t>
            </a:r>
            <a:r>
              <a:rPr dirty="0" sz="3200" spc="-45">
                <a:latin typeface="Arial Narrow"/>
                <a:cs typeface="Arial Narrow"/>
              </a:rPr>
              <a:t> </a:t>
            </a:r>
            <a:r>
              <a:rPr dirty="0" sz="3200" spc="-210">
                <a:latin typeface="Arial Narrow"/>
                <a:cs typeface="Arial Narrow"/>
              </a:rPr>
              <a:t>am</a:t>
            </a:r>
            <a:r>
              <a:rPr dirty="0" sz="3200" spc="-100">
                <a:latin typeface="Arial Narrow"/>
                <a:cs typeface="Arial Narrow"/>
              </a:rPr>
              <a:t> </a:t>
            </a:r>
            <a:r>
              <a:rPr dirty="0" sz="3200" spc="-25">
                <a:latin typeface="Arial Narrow"/>
                <a:cs typeface="Arial Narrow"/>
              </a:rPr>
              <a:t>so </a:t>
            </a:r>
            <a:r>
              <a:rPr dirty="0" sz="3100" spc="-80">
                <a:latin typeface="Arial Narrow"/>
                <a:cs typeface="Arial Narrow"/>
              </a:rPr>
              <a:t>impressed</a:t>
            </a:r>
            <a:r>
              <a:rPr dirty="0" sz="3100" spc="-85">
                <a:latin typeface="Arial Narrow"/>
                <a:cs typeface="Arial Narrow"/>
              </a:rPr>
              <a:t> </a:t>
            </a:r>
            <a:r>
              <a:rPr dirty="0" sz="3100" spc="-40">
                <a:latin typeface="Arial Narrow"/>
                <a:cs typeface="Arial Narrow"/>
              </a:rPr>
              <a:t>with</a:t>
            </a:r>
            <a:r>
              <a:rPr dirty="0" sz="3100" spc="-105">
                <a:latin typeface="Arial Narrow"/>
                <a:cs typeface="Arial Narrow"/>
              </a:rPr>
              <a:t> </a:t>
            </a:r>
            <a:r>
              <a:rPr dirty="0" sz="3100" spc="-85">
                <a:latin typeface="Arial Narrow"/>
                <a:cs typeface="Arial Narrow"/>
              </a:rPr>
              <a:t>what</a:t>
            </a:r>
            <a:r>
              <a:rPr dirty="0" sz="3100" spc="-55">
                <a:latin typeface="Arial Narrow"/>
                <a:cs typeface="Arial Narrow"/>
              </a:rPr>
              <a:t> </a:t>
            </a:r>
            <a:r>
              <a:rPr dirty="0" sz="3100" spc="-75">
                <a:latin typeface="Arial Narrow"/>
                <a:cs typeface="Arial Narrow"/>
              </a:rPr>
              <a:t>Arta</a:t>
            </a:r>
            <a:r>
              <a:rPr dirty="0" sz="3100" spc="-105">
                <a:latin typeface="Arial Narrow"/>
                <a:cs typeface="Arial Narrow"/>
              </a:rPr>
              <a:t> </a:t>
            </a:r>
            <a:r>
              <a:rPr dirty="0" sz="3100" spc="-135">
                <a:latin typeface="Arial Narrow"/>
                <a:cs typeface="Arial Narrow"/>
              </a:rPr>
              <a:t>has</a:t>
            </a:r>
            <a:r>
              <a:rPr dirty="0" sz="3100" spc="-65">
                <a:latin typeface="Arial Narrow"/>
                <a:cs typeface="Arial Narrow"/>
              </a:rPr>
              <a:t> </a:t>
            </a:r>
            <a:r>
              <a:rPr dirty="0" sz="3100" spc="-10">
                <a:latin typeface="Arial Narrow"/>
                <a:cs typeface="Arial Narrow"/>
              </a:rPr>
              <a:t>built.”</a:t>
            </a:r>
            <a:endParaRPr sz="3100">
              <a:latin typeface="Arial Narrow"/>
              <a:cs typeface="Arial Narrow"/>
            </a:endParaRPr>
          </a:p>
          <a:p>
            <a:pPr marL="88900">
              <a:lnSpc>
                <a:spcPts val="3310"/>
              </a:lnSpc>
              <a:spcBef>
                <a:spcPts val="680"/>
              </a:spcBef>
            </a:pPr>
            <a:r>
              <a:rPr dirty="0" sz="3100" spc="-130">
                <a:latin typeface="Arial Narrow"/>
                <a:cs typeface="Arial Narrow"/>
              </a:rPr>
              <a:t>Eric</a:t>
            </a:r>
            <a:r>
              <a:rPr dirty="0" sz="3100" spc="-30">
                <a:latin typeface="Arial Narrow"/>
                <a:cs typeface="Arial Narrow"/>
              </a:rPr>
              <a:t> </a:t>
            </a:r>
            <a:r>
              <a:rPr dirty="0" sz="3100" spc="-10">
                <a:latin typeface="Arial Narrow"/>
                <a:cs typeface="Arial Narrow"/>
              </a:rPr>
              <a:t>Schmidt</a:t>
            </a:r>
            <a:endParaRPr sz="3100">
              <a:latin typeface="Arial Narrow"/>
              <a:cs typeface="Arial Narrow"/>
            </a:endParaRPr>
          </a:p>
          <a:p>
            <a:pPr marL="101600">
              <a:lnSpc>
                <a:spcPts val="2435"/>
              </a:lnSpc>
            </a:pPr>
            <a:r>
              <a:rPr dirty="0" sz="2700" spc="-220">
                <a:latin typeface="Arial Narrow"/>
                <a:cs typeface="Arial Narrow"/>
              </a:rPr>
              <a:t>Co</a:t>
            </a:r>
            <a:r>
              <a:rPr dirty="0" sz="2700" spc="-10">
                <a:latin typeface="Arial Narrow"/>
                <a:cs typeface="Arial Narrow"/>
              </a:rPr>
              <a:t> </a:t>
            </a:r>
            <a:r>
              <a:rPr dirty="0" sz="2700" spc="-150">
                <a:latin typeface="Arial Narrow"/>
                <a:cs typeface="Arial Narrow"/>
              </a:rPr>
              <a:t>Founder,</a:t>
            </a:r>
            <a:r>
              <a:rPr dirty="0" sz="2700" spc="-5">
                <a:latin typeface="Arial Narrow"/>
                <a:cs typeface="Arial Narrow"/>
              </a:rPr>
              <a:t> </a:t>
            </a:r>
            <a:r>
              <a:rPr dirty="0" sz="2700" spc="-75">
                <a:latin typeface="Arial Narrow"/>
                <a:cs typeface="Arial Narrow"/>
              </a:rPr>
              <a:t>Schmidt</a:t>
            </a:r>
            <a:r>
              <a:rPr dirty="0" sz="2700" spc="25">
                <a:latin typeface="Arial Narrow"/>
                <a:cs typeface="Arial Narrow"/>
              </a:rPr>
              <a:t> </a:t>
            </a:r>
            <a:r>
              <a:rPr dirty="0" sz="2700" spc="-10">
                <a:latin typeface="Arial Narrow"/>
                <a:cs typeface="Arial Narrow"/>
              </a:rPr>
              <a:t>Futures;</a:t>
            </a:r>
            <a:endParaRPr sz="2700">
              <a:latin typeface="Arial Narrow"/>
              <a:cs typeface="Arial Narrow"/>
            </a:endParaRPr>
          </a:p>
          <a:p>
            <a:pPr marL="90170">
              <a:lnSpc>
                <a:spcPts val="3025"/>
              </a:lnSpc>
            </a:pPr>
            <a:r>
              <a:rPr dirty="0" sz="2850" spc="-204">
                <a:latin typeface="Arial Narrow"/>
                <a:cs typeface="Arial Narrow"/>
              </a:rPr>
              <a:t>Former</a:t>
            </a:r>
            <a:r>
              <a:rPr dirty="0" sz="2850" spc="80">
                <a:latin typeface="Arial Narrow"/>
                <a:cs typeface="Arial Narrow"/>
              </a:rPr>
              <a:t> </a:t>
            </a:r>
            <a:r>
              <a:rPr dirty="0" sz="2850" spc="-265">
                <a:latin typeface="Arial Narrow"/>
                <a:cs typeface="Arial Narrow"/>
              </a:rPr>
              <a:t>CE0</a:t>
            </a:r>
            <a:r>
              <a:rPr dirty="0" sz="2850" spc="-35">
                <a:latin typeface="Arial Narrow"/>
                <a:cs typeface="Arial Narrow"/>
              </a:rPr>
              <a:t> </a:t>
            </a:r>
            <a:r>
              <a:rPr dirty="0" sz="2850" spc="-270">
                <a:latin typeface="Arial Narrow"/>
                <a:cs typeface="Arial Narrow"/>
              </a:rPr>
              <a:t>&amp;</a:t>
            </a:r>
            <a:r>
              <a:rPr dirty="0" sz="2850" spc="-150">
                <a:latin typeface="Arial Narrow"/>
                <a:cs typeface="Arial Narrow"/>
              </a:rPr>
              <a:t> </a:t>
            </a:r>
            <a:r>
              <a:rPr dirty="0" sz="2850" spc="-204">
                <a:latin typeface="Arial Narrow"/>
                <a:cs typeface="Arial Narrow"/>
              </a:rPr>
              <a:t>Chairman,</a:t>
            </a:r>
            <a:r>
              <a:rPr dirty="0" sz="2850">
                <a:latin typeface="Arial Narrow"/>
                <a:cs typeface="Arial Narrow"/>
              </a:rPr>
              <a:t> </a:t>
            </a:r>
            <a:r>
              <a:rPr dirty="0" sz="2850" spc="-10">
                <a:latin typeface="Arial Narrow"/>
                <a:cs typeface="Arial Narrow"/>
              </a:rPr>
              <a:t>Google</a:t>
            </a:r>
            <a:endParaRPr sz="2850">
              <a:latin typeface="Arial Narrow"/>
              <a:cs typeface="Arial Narro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219722" y="2873375"/>
            <a:ext cx="4753610" cy="3263265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45085" marR="5080" indent="-33020">
              <a:lnSpc>
                <a:spcPct val="84400"/>
              </a:lnSpc>
              <a:spcBef>
                <a:spcPts val="705"/>
              </a:spcBef>
            </a:pPr>
            <a:r>
              <a:rPr dirty="0" sz="3100" spc="-70">
                <a:latin typeface="Arial Narrow"/>
                <a:cs typeface="Arial Narrow"/>
              </a:rPr>
              <a:t>“Arta</a:t>
            </a:r>
            <a:r>
              <a:rPr dirty="0" sz="3100" spc="-100">
                <a:latin typeface="Arial Narrow"/>
                <a:cs typeface="Arial Narrow"/>
              </a:rPr>
              <a:t> </a:t>
            </a:r>
            <a:r>
              <a:rPr dirty="0" sz="3100">
                <a:latin typeface="Arial Narrow"/>
                <a:cs typeface="Arial Narrow"/>
              </a:rPr>
              <a:t>is</a:t>
            </a:r>
            <a:r>
              <a:rPr dirty="0" sz="3100" spc="-150">
                <a:latin typeface="Arial Narrow"/>
                <a:cs typeface="Arial Narrow"/>
              </a:rPr>
              <a:t> </a:t>
            </a:r>
            <a:r>
              <a:rPr dirty="0" sz="3100" spc="-105">
                <a:latin typeface="Arial Narrow"/>
                <a:cs typeface="Arial Narrow"/>
              </a:rPr>
              <a:t>harnessing</a:t>
            </a:r>
            <a:r>
              <a:rPr dirty="0" sz="3100" spc="-35">
                <a:latin typeface="Arial Narrow"/>
                <a:cs typeface="Arial Narrow"/>
              </a:rPr>
              <a:t> </a:t>
            </a:r>
            <a:r>
              <a:rPr dirty="0" sz="3100" spc="-60">
                <a:latin typeface="Arial Narrow"/>
                <a:cs typeface="Arial Narrow"/>
              </a:rPr>
              <a:t>the</a:t>
            </a:r>
            <a:r>
              <a:rPr dirty="0" sz="3100" spc="-120">
                <a:latin typeface="Arial Narrow"/>
                <a:cs typeface="Arial Narrow"/>
              </a:rPr>
              <a:t> </a:t>
            </a:r>
            <a:r>
              <a:rPr dirty="0" sz="3100" spc="-110">
                <a:latin typeface="Arial Narrow"/>
                <a:cs typeface="Arial Narrow"/>
              </a:rPr>
              <a:t>power</a:t>
            </a:r>
            <a:r>
              <a:rPr dirty="0" sz="3100" spc="-45">
                <a:latin typeface="Arial Narrow"/>
                <a:cs typeface="Arial Narrow"/>
              </a:rPr>
              <a:t> </a:t>
            </a:r>
            <a:r>
              <a:rPr dirty="0" sz="3100" spc="-25">
                <a:latin typeface="Arial Narrow"/>
                <a:cs typeface="Arial Narrow"/>
              </a:rPr>
              <a:t>of </a:t>
            </a:r>
            <a:r>
              <a:rPr dirty="0" sz="2950" spc="-45">
                <a:latin typeface="Arial Narrow"/>
                <a:cs typeface="Arial Narrow"/>
              </a:rPr>
              <a:t>technology...</a:t>
            </a:r>
            <a:r>
              <a:rPr dirty="0" sz="2950" spc="-120">
                <a:latin typeface="Arial Narrow"/>
                <a:cs typeface="Arial Narrow"/>
              </a:rPr>
              <a:t> </a:t>
            </a:r>
            <a:r>
              <a:rPr dirty="0" sz="2950" spc="-165">
                <a:latin typeface="Arial Narrow"/>
                <a:cs typeface="Arial Narrow"/>
              </a:rPr>
              <a:t>By</a:t>
            </a:r>
            <a:r>
              <a:rPr dirty="0" sz="2950" spc="-70">
                <a:latin typeface="Arial Narrow"/>
                <a:cs typeface="Arial Narrow"/>
              </a:rPr>
              <a:t> </a:t>
            </a:r>
            <a:r>
              <a:rPr dirty="0" sz="2950">
                <a:latin typeface="Arial Narrow"/>
                <a:cs typeface="Arial Narrow"/>
              </a:rPr>
              <a:t>making</a:t>
            </a:r>
            <a:r>
              <a:rPr dirty="0" sz="2950" spc="25">
                <a:latin typeface="Arial Narrow"/>
                <a:cs typeface="Arial Narrow"/>
              </a:rPr>
              <a:t> </a:t>
            </a:r>
            <a:r>
              <a:rPr dirty="0" sz="2950" spc="-10">
                <a:latin typeface="Arial Narrow"/>
                <a:cs typeface="Arial Narrow"/>
              </a:rPr>
              <a:t>access </a:t>
            </a:r>
            <a:r>
              <a:rPr dirty="0" sz="3050" spc="-114">
                <a:latin typeface="Arial Narrow"/>
                <a:cs typeface="Arial Narrow"/>
              </a:rPr>
              <a:t>easier,</a:t>
            </a:r>
            <a:r>
              <a:rPr dirty="0" sz="3050" spc="-65">
                <a:latin typeface="Arial Narrow"/>
                <a:cs typeface="Arial Narrow"/>
              </a:rPr>
              <a:t> </a:t>
            </a:r>
            <a:r>
              <a:rPr dirty="0" sz="3050" spc="-95">
                <a:latin typeface="Arial Narrow"/>
                <a:cs typeface="Arial Narrow"/>
              </a:rPr>
              <a:t>quicker,</a:t>
            </a:r>
            <a:r>
              <a:rPr dirty="0" sz="3050" spc="-5">
                <a:latin typeface="Arial Narrow"/>
                <a:cs typeface="Arial Narrow"/>
              </a:rPr>
              <a:t> </a:t>
            </a:r>
            <a:r>
              <a:rPr dirty="0" sz="3050" spc="-105">
                <a:latin typeface="Arial Narrow"/>
                <a:cs typeface="Arial Narrow"/>
              </a:rPr>
              <a:t>and</a:t>
            </a:r>
            <a:r>
              <a:rPr dirty="0" sz="3050" spc="-170">
                <a:latin typeface="Arial Narrow"/>
                <a:cs typeface="Arial Narrow"/>
              </a:rPr>
              <a:t> </a:t>
            </a:r>
            <a:r>
              <a:rPr dirty="0" sz="3050" spc="-60">
                <a:latin typeface="Arial Narrow"/>
                <a:cs typeface="Arial Narrow"/>
              </a:rPr>
              <a:t>more</a:t>
            </a:r>
            <a:r>
              <a:rPr dirty="0" sz="3050" spc="-114">
                <a:latin typeface="Arial Narrow"/>
                <a:cs typeface="Arial Narrow"/>
              </a:rPr>
              <a:t> </a:t>
            </a:r>
            <a:r>
              <a:rPr dirty="0" sz="3050" spc="-45">
                <a:latin typeface="Arial Narrow"/>
                <a:cs typeface="Arial Narrow"/>
              </a:rPr>
              <a:t>complete, </a:t>
            </a:r>
            <a:r>
              <a:rPr dirty="0" sz="3050" spc="-40">
                <a:latin typeface="Arial Narrow"/>
                <a:cs typeface="Arial Narrow"/>
              </a:rPr>
              <a:t>Arta</a:t>
            </a:r>
            <a:r>
              <a:rPr dirty="0" sz="3050" spc="-135">
                <a:latin typeface="Arial Narrow"/>
                <a:cs typeface="Arial Narrow"/>
              </a:rPr>
              <a:t> </a:t>
            </a:r>
            <a:r>
              <a:rPr dirty="0" sz="3050" spc="-95">
                <a:latin typeface="Arial Narrow"/>
                <a:cs typeface="Arial Narrow"/>
              </a:rPr>
              <a:t>has</a:t>
            </a:r>
            <a:r>
              <a:rPr dirty="0" sz="3050" spc="-80">
                <a:latin typeface="Arial Narrow"/>
                <a:cs typeface="Arial Narrow"/>
              </a:rPr>
              <a:t> </a:t>
            </a:r>
            <a:r>
              <a:rPr dirty="0" sz="3050" spc="-75">
                <a:latin typeface="Arial Narrow"/>
                <a:cs typeface="Arial Narrow"/>
              </a:rPr>
              <a:t>responded</a:t>
            </a:r>
            <a:r>
              <a:rPr dirty="0" sz="3050" spc="15">
                <a:latin typeface="Arial Narrow"/>
                <a:cs typeface="Arial Narrow"/>
              </a:rPr>
              <a:t> </a:t>
            </a:r>
            <a:r>
              <a:rPr dirty="0" sz="3050">
                <a:latin typeface="Arial Narrow"/>
                <a:cs typeface="Arial Narrow"/>
              </a:rPr>
              <a:t>to</a:t>
            </a:r>
            <a:r>
              <a:rPr dirty="0" sz="3050" spc="-165">
                <a:latin typeface="Arial Narrow"/>
                <a:cs typeface="Arial Narrow"/>
              </a:rPr>
              <a:t> </a:t>
            </a:r>
            <a:r>
              <a:rPr dirty="0" sz="3050" spc="-10">
                <a:latin typeface="Arial Narrow"/>
                <a:cs typeface="Arial Narrow"/>
              </a:rPr>
              <a:t>those </a:t>
            </a:r>
            <a:r>
              <a:rPr dirty="0" sz="3100" spc="-80">
                <a:latin typeface="Arial Narrow"/>
                <a:cs typeface="Arial Narrow"/>
              </a:rPr>
              <a:t>customer</a:t>
            </a:r>
            <a:r>
              <a:rPr dirty="0" sz="3100" spc="-85">
                <a:latin typeface="Arial Narrow"/>
                <a:cs typeface="Arial Narrow"/>
              </a:rPr>
              <a:t> </a:t>
            </a:r>
            <a:r>
              <a:rPr dirty="0" sz="3100" spc="-10">
                <a:latin typeface="Arial Narrow"/>
                <a:cs typeface="Arial Narrow"/>
              </a:rPr>
              <a:t>needs.”</a:t>
            </a:r>
            <a:endParaRPr sz="3100">
              <a:latin typeface="Arial Narrow"/>
              <a:cs typeface="Arial Narrow"/>
            </a:endParaRPr>
          </a:p>
          <a:p>
            <a:pPr marL="40005">
              <a:lnSpc>
                <a:spcPts val="3254"/>
              </a:lnSpc>
              <a:spcBef>
                <a:spcPts val="730"/>
              </a:spcBef>
            </a:pPr>
            <a:r>
              <a:rPr dirty="0" sz="3050" spc="-90">
                <a:latin typeface="Arial Narrow"/>
                <a:cs typeface="Arial Narrow"/>
              </a:rPr>
              <a:t>Betsy</a:t>
            </a:r>
            <a:r>
              <a:rPr dirty="0" sz="3050" spc="-65">
                <a:latin typeface="Arial Narrow"/>
                <a:cs typeface="Arial Narrow"/>
              </a:rPr>
              <a:t> </a:t>
            </a:r>
            <a:r>
              <a:rPr dirty="0" sz="3050" spc="-10">
                <a:latin typeface="Arial Narrow"/>
                <a:cs typeface="Arial Narrow"/>
              </a:rPr>
              <a:t>Cohen</a:t>
            </a:r>
            <a:endParaRPr sz="3050">
              <a:latin typeface="Arial Narrow"/>
              <a:cs typeface="Arial Narrow"/>
            </a:endParaRPr>
          </a:p>
          <a:p>
            <a:pPr marL="50165">
              <a:lnSpc>
                <a:spcPts val="2440"/>
              </a:lnSpc>
            </a:pPr>
            <a:r>
              <a:rPr dirty="0" sz="2700" spc="-120">
                <a:latin typeface="Arial Narrow"/>
                <a:cs typeface="Arial Narrow"/>
              </a:rPr>
              <a:t>Chairman</a:t>
            </a:r>
            <a:r>
              <a:rPr dirty="0" sz="2700" spc="-35">
                <a:latin typeface="Arial Narrow"/>
                <a:cs typeface="Arial Narrow"/>
              </a:rPr>
              <a:t> </a:t>
            </a:r>
            <a:r>
              <a:rPr dirty="0" sz="2700">
                <a:latin typeface="Arial Narrow"/>
                <a:cs typeface="Arial Narrow"/>
              </a:rPr>
              <a:t>of</a:t>
            </a:r>
            <a:r>
              <a:rPr dirty="0" sz="2700" spc="-40">
                <a:latin typeface="Arial Narrow"/>
                <a:cs typeface="Arial Narrow"/>
              </a:rPr>
              <a:t> </a:t>
            </a:r>
            <a:r>
              <a:rPr dirty="0" sz="2700" spc="-195">
                <a:latin typeface="Arial Narrow"/>
                <a:cs typeface="Arial Narrow"/>
              </a:rPr>
              <a:t>Cohen</a:t>
            </a:r>
            <a:r>
              <a:rPr dirty="0" sz="2700" spc="-10">
                <a:latin typeface="Arial Narrow"/>
                <a:cs typeface="Arial Narrow"/>
              </a:rPr>
              <a:t> </a:t>
            </a:r>
            <a:r>
              <a:rPr dirty="0" sz="2700" spc="-100">
                <a:latin typeface="Arial Narrow"/>
                <a:cs typeface="Arial Narrow"/>
              </a:rPr>
              <a:t>Circle,</a:t>
            </a:r>
            <a:r>
              <a:rPr dirty="0" sz="2700" spc="-160">
                <a:latin typeface="Arial Narrow"/>
                <a:cs typeface="Arial Narrow"/>
              </a:rPr>
              <a:t> </a:t>
            </a:r>
            <a:r>
              <a:rPr dirty="0" sz="2700" spc="-125">
                <a:latin typeface="Arial Narrow"/>
                <a:cs typeface="Arial Narrow"/>
              </a:rPr>
              <a:t>Founder</a:t>
            </a:r>
            <a:r>
              <a:rPr dirty="0" sz="2700" spc="55">
                <a:latin typeface="Arial Narrow"/>
                <a:cs typeface="Arial Narrow"/>
              </a:rPr>
              <a:t> </a:t>
            </a:r>
            <a:r>
              <a:rPr dirty="0" sz="2700" spc="-25">
                <a:latin typeface="Arial Narrow"/>
                <a:cs typeface="Arial Narrow"/>
              </a:rPr>
              <a:t>and</a:t>
            </a:r>
            <a:endParaRPr sz="2700">
              <a:latin typeface="Arial Narrow"/>
              <a:cs typeface="Arial Narrow"/>
            </a:endParaRPr>
          </a:p>
          <a:p>
            <a:pPr marL="38735">
              <a:lnSpc>
                <a:spcPts val="3025"/>
              </a:lnSpc>
            </a:pPr>
            <a:r>
              <a:rPr dirty="0" sz="2850" spc="-204">
                <a:latin typeface="Arial Narrow"/>
                <a:cs typeface="Arial Narrow"/>
              </a:rPr>
              <a:t>Former</a:t>
            </a:r>
            <a:r>
              <a:rPr dirty="0" sz="2850" spc="60">
                <a:latin typeface="Arial Narrow"/>
                <a:cs typeface="Arial Narrow"/>
              </a:rPr>
              <a:t> </a:t>
            </a:r>
            <a:r>
              <a:rPr dirty="0" sz="2850" spc="-465">
                <a:latin typeface="Arial Narrow"/>
                <a:cs typeface="Arial Narrow"/>
              </a:rPr>
              <a:t>CEO</a:t>
            </a:r>
            <a:r>
              <a:rPr dirty="0" sz="2850" spc="55">
                <a:latin typeface="Arial Narrow"/>
                <a:cs typeface="Arial Narrow"/>
              </a:rPr>
              <a:t> </a:t>
            </a:r>
            <a:r>
              <a:rPr dirty="0" sz="2850" spc="-114">
                <a:latin typeface="Arial Narrow"/>
                <a:cs typeface="Arial Narrow"/>
              </a:rPr>
              <a:t>of</a:t>
            </a:r>
            <a:r>
              <a:rPr dirty="0" sz="2850" spc="-80">
                <a:latin typeface="Arial Narrow"/>
                <a:cs typeface="Arial Narrow"/>
              </a:rPr>
              <a:t> </a:t>
            </a:r>
            <a:r>
              <a:rPr dirty="0" sz="2850" spc="-210">
                <a:latin typeface="Arial Narrow"/>
                <a:cs typeface="Arial Narrow"/>
              </a:rPr>
              <a:t>The</a:t>
            </a:r>
            <a:r>
              <a:rPr dirty="0" sz="2850" spc="-120">
                <a:latin typeface="Arial Narrow"/>
                <a:cs typeface="Arial Narrow"/>
              </a:rPr>
              <a:t> </a:t>
            </a:r>
            <a:r>
              <a:rPr dirty="0" sz="2850" spc="-30">
                <a:latin typeface="Arial Narrow"/>
                <a:cs typeface="Arial Narrow"/>
              </a:rPr>
              <a:t>Bancorp</a:t>
            </a:r>
            <a:endParaRPr sz="2850">
              <a:latin typeface="Arial Narrow"/>
              <a:cs typeface="Arial Narro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364127" y="6778625"/>
            <a:ext cx="6119495" cy="216979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9050" marR="5080" indent="-6350">
              <a:lnSpc>
                <a:spcPct val="83600"/>
              </a:lnSpc>
              <a:spcBef>
                <a:spcPts val="735"/>
              </a:spcBef>
            </a:pPr>
            <a:r>
              <a:rPr dirty="0" sz="3100" spc="-80">
                <a:latin typeface="Arial Narrow"/>
                <a:cs typeface="Arial Narrow"/>
              </a:rPr>
              <a:t>“Arta</a:t>
            </a:r>
            <a:r>
              <a:rPr dirty="0" sz="3100" spc="-100">
                <a:latin typeface="Arial Narrow"/>
                <a:cs typeface="Arial Narrow"/>
              </a:rPr>
              <a:t> </a:t>
            </a:r>
            <a:r>
              <a:rPr dirty="0" sz="3100" spc="-125">
                <a:latin typeface="Arial Narrow"/>
                <a:cs typeface="Arial Narrow"/>
              </a:rPr>
              <a:t>Finance</a:t>
            </a:r>
            <a:r>
              <a:rPr dirty="0" sz="3100" spc="-55">
                <a:latin typeface="Arial Narrow"/>
                <a:cs typeface="Arial Narrow"/>
              </a:rPr>
              <a:t> </a:t>
            </a:r>
            <a:r>
              <a:rPr dirty="0" sz="3100" spc="-160">
                <a:latin typeface="Arial Narrow"/>
                <a:cs typeface="Arial Narrow"/>
              </a:rPr>
              <a:t>has</a:t>
            </a:r>
            <a:r>
              <a:rPr dirty="0" sz="3100" spc="-15">
                <a:latin typeface="Arial Narrow"/>
                <a:cs typeface="Arial Narrow"/>
              </a:rPr>
              <a:t> </a:t>
            </a:r>
            <a:r>
              <a:rPr dirty="0" sz="3100" spc="-105">
                <a:latin typeface="Arial Narrow"/>
                <a:cs typeface="Arial Narrow"/>
              </a:rPr>
              <a:t>chosen</a:t>
            </a:r>
            <a:r>
              <a:rPr dirty="0" sz="3100" spc="-50">
                <a:latin typeface="Arial Narrow"/>
                <a:cs typeface="Arial Narrow"/>
              </a:rPr>
              <a:t> </a:t>
            </a:r>
            <a:r>
              <a:rPr dirty="0" sz="3100" spc="-175">
                <a:latin typeface="Arial Narrow"/>
                <a:cs typeface="Arial Narrow"/>
              </a:rPr>
              <a:t>a</a:t>
            </a:r>
            <a:r>
              <a:rPr dirty="0" sz="3100" spc="-145">
                <a:latin typeface="Arial Narrow"/>
                <a:cs typeface="Arial Narrow"/>
              </a:rPr>
              <a:t> </a:t>
            </a:r>
            <a:r>
              <a:rPr dirty="0" sz="3100" spc="-95">
                <a:latin typeface="Arial Narrow"/>
                <a:cs typeface="Arial Narrow"/>
              </a:rPr>
              <a:t>massive</a:t>
            </a:r>
            <a:r>
              <a:rPr dirty="0" sz="3100" spc="-5">
                <a:latin typeface="Arial Narrow"/>
                <a:cs typeface="Arial Narrow"/>
              </a:rPr>
              <a:t> </a:t>
            </a:r>
            <a:r>
              <a:rPr dirty="0" sz="3100" spc="-70">
                <a:latin typeface="Arial Narrow"/>
                <a:cs typeface="Arial Narrow"/>
              </a:rPr>
              <a:t>unsolved </a:t>
            </a:r>
            <a:r>
              <a:rPr dirty="0" sz="2950" spc="-40">
                <a:latin typeface="Arial Narrow"/>
                <a:cs typeface="Arial Narrow"/>
              </a:rPr>
              <a:t>problem...</a:t>
            </a:r>
            <a:r>
              <a:rPr dirty="0" sz="2950" spc="-60">
                <a:latin typeface="Arial Narrow"/>
                <a:cs typeface="Arial Narrow"/>
              </a:rPr>
              <a:t> </a:t>
            </a:r>
            <a:r>
              <a:rPr dirty="0" sz="2950">
                <a:latin typeface="Arial Narrow"/>
                <a:cs typeface="Arial Narrow"/>
              </a:rPr>
              <a:t>It's</a:t>
            </a:r>
            <a:r>
              <a:rPr dirty="0" sz="2950" spc="-114">
                <a:latin typeface="Arial Narrow"/>
                <a:cs typeface="Arial Narrow"/>
              </a:rPr>
              <a:t> </a:t>
            </a:r>
            <a:r>
              <a:rPr dirty="0" sz="2950" spc="-45">
                <a:latin typeface="Arial Narrow"/>
                <a:cs typeface="Arial Narrow"/>
              </a:rPr>
              <a:t>rare</a:t>
            </a:r>
            <a:r>
              <a:rPr dirty="0" sz="2950" spc="-50">
                <a:latin typeface="Arial Narrow"/>
                <a:cs typeface="Arial Narrow"/>
              </a:rPr>
              <a:t> </a:t>
            </a:r>
            <a:r>
              <a:rPr dirty="0" sz="2950">
                <a:latin typeface="Arial Narrow"/>
                <a:cs typeface="Arial Narrow"/>
              </a:rPr>
              <a:t>that</a:t>
            </a:r>
            <a:r>
              <a:rPr dirty="0" sz="2950" spc="-30">
                <a:latin typeface="Arial Narrow"/>
                <a:cs typeface="Arial Narrow"/>
              </a:rPr>
              <a:t> </a:t>
            </a:r>
            <a:r>
              <a:rPr dirty="0" sz="2950" spc="-110">
                <a:latin typeface="Arial Narrow"/>
                <a:cs typeface="Arial Narrow"/>
              </a:rPr>
              <a:t>a</a:t>
            </a:r>
            <a:r>
              <a:rPr dirty="0" sz="2950" spc="-90">
                <a:latin typeface="Arial Narrow"/>
                <a:cs typeface="Arial Narrow"/>
              </a:rPr>
              <a:t> </a:t>
            </a:r>
            <a:r>
              <a:rPr dirty="0" sz="2950">
                <a:latin typeface="Arial Narrow"/>
                <a:cs typeface="Arial Narrow"/>
              </a:rPr>
              <a:t>team</a:t>
            </a:r>
            <a:r>
              <a:rPr dirty="0" sz="2950" spc="55">
                <a:latin typeface="Arial Narrow"/>
                <a:cs typeface="Arial Narrow"/>
              </a:rPr>
              <a:t> </a:t>
            </a:r>
            <a:r>
              <a:rPr dirty="0" sz="2950">
                <a:latin typeface="Arial Narrow"/>
                <a:cs typeface="Arial Narrow"/>
              </a:rPr>
              <a:t>with</a:t>
            </a:r>
            <a:r>
              <a:rPr dirty="0" sz="2950" spc="-80">
                <a:latin typeface="Arial Narrow"/>
                <a:cs typeface="Arial Narrow"/>
              </a:rPr>
              <a:t> </a:t>
            </a:r>
            <a:r>
              <a:rPr dirty="0" sz="2950" spc="-20">
                <a:latin typeface="Arial Narrow"/>
                <a:cs typeface="Arial Narrow"/>
              </a:rPr>
              <a:t>such </a:t>
            </a:r>
            <a:r>
              <a:rPr dirty="0" sz="3200" spc="-150">
                <a:latin typeface="Arial Narrow"/>
                <a:cs typeface="Arial Narrow"/>
              </a:rPr>
              <a:t>achievements</a:t>
            </a:r>
            <a:r>
              <a:rPr dirty="0" sz="3200" spc="-30">
                <a:latin typeface="Arial Narrow"/>
                <a:cs typeface="Arial Narrow"/>
              </a:rPr>
              <a:t> </a:t>
            </a:r>
            <a:r>
              <a:rPr dirty="0" sz="3200" spc="-45">
                <a:latin typeface="Arial Narrow"/>
                <a:cs typeface="Arial Narrow"/>
              </a:rPr>
              <a:t>will</a:t>
            </a:r>
            <a:r>
              <a:rPr dirty="0" sz="3200" spc="-135">
                <a:latin typeface="Arial Narrow"/>
                <a:cs typeface="Arial Narrow"/>
              </a:rPr>
              <a:t> </a:t>
            </a:r>
            <a:r>
              <a:rPr dirty="0" sz="3200" spc="-85">
                <a:latin typeface="Arial Narrow"/>
                <a:cs typeface="Arial Narrow"/>
              </a:rPr>
              <a:t>join</a:t>
            </a:r>
            <a:r>
              <a:rPr dirty="0" sz="3200" spc="-95">
                <a:latin typeface="Arial Narrow"/>
                <a:cs typeface="Arial Narrow"/>
              </a:rPr>
              <a:t> </a:t>
            </a:r>
            <a:r>
              <a:rPr dirty="0" sz="3200" spc="-125">
                <a:latin typeface="Arial Narrow"/>
                <a:cs typeface="Arial Narrow"/>
              </a:rPr>
              <a:t>forces</a:t>
            </a:r>
            <a:r>
              <a:rPr dirty="0" sz="3200" spc="-55">
                <a:latin typeface="Arial Narrow"/>
                <a:cs typeface="Arial Narrow"/>
              </a:rPr>
              <a:t> </a:t>
            </a:r>
            <a:r>
              <a:rPr dirty="0" sz="3200">
                <a:latin typeface="Arial Narrow"/>
                <a:cs typeface="Arial Narrow"/>
              </a:rPr>
              <a:t>to</a:t>
            </a:r>
            <a:r>
              <a:rPr dirty="0" sz="3200" spc="-114">
                <a:latin typeface="Arial Narrow"/>
                <a:cs typeface="Arial Narrow"/>
              </a:rPr>
              <a:t> </a:t>
            </a:r>
            <a:r>
              <a:rPr dirty="0" sz="3200" spc="-10">
                <a:latin typeface="Arial Narrow"/>
                <a:cs typeface="Arial Narrow"/>
              </a:rPr>
              <a:t>startup.”</a:t>
            </a:r>
            <a:endParaRPr sz="3200">
              <a:latin typeface="Arial Narrow"/>
              <a:cs typeface="Arial Narrow"/>
            </a:endParaRPr>
          </a:p>
          <a:p>
            <a:pPr marL="12700">
              <a:lnSpc>
                <a:spcPts val="3195"/>
              </a:lnSpc>
              <a:spcBef>
                <a:spcPts val="810"/>
              </a:spcBef>
            </a:pPr>
            <a:r>
              <a:rPr dirty="0" sz="2950" spc="-65">
                <a:latin typeface="Arial Narrow"/>
                <a:cs typeface="Arial Narrow"/>
              </a:rPr>
              <a:t>Shailendra</a:t>
            </a:r>
            <a:r>
              <a:rPr dirty="0" sz="2950" spc="-70">
                <a:latin typeface="Arial Narrow"/>
                <a:cs typeface="Arial Narrow"/>
              </a:rPr>
              <a:t> </a:t>
            </a:r>
            <a:r>
              <a:rPr dirty="0" sz="2950" spc="-10">
                <a:latin typeface="Arial Narrow"/>
                <a:cs typeface="Arial Narrow"/>
              </a:rPr>
              <a:t>Singh</a:t>
            </a:r>
            <a:endParaRPr sz="2950">
              <a:latin typeface="Arial Narrow"/>
              <a:cs typeface="Arial Narrow"/>
            </a:endParaRPr>
          </a:p>
          <a:p>
            <a:pPr marL="17780">
              <a:lnSpc>
                <a:spcPts val="2955"/>
              </a:lnSpc>
            </a:pPr>
            <a:r>
              <a:rPr dirty="0" sz="2750" spc="-45">
                <a:latin typeface="Arial Narrow"/>
                <a:cs typeface="Arial Narrow"/>
              </a:rPr>
              <a:t>Managing</a:t>
            </a:r>
            <a:r>
              <a:rPr dirty="0" sz="2750" spc="-114">
                <a:latin typeface="Arial Narrow"/>
                <a:cs typeface="Arial Narrow"/>
              </a:rPr>
              <a:t> </a:t>
            </a:r>
            <a:r>
              <a:rPr dirty="0" sz="2750" spc="-30">
                <a:latin typeface="Arial Narrow"/>
                <a:cs typeface="Arial Narrow"/>
              </a:rPr>
              <a:t>Director</a:t>
            </a:r>
            <a:r>
              <a:rPr dirty="0" sz="2750" spc="-100">
                <a:latin typeface="Arial Narrow"/>
                <a:cs typeface="Arial Narrow"/>
              </a:rPr>
              <a:t> </a:t>
            </a:r>
            <a:r>
              <a:rPr dirty="0" sz="2750">
                <a:latin typeface="Arial Narrow"/>
                <a:cs typeface="Arial Narrow"/>
              </a:rPr>
              <a:t>at</a:t>
            </a:r>
            <a:r>
              <a:rPr dirty="0" sz="2750" spc="-155">
                <a:latin typeface="Arial Narrow"/>
                <a:cs typeface="Arial Narrow"/>
              </a:rPr>
              <a:t> </a:t>
            </a:r>
            <a:r>
              <a:rPr dirty="0" sz="2750" spc="-65">
                <a:latin typeface="Arial Narrow"/>
                <a:cs typeface="Arial Narrow"/>
              </a:rPr>
              <a:t>Sequoia</a:t>
            </a:r>
            <a:r>
              <a:rPr dirty="0" sz="2750" spc="-45">
                <a:latin typeface="Arial Narrow"/>
                <a:cs typeface="Arial Narrow"/>
              </a:rPr>
              <a:t> </a:t>
            </a:r>
            <a:r>
              <a:rPr dirty="0" sz="2750" spc="-40">
                <a:latin typeface="Arial Narrow"/>
                <a:cs typeface="Arial Narrow"/>
              </a:rPr>
              <a:t>Capital</a:t>
            </a:r>
            <a:r>
              <a:rPr dirty="0" sz="2750" spc="-105">
                <a:latin typeface="Arial Narrow"/>
                <a:cs typeface="Arial Narrow"/>
              </a:rPr>
              <a:t> </a:t>
            </a:r>
            <a:r>
              <a:rPr dirty="0" sz="2750" spc="-10">
                <a:latin typeface="Arial Narrow"/>
                <a:cs typeface="Arial Narrow"/>
              </a:rPr>
              <a:t>India</a:t>
            </a:r>
            <a:endParaRPr sz="275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88700" y="5143500"/>
            <a:ext cx="1854200" cy="22479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58900" y="4965700"/>
            <a:ext cx="2425700" cy="24257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45800" y="1358900"/>
            <a:ext cx="2438400" cy="22860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033500" y="1193800"/>
            <a:ext cx="2476500" cy="2463800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4546600" y="9243483"/>
            <a:ext cx="8399145" cy="0"/>
          </a:xfrm>
          <a:custGeom>
            <a:avLst/>
            <a:gdLst/>
            <a:ahLst/>
            <a:cxnLst/>
            <a:rect l="l" t="t" r="r" b="b"/>
            <a:pathLst>
              <a:path w="8399145" h="0">
                <a:moveTo>
                  <a:pt x="0" y="0"/>
                </a:moveTo>
                <a:lnTo>
                  <a:pt x="8398933" y="0"/>
                </a:lnTo>
              </a:path>
            </a:pathLst>
          </a:custGeom>
          <a:ln w="296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5895" y="781755"/>
            <a:ext cx="8689340" cy="2865755"/>
          </a:xfrm>
          <a:prstGeom prst="rect"/>
        </p:spPr>
        <p:txBody>
          <a:bodyPr wrap="square" lIns="0" tIns="183515" rIns="0" bIns="0" rtlCol="0" vert="horz">
            <a:spAutoFit/>
          </a:bodyPr>
          <a:lstStyle/>
          <a:p>
            <a:pPr marL="12700" marR="5080" indent="6350">
              <a:lnSpc>
                <a:spcPts val="7000"/>
              </a:lnSpc>
              <a:spcBef>
                <a:spcPts val="1445"/>
              </a:spcBef>
            </a:pPr>
            <a:r>
              <a:rPr dirty="0" sz="6950" spc="170">
                <a:solidFill>
                  <a:srgbClr val="282828"/>
                </a:solidFill>
                <a:latin typeface="Cambria"/>
                <a:cs typeface="Cambria"/>
              </a:rPr>
              <a:t>A</a:t>
            </a:r>
            <a:r>
              <a:rPr dirty="0" sz="6950" spc="-34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dirty="0" sz="6950" spc="-380">
                <a:solidFill>
                  <a:srgbClr val="1F1F1F"/>
                </a:solidFill>
                <a:latin typeface="Cambria"/>
                <a:cs typeface="Cambria"/>
              </a:rPr>
              <a:t>team</a:t>
            </a:r>
            <a:r>
              <a:rPr dirty="0" sz="6950" spc="-229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dirty="0" sz="6950" spc="-365">
                <a:solidFill>
                  <a:srgbClr val="1C1C1C"/>
                </a:solidFill>
                <a:latin typeface="Cambria"/>
                <a:cs typeface="Cambria"/>
              </a:rPr>
              <a:t>from</a:t>
            </a:r>
            <a:r>
              <a:rPr dirty="0" sz="6950" spc="-125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dirty="0" sz="6950" spc="-295">
                <a:solidFill>
                  <a:srgbClr val="1C1C1C"/>
                </a:solidFill>
                <a:latin typeface="Cambria"/>
                <a:cs typeface="Cambria"/>
              </a:rPr>
              <a:t>the</a:t>
            </a:r>
            <a:r>
              <a:rPr dirty="0" sz="6950" spc="-215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dirty="0" sz="6950" spc="-360">
                <a:solidFill>
                  <a:srgbClr val="1C1C1C"/>
                </a:solidFill>
                <a:latin typeface="Cambria"/>
                <a:cs typeface="Cambria"/>
              </a:rPr>
              <a:t>highest </a:t>
            </a:r>
            <a:r>
              <a:rPr dirty="0" sz="7050" spc="-440">
                <a:solidFill>
                  <a:srgbClr val="1C1C1C"/>
                </a:solidFill>
                <a:latin typeface="Cambria"/>
                <a:cs typeface="Cambria"/>
              </a:rPr>
              <a:t>levels</a:t>
            </a:r>
            <a:r>
              <a:rPr dirty="0" sz="7050" spc="-235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dirty="0" sz="7050" spc="-155">
                <a:solidFill>
                  <a:srgbClr val="262626"/>
                </a:solidFill>
                <a:latin typeface="Cambria"/>
                <a:cs typeface="Cambria"/>
              </a:rPr>
              <a:t>of</a:t>
            </a:r>
            <a:r>
              <a:rPr dirty="0" sz="7050" spc="-315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dirty="0" sz="7050" spc="-325">
                <a:solidFill>
                  <a:srgbClr val="1A1A1A"/>
                </a:solidFill>
                <a:latin typeface="Cambria"/>
                <a:cs typeface="Cambria"/>
              </a:rPr>
              <a:t>tech</a:t>
            </a:r>
            <a:r>
              <a:rPr dirty="0" sz="7050" spc="-170">
                <a:solidFill>
                  <a:srgbClr val="1A1A1A"/>
                </a:solidFill>
                <a:latin typeface="Cambria"/>
                <a:cs typeface="Cambria"/>
              </a:rPr>
              <a:t> </a:t>
            </a:r>
            <a:r>
              <a:rPr dirty="0" sz="7050" spc="-420">
                <a:solidFill>
                  <a:srgbClr val="1C1C1C"/>
                </a:solidFill>
                <a:latin typeface="Cambria"/>
                <a:cs typeface="Cambria"/>
              </a:rPr>
              <a:t>and</a:t>
            </a:r>
            <a:r>
              <a:rPr dirty="0" sz="7050" spc="-225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dirty="0" sz="7050" spc="-340">
                <a:solidFill>
                  <a:srgbClr val="1D1D1D"/>
                </a:solidFill>
                <a:latin typeface="Cambria"/>
                <a:cs typeface="Cambria"/>
              </a:rPr>
              <a:t>finance. </a:t>
            </a:r>
            <a:r>
              <a:rPr dirty="0" sz="7050" spc="-310">
                <a:solidFill>
                  <a:srgbClr val="1A1A1A"/>
                </a:solidFill>
                <a:latin typeface="Cambria"/>
                <a:cs typeface="Cambria"/>
              </a:rPr>
              <a:t>finance.</a:t>
            </a:r>
            <a:endParaRPr sz="705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6107384" y="9455853"/>
            <a:ext cx="1232535" cy="21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 sz="1300" spc="140">
                <a:latin typeface="Arial"/>
                <a:cs typeface="Arial"/>
              </a:rPr>
              <a:t>G</a:t>
            </a:r>
            <a:r>
              <a:rPr dirty="0" sz="1300" spc="34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 marR="5080" indent="12065">
              <a:lnSpc>
                <a:spcPct val="107000"/>
              </a:lnSpc>
              <a:spcBef>
                <a:spcPts val="125"/>
              </a:spcBef>
              <a:tabLst>
                <a:tab pos="2066289" algn="l"/>
              </a:tabLst>
            </a:pPr>
            <a:r>
              <a:rPr dirty="0" sz="2600"/>
              <a:t>**Why</a:t>
            </a:r>
            <a:r>
              <a:rPr dirty="0" sz="2600" spc="-130"/>
              <a:t> </a:t>
            </a:r>
            <a:r>
              <a:rPr dirty="0" sz="2600" spc="-185"/>
              <a:t>We</a:t>
            </a:r>
            <a:r>
              <a:rPr dirty="0" sz="2600" spc="-50"/>
              <a:t> </a:t>
            </a:r>
            <a:r>
              <a:rPr dirty="0" sz="2600"/>
              <a:t>Left</a:t>
            </a:r>
            <a:r>
              <a:rPr dirty="0" sz="2600" spc="30"/>
              <a:t> </a:t>
            </a:r>
            <a:r>
              <a:rPr dirty="0" sz="2600" spc="-10"/>
              <a:t>Google**:</a:t>
            </a:r>
            <a:r>
              <a:rPr dirty="0" sz="2600" spc="-40"/>
              <a:t> </a:t>
            </a:r>
            <a:r>
              <a:rPr dirty="0" sz="2600" spc="-185"/>
              <a:t>We</a:t>
            </a:r>
            <a:r>
              <a:rPr dirty="0" sz="2600" spc="-50"/>
              <a:t> </a:t>
            </a:r>
            <a:r>
              <a:rPr dirty="0" sz="2600"/>
              <a:t>are</a:t>
            </a:r>
            <a:r>
              <a:rPr dirty="0" sz="2600" spc="-25"/>
              <a:t> </a:t>
            </a:r>
            <a:r>
              <a:rPr dirty="0" sz="2600" spc="-210"/>
              <a:t>a</a:t>
            </a:r>
            <a:r>
              <a:rPr dirty="0" sz="2600" spc="-25"/>
              <a:t> </a:t>
            </a:r>
            <a:r>
              <a:rPr dirty="0" sz="2600"/>
              <a:t>team</a:t>
            </a:r>
            <a:r>
              <a:rPr dirty="0" sz="2600" spc="-55"/>
              <a:t> </a:t>
            </a:r>
            <a:r>
              <a:rPr dirty="0" sz="2600"/>
              <a:t>of</a:t>
            </a:r>
            <a:r>
              <a:rPr dirty="0" sz="2600" spc="35"/>
              <a:t> </a:t>
            </a:r>
            <a:r>
              <a:rPr dirty="0" sz="2600" spc="-10"/>
              <a:t>senior</a:t>
            </a:r>
            <a:r>
              <a:rPr dirty="0" sz="2600" spc="-5"/>
              <a:t> </a:t>
            </a:r>
            <a:r>
              <a:rPr dirty="0" sz="2600" spc="-20"/>
              <a:t>tech </a:t>
            </a:r>
            <a:r>
              <a:rPr dirty="0" spc="-10"/>
              <a:t>professionals</a:t>
            </a:r>
            <a:r>
              <a:rPr dirty="0"/>
              <a:t>	</a:t>
            </a:r>
            <a:r>
              <a:rPr dirty="0" spc="-20"/>
              <a:t>who</a:t>
            </a:r>
            <a:r>
              <a:rPr dirty="0" spc="-150"/>
              <a:t> </a:t>
            </a:r>
            <a:r>
              <a:rPr dirty="0" spc="-50"/>
              <a:t>experienced</a:t>
            </a:r>
            <a:r>
              <a:rPr dirty="0" spc="-95"/>
              <a:t> </a:t>
            </a:r>
            <a:r>
              <a:rPr dirty="0"/>
              <a:t>firsthand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170"/>
              <a:t> </a:t>
            </a:r>
            <a:r>
              <a:rPr dirty="0" spc="-10"/>
              <a:t>challenge </a:t>
            </a:r>
            <a:r>
              <a:rPr dirty="0"/>
              <a:t>of</a:t>
            </a:r>
            <a:r>
              <a:rPr dirty="0" spc="-185"/>
              <a:t> </a:t>
            </a:r>
            <a:r>
              <a:rPr dirty="0" spc="-45"/>
              <a:t>making</a:t>
            </a:r>
            <a:r>
              <a:rPr dirty="0" spc="-60"/>
              <a:t> </a:t>
            </a:r>
            <a:r>
              <a:rPr dirty="0" spc="-25"/>
              <a:t>sophisticated</a:t>
            </a:r>
            <a:r>
              <a:rPr dirty="0" spc="65"/>
              <a:t> </a:t>
            </a:r>
            <a:r>
              <a:rPr dirty="0" spc="-155"/>
              <a:t>wealth—</a:t>
            </a:r>
            <a:r>
              <a:rPr dirty="0" spc="-130"/>
              <a:t>building</a:t>
            </a:r>
            <a:r>
              <a:rPr dirty="0" spc="-105"/>
              <a:t> </a:t>
            </a:r>
            <a:r>
              <a:rPr dirty="0" spc="-20"/>
              <a:t>more </a:t>
            </a:r>
            <a:r>
              <a:rPr dirty="0" sz="2600" spc="-10"/>
              <a:t>accessible.</a:t>
            </a:r>
            <a:r>
              <a:rPr dirty="0" sz="2600" spc="45"/>
              <a:t> </a:t>
            </a:r>
            <a:r>
              <a:rPr dirty="0" sz="2600" spc="-160"/>
              <a:t>We</a:t>
            </a:r>
            <a:r>
              <a:rPr dirty="0" sz="2600" spc="-20"/>
              <a:t> </a:t>
            </a:r>
            <a:r>
              <a:rPr dirty="0" sz="2600"/>
              <a:t>founded</a:t>
            </a:r>
            <a:r>
              <a:rPr dirty="0" sz="2600" spc="75"/>
              <a:t> </a:t>
            </a:r>
            <a:r>
              <a:rPr dirty="0" sz="2600"/>
              <a:t>Arta</a:t>
            </a:r>
            <a:r>
              <a:rPr dirty="0" sz="2600" spc="10"/>
              <a:t> </a:t>
            </a:r>
            <a:r>
              <a:rPr dirty="0" sz="2600"/>
              <a:t>on</a:t>
            </a:r>
            <a:r>
              <a:rPr dirty="0" sz="2600" spc="-105"/>
              <a:t> </a:t>
            </a:r>
            <a:r>
              <a:rPr dirty="0" sz="2600" spc="-210"/>
              <a:t>a</a:t>
            </a:r>
            <a:r>
              <a:rPr dirty="0" sz="2600" spc="-50"/>
              <a:t> </a:t>
            </a:r>
            <a:r>
              <a:rPr dirty="0" sz="2600"/>
              <a:t>mission</a:t>
            </a:r>
            <a:r>
              <a:rPr dirty="0" sz="2600" spc="50"/>
              <a:t> </a:t>
            </a:r>
            <a:r>
              <a:rPr dirty="0" sz="2600" spc="60"/>
              <a:t>to</a:t>
            </a:r>
            <a:r>
              <a:rPr dirty="0" sz="2600" spc="-120"/>
              <a:t> </a:t>
            </a:r>
            <a:r>
              <a:rPr dirty="0" sz="2600"/>
              <a:t>build</a:t>
            </a:r>
            <a:r>
              <a:rPr dirty="0" sz="2600" spc="-45"/>
              <a:t> </a:t>
            </a:r>
            <a:r>
              <a:rPr dirty="0" sz="2600" spc="-25"/>
              <a:t>the </a:t>
            </a:r>
            <a:r>
              <a:rPr dirty="0"/>
              <a:t>platform</a:t>
            </a:r>
            <a:r>
              <a:rPr dirty="0" spc="-180"/>
              <a:t> </a:t>
            </a:r>
            <a:r>
              <a:rPr dirty="0" spc="-30"/>
              <a:t>we</a:t>
            </a:r>
            <a:r>
              <a:rPr dirty="0" spc="-160"/>
              <a:t> </a:t>
            </a:r>
            <a:r>
              <a:rPr dirty="0" spc="-30"/>
              <a:t>wished</a:t>
            </a:r>
            <a:r>
              <a:rPr dirty="0" spc="-65"/>
              <a:t> </a:t>
            </a:r>
            <a:r>
              <a:rPr dirty="0" spc="-100"/>
              <a:t>we</a:t>
            </a:r>
            <a:r>
              <a:rPr dirty="0" spc="-85"/>
              <a:t> </a:t>
            </a:r>
            <a:r>
              <a:rPr dirty="0" spc="-20"/>
              <a:t>had</a:t>
            </a:r>
            <a:r>
              <a:rPr dirty="0" spc="-130"/>
              <a:t> </a:t>
            </a:r>
            <a:r>
              <a:rPr dirty="0"/>
              <a:t>for</a:t>
            </a:r>
            <a:r>
              <a:rPr dirty="0" spc="-175"/>
              <a:t> </a:t>
            </a:r>
            <a:r>
              <a:rPr dirty="0" spc="-70"/>
              <a:t>ourselves—</a:t>
            </a:r>
            <a:r>
              <a:rPr dirty="0" spc="-50"/>
              <a:t>uniting</a:t>
            </a:r>
            <a:r>
              <a:rPr dirty="0" spc="-140"/>
              <a:t> </a:t>
            </a:r>
            <a:r>
              <a:rPr dirty="0" spc="-20"/>
              <a:t>deep </a:t>
            </a:r>
            <a:r>
              <a:rPr dirty="0"/>
              <a:t>tech</a:t>
            </a:r>
            <a:r>
              <a:rPr dirty="0" spc="-140"/>
              <a:t> </a:t>
            </a:r>
            <a:r>
              <a:rPr dirty="0" spc="-35"/>
              <a:t>expertise</a:t>
            </a:r>
            <a:r>
              <a:rPr dirty="0" spc="50"/>
              <a:t> </a:t>
            </a:r>
            <a:r>
              <a:rPr dirty="0"/>
              <a:t>with</a:t>
            </a:r>
            <a:r>
              <a:rPr dirty="0" spc="-155"/>
              <a:t> </a:t>
            </a:r>
            <a:r>
              <a:rPr dirty="0" spc="-25"/>
              <a:t>institutional</a:t>
            </a:r>
            <a:r>
              <a:rPr dirty="0" spc="-60"/>
              <a:t> </a:t>
            </a:r>
            <a:r>
              <a:rPr dirty="0" spc="-40"/>
              <a:t>financial</a:t>
            </a:r>
            <a:r>
              <a:rPr dirty="0" spc="-85"/>
              <a:t> </a:t>
            </a:r>
            <a:r>
              <a:rPr dirty="0" spc="-100"/>
              <a:t>acumen</a:t>
            </a:r>
            <a:r>
              <a:rPr dirty="0" spc="-85"/>
              <a:t> </a:t>
            </a:r>
            <a:r>
              <a:rPr dirty="0"/>
              <a:t>to</a:t>
            </a:r>
            <a:r>
              <a:rPr dirty="0" spc="-120"/>
              <a:t> </a:t>
            </a:r>
            <a:r>
              <a:rPr dirty="0" spc="-20"/>
              <a:t>open </a:t>
            </a:r>
            <a:r>
              <a:rPr dirty="0" sz="2600"/>
              <a:t>up</a:t>
            </a:r>
            <a:r>
              <a:rPr dirty="0" sz="2600" spc="-110"/>
              <a:t> </a:t>
            </a:r>
            <a:r>
              <a:rPr dirty="0" sz="2600"/>
              <a:t>a</a:t>
            </a:r>
            <a:r>
              <a:rPr dirty="0" sz="2600" spc="-10"/>
              <a:t> </a:t>
            </a:r>
            <a:r>
              <a:rPr dirty="0" sz="2600"/>
              <a:t>new</a:t>
            </a:r>
            <a:r>
              <a:rPr dirty="0" sz="2600" spc="80"/>
              <a:t> </a:t>
            </a:r>
            <a:r>
              <a:rPr dirty="0" sz="2600"/>
              <a:t>world</a:t>
            </a:r>
            <a:r>
              <a:rPr dirty="0" sz="2600" spc="-65"/>
              <a:t> </a:t>
            </a:r>
            <a:r>
              <a:rPr dirty="0" sz="2600"/>
              <a:t>of</a:t>
            </a:r>
            <a:r>
              <a:rPr dirty="0" sz="2600" spc="55"/>
              <a:t> </a:t>
            </a:r>
            <a:r>
              <a:rPr dirty="0" sz="2600" spc="-10"/>
              <a:t>opportunity.</a:t>
            </a:r>
            <a:endParaRPr sz="2600"/>
          </a:p>
        </p:txBody>
      </p:sp>
      <p:sp>
        <p:nvSpPr>
          <p:cNvPr id="9" name="object 9" descr=""/>
          <p:cNvSpPr txBox="1"/>
          <p:nvPr/>
        </p:nvSpPr>
        <p:spPr>
          <a:xfrm>
            <a:off x="10958303" y="3785658"/>
            <a:ext cx="2197100" cy="72390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 indent="203200">
              <a:lnSpc>
                <a:spcPts val="2750"/>
              </a:lnSpc>
              <a:spcBef>
                <a:spcPts val="190"/>
              </a:spcBef>
            </a:pPr>
            <a:r>
              <a:rPr dirty="0" sz="2300" spc="-25">
                <a:latin typeface="Arial"/>
                <a:cs typeface="Arial"/>
              </a:rPr>
              <a:t>Chirag</a:t>
            </a:r>
            <a:r>
              <a:rPr dirty="0" sz="2300" spc="-130">
                <a:latin typeface="Arial"/>
                <a:cs typeface="Arial"/>
              </a:rPr>
              <a:t> </a:t>
            </a:r>
            <a:r>
              <a:rPr dirty="0" sz="2300" spc="-10">
                <a:latin typeface="Arial"/>
                <a:cs typeface="Arial"/>
              </a:rPr>
              <a:t>Yagnik </a:t>
            </a:r>
            <a:r>
              <a:rPr dirty="0" sz="2300" spc="-80">
                <a:latin typeface="Arial"/>
                <a:cs typeface="Arial"/>
              </a:rPr>
              <a:t>Co-</a:t>
            </a:r>
            <a:r>
              <a:rPr dirty="0" sz="2300" spc="-35">
                <a:latin typeface="Arial"/>
                <a:cs typeface="Arial"/>
              </a:rPr>
              <a:t>founder</a:t>
            </a:r>
            <a:r>
              <a:rPr dirty="0" sz="2300" spc="-10">
                <a:latin typeface="Arial"/>
                <a:cs typeface="Arial"/>
              </a:rPr>
              <a:t> </a:t>
            </a:r>
            <a:r>
              <a:rPr dirty="0" sz="2300" spc="-254">
                <a:latin typeface="Arial"/>
                <a:cs typeface="Arial"/>
              </a:rPr>
              <a:t>&amp;</a:t>
            </a:r>
            <a:r>
              <a:rPr dirty="0" sz="2300" spc="-55">
                <a:latin typeface="Arial"/>
                <a:cs typeface="Arial"/>
              </a:rPr>
              <a:t> </a:t>
            </a:r>
            <a:r>
              <a:rPr dirty="0" sz="2300" spc="-180">
                <a:latin typeface="Arial"/>
                <a:cs typeface="Arial"/>
              </a:rPr>
              <a:t>CIO</a:t>
            </a:r>
            <a:endParaRPr sz="23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252193" y="3794477"/>
            <a:ext cx="2009775" cy="71374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 marR="5080" indent="343535">
              <a:lnSpc>
                <a:spcPct val="104200"/>
              </a:lnSpc>
              <a:spcBef>
                <a:spcPts val="10"/>
              </a:spcBef>
            </a:pPr>
            <a:r>
              <a:rPr dirty="0" sz="2200">
                <a:latin typeface="Arial"/>
                <a:cs typeface="Arial"/>
              </a:rPr>
              <a:t>Nita</a:t>
            </a:r>
            <a:r>
              <a:rPr dirty="0" sz="2200" spc="2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Singh </a:t>
            </a:r>
            <a:r>
              <a:rPr dirty="0" sz="2200" spc="-30">
                <a:latin typeface="Arial"/>
                <a:cs typeface="Arial"/>
              </a:rPr>
              <a:t>Head</a:t>
            </a:r>
            <a:r>
              <a:rPr dirty="0" sz="2200" spc="-4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of</a:t>
            </a:r>
            <a:r>
              <a:rPr dirty="0" sz="2200" spc="-45">
                <a:latin typeface="Arial"/>
                <a:cs typeface="Arial"/>
              </a:rPr>
              <a:t> </a:t>
            </a:r>
            <a:r>
              <a:rPr dirty="0" sz="2200" spc="-25">
                <a:latin typeface="Arial"/>
                <a:cs typeface="Arial"/>
              </a:rPr>
              <a:t>Product</a:t>
            </a:r>
            <a:endParaRPr sz="22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795680" y="7527219"/>
            <a:ext cx="2500630" cy="75184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 marR="5080" indent="381000">
              <a:lnSpc>
                <a:spcPts val="2800"/>
              </a:lnSpc>
              <a:spcBef>
                <a:spcPts val="290"/>
              </a:spcBef>
            </a:pPr>
            <a:r>
              <a:rPr dirty="0" sz="2400" spc="-175">
                <a:latin typeface="Arial"/>
                <a:cs typeface="Arial"/>
              </a:rPr>
              <a:t>Rajesh</a:t>
            </a:r>
            <a:r>
              <a:rPr dirty="0" sz="2400" spc="1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Kumar </a:t>
            </a:r>
            <a:r>
              <a:rPr dirty="0" sz="2400" spc="-204">
                <a:latin typeface="Arial"/>
                <a:cs typeface="Arial"/>
              </a:rPr>
              <a:t>Head</a:t>
            </a:r>
            <a:r>
              <a:rPr dirty="0" sz="2400" spc="35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of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45">
                <a:latin typeface="Arial"/>
                <a:cs typeface="Arial"/>
              </a:rPr>
              <a:t>Engineering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059585" y="7527219"/>
            <a:ext cx="2392680" cy="75184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 marR="5080" indent="456565">
              <a:lnSpc>
                <a:spcPts val="2800"/>
              </a:lnSpc>
              <a:spcBef>
                <a:spcPts val="290"/>
              </a:spcBef>
            </a:pPr>
            <a:r>
              <a:rPr dirty="0" sz="2400" spc="-135">
                <a:latin typeface="Arial"/>
                <a:cs typeface="Arial"/>
              </a:rPr>
              <a:t>Anya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Gupta </a:t>
            </a:r>
            <a:r>
              <a:rPr dirty="0" sz="2400" spc="-204">
                <a:latin typeface="Arial"/>
                <a:cs typeface="Arial"/>
              </a:rPr>
              <a:t>Head</a:t>
            </a:r>
            <a:r>
              <a:rPr dirty="0" sz="2400" spc="25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of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30">
                <a:latin typeface="Arial"/>
                <a:cs typeface="Arial"/>
              </a:rPr>
              <a:t>Operations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513256" y="8667397"/>
            <a:ext cx="8443595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100">
                <a:latin typeface="Arial"/>
                <a:cs typeface="Arial"/>
              </a:rPr>
              <a:t>Professionals</a:t>
            </a:r>
            <a:r>
              <a:rPr dirty="0" sz="3400" spc="-55">
                <a:latin typeface="Arial"/>
                <a:cs typeface="Arial"/>
              </a:rPr>
              <a:t> </a:t>
            </a:r>
            <a:r>
              <a:rPr dirty="0" sz="3400" spc="-60">
                <a:latin typeface="Arial"/>
                <a:cs typeface="Arial"/>
              </a:rPr>
              <a:t>from</a:t>
            </a:r>
            <a:r>
              <a:rPr dirty="0" sz="3400" spc="-180">
                <a:latin typeface="Arial"/>
                <a:cs typeface="Arial"/>
              </a:rPr>
              <a:t> </a:t>
            </a:r>
            <a:r>
              <a:rPr dirty="0" sz="3400" spc="-55">
                <a:latin typeface="Arial"/>
                <a:cs typeface="Arial"/>
              </a:rPr>
              <a:t>global</a:t>
            </a:r>
            <a:r>
              <a:rPr dirty="0" sz="3400" spc="-114">
                <a:latin typeface="Arial"/>
                <a:cs typeface="Arial"/>
              </a:rPr>
              <a:t> </a:t>
            </a:r>
            <a:r>
              <a:rPr dirty="0" sz="3400" spc="-100">
                <a:latin typeface="Arial"/>
                <a:cs typeface="Arial"/>
              </a:rPr>
              <a:t>companies</a:t>
            </a:r>
            <a:r>
              <a:rPr dirty="0" sz="3400" spc="-60">
                <a:latin typeface="Arial"/>
                <a:cs typeface="Arial"/>
              </a:rPr>
              <a:t> </a:t>
            </a:r>
            <a:r>
              <a:rPr dirty="0" sz="3400" spc="-100">
                <a:latin typeface="Arial"/>
                <a:cs typeface="Arial"/>
              </a:rPr>
              <a:t>use</a:t>
            </a:r>
            <a:r>
              <a:rPr dirty="0" sz="3400" spc="-140">
                <a:latin typeface="Arial"/>
                <a:cs typeface="Arial"/>
              </a:rPr>
              <a:t> </a:t>
            </a:r>
            <a:r>
              <a:rPr dirty="0" sz="3400" spc="-35">
                <a:latin typeface="Arial"/>
                <a:cs typeface="Arial"/>
              </a:rPr>
              <a:t>Arta.</a:t>
            </a:r>
            <a:endParaRPr sz="3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41400" y="5702300"/>
            <a:ext cx="406400" cy="1905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87200" y="1003300"/>
            <a:ext cx="1181100" cy="11684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01700" y="1003300"/>
            <a:ext cx="1193800" cy="11938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328900" y="1003300"/>
            <a:ext cx="1193800" cy="1193800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13716000" y="7376583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4" h="0">
                <a:moveTo>
                  <a:pt x="0" y="0"/>
                </a:moveTo>
                <a:lnTo>
                  <a:pt x="334433" y="0"/>
                </a:lnTo>
              </a:path>
            </a:pathLst>
          </a:custGeom>
          <a:ln w="29633">
            <a:solidFill>
              <a:srgbClr val="38343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4363700" y="6805083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4" h="0">
                <a:moveTo>
                  <a:pt x="0" y="0"/>
                </a:moveTo>
                <a:lnTo>
                  <a:pt x="334433" y="0"/>
                </a:lnTo>
              </a:path>
            </a:pathLst>
          </a:custGeom>
          <a:ln w="42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10553700" y="4889500"/>
            <a:ext cx="469900" cy="292100"/>
            <a:chOff x="10553700" y="4889500"/>
            <a:chExt cx="469900" cy="292100"/>
          </a:xfrm>
        </p:grpSpPr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53700" y="4889500"/>
              <a:ext cx="177800" cy="11430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44200" y="5003800"/>
              <a:ext cx="279400" cy="177800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901974" y="690033"/>
            <a:ext cx="7256780" cy="1549400"/>
          </a:xfrm>
          <a:prstGeom prst="rect"/>
        </p:spPr>
        <p:txBody>
          <a:bodyPr wrap="square" lIns="0" tIns="141605" rIns="0" bIns="0" rtlCol="0" vert="horz">
            <a:spAutoFit/>
          </a:bodyPr>
          <a:lstStyle/>
          <a:p>
            <a:pPr marL="12700" marR="5080" indent="2540">
              <a:lnSpc>
                <a:spcPts val="5500"/>
              </a:lnSpc>
              <a:spcBef>
                <a:spcPts val="1115"/>
              </a:spcBef>
            </a:pPr>
            <a:r>
              <a:rPr dirty="0" sz="5400" spc="-275">
                <a:solidFill>
                  <a:srgbClr val="000000"/>
                </a:solidFill>
                <a:latin typeface="Cambria"/>
                <a:cs typeface="Cambria"/>
              </a:rPr>
              <a:t>Join</a:t>
            </a:r>
            <a:r>
              <a:rPr dirty="0" sz="5400" spc="-10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5400" spc="-165">
                <a:solidFill>
                  <a:srgbClr val="151515"/>
                </a:solidFill>
                <a:latin typeface="Cambria"/>
                <a:cs typeface="Cambria"/>
              </a:rPr>
              <a:t>a</a:t>
            </a:r>
            <a:r>
              <a:rPr dirty="0" sz="5400" spc="-340">
                <a:solidFill>
                  <a:srgbClr val="151515"/>
                </a:solidFill>
                <a:latin typeface="Cambria"/>
                <a:cs typeface="Cambria"/>
              </a:rPr>
              <a:t> </a:t>
            </a:r>
            <a:r>
              <a:rPr dirty="0" sz="5400" spc="-355">
                <a:solidFill>
                  <a:srgbClr val="000000"/>
                </a:solidFill>
                <a:latin typeface="Cambria"/>
                <a:cs typeface="Cambria"/>
              </a:rPr>
              <a:t>community</a:t>
            </a:r>
            <a:r>
              <a:rPr dirty="0" sz="5400" spc="25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5400" spc="-320">
                <a:solidFill>
                  <a:srgbClr val="000000"/>
                </a:solidFill>
                <a:latin typeface="Cambria"/>
                <a:cs typeface="Cambria"/>
              </a:rPr>
              <a:t>dedicated </a:t>
            </a:r>
            <a:r>
              <a:rPr dirty="0" sz="5400" spc="-175">
                <a:solidFill>
                  <a:srgbClr val="000000"/>
                </a:solidFill>
                <a:latin typeface="Cambria"/>
                <a:cs typeface="Cambria"/>
              </a:rPr>
              <a:t>to</a:t>
            </a:r>
            <a:r>
              <a:rPr dirty="0" sz="5400" spc="-29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5400" spc="-315">
                <a:solidFill>
                  <a:srgbClr val="000000"/>
                </a:solidFill>
                <a:latin typeface="Cambria"/>
                <a:cs typeface="Cambria"/>
              </a:rPr>
              <a:t>building</a:t>
            </a:r>
            <a:r>
              <a:rPr dirty="0" sz="5400" spc="125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5400" spc="-355">
                <a:solidFill>
                  <a:srgbClr val="000000"/>
                </a:solidFill>
                <a:latin typeface="Cambria"/>
                <a:cs typeface="Cambria"/>
              </a:rPr>
              <a:t>wealth.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09439" y="2443007"/>
            <a:ext cx="5253355" cy="15125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 marR="5080" indent="2540">
              <a:lnSpc>
                <a:spcPct val="108700"/>
              </a:lnSpc>
              <a:spcBef>
                <a:spcPts val="140"/>
              </a:spcBef>
            </a:pPr>
            <a:r>
              <a:rPr dirty="0" sz="2150" spc="-80">
                <a:latin typeface="Arial"/>
                <a:cs typeface="Arial"/>
              </a:rPr>
              <a:t>Grow</a:t>
            </a:r>
            <a:r>
              <a:rPr dirty="0" sz="2150" spc="-70">
                <a:latin typeface="Arial"/>
                <a:cs typeface="Arial"/>
              </a:rPr>
              <a:t> </a:t>
            </a:r>
            <a:r>
              <a:rPr dirty="0" sz="2150" spc="-55">
                <a:latin typeface="Arial"/>
                <a:cs typeface="Arial"/>
              </a:rPr>
              <a:t>your</a:t>
            </a:r>
            <a:r>
              <a:rPr dirty="0" sz="2150" spc="-95">
                <a:latin typeface="Arial"/>
                <a:cs typeface="Arial"/>
              </a:rPr>
              <a:t> </a:t>
            </a:r>
            <a:r>
              <a:rPr dirty="0" sz="2150" spc="-75">
                <a:latin typeface="Arial"/>
                <a:cs typeface="Arial"/>
              </a:rPr>
              <a:t>knowledge</a:t>
            </a:r>
            <a:r>
              <a:rPr dirty="0" sz="2150" spc="-30">
                <a:latin typeface="Arial"/>
                <a:cs typeface="Arial"/>
              </a:rPr>
              <a:t> </a:t>
            </a:r>
            <a:r>
              <a:rPr dirty="0" sz="2150" spc="-50">
                <a:latin typeface="Arial"/>
                <a:cs typeface="Arial"/>
              </a:rPr>
              <a:t>alongside</a:t>
            </a:r>
            <a:r>
              <a:rPr dirty="0" sz="2150" spc="-30">
                <a:latin typeface="Arial"/>
                <a:cs typeface="Arial"/>
              </a:rPr>
              <a:t> </a:t>
            </a:r>
            <a:r>
              <a:rPr dirty="0" sz="2150" spc="-180">
                <a:latin typeface="Arial"/>
                <a:cs typeface="Arial"/>
              </a:rPr>
              <a:t>a</a:t>
            </a:r>
            <a:r>
              <a:rPr dirty="0" sz="2150" spc="-85">
                <a:latin typeface="Arial"/>
                <a:cs typeface="Arial"/>
              </a:rPr>
              <a:t> </a:t>
            </a:r>
            <a:r>
              <a:rPr dirty="0" sz="2150" spc="-10">
                <a:latin typeface="Arial"/>
                <a:cs typeface="Arial"/>
              </a:rPr>
              <a:t>vetted </a:t>
            </a:r>
            <a:r>
              <a:rPr dirty="0" sz="2300" spc="-140">
                <a:latin typeface="Arial"/>
                <a:cs typeface="Arial"/>
              </a:rPr>
              <a:t>community</a:t>
            </a:r>
            <a:r>
              <a:rPr dirty="0" sz="2300" spc="130">
                <a:latin typeface="Arial"/>
                <a:cs typeface="Arial"/>
              </a:rPr>
              <a:t> </a:t>
            </a:r>
            <a:r>
              <a:rPr dirty="0" sz="2300" spc="-145">
                <a:latin typeface="Arial"/>
                <a:cs typeface="Arial"/>
              </a:rPr>
              <a:t>of</a:t>
            </a:r>
            <a:r>
              <a:rPr dirty="0" sz="2300" spc="-5">
                <a:latin typeface="Arial"/>
                <a:cs typeface="Arial"/>
              </a:rPr>
              <a:t> </a:t>
            </a:r>
            <a:r>
              <a:rPr dirty="0" sz="2300" spc="-114">
                <a:latin typeface="Arial"/>
                <a:cs typeface="Arial"/>
              </a:rPr>
              <a:t>Arta</a:t>
            </a:r>
            <a:r>
              <a:rPr dirty="0" sz="2300" spc="-100">
                <a:latin typeface="Arial"/>
                <a:cs typeface="Arial"/>
              </a:rPr>
              <a:t> </a:t>
            </a:r>
            <a:r>
              <a:rPr dirty="0" sz="2300" spc="-185">
                <a:latin typeface="Arial"/>
                <a:cs typeface="Arial"/>
              </a:rPr>
              <a:t>members</a:t>
            </a:r>
            <a:r>
              <a:rPr dirty="0" sz="2300" spc="-65">
                <a:latin typeface="Arial"/>
                <a:cs typeface="Arial"/>
              </a:rPr>
              <a:t> </a:t>
            </a:r>
            <a:r>
              <a:rPr dirty="0" sz="2300" spc="-150">
                <a:latin typeface="Arial"/>
                <a:cs typeface="Arial"/>
              </a:rPr>
              <a:t>and</a:t>
            </a:r>
            <a:r>
              <a:rPr dirty="0" sz="2300" spc="-170">
                <a:latin typeface="Arial"/>
                <a:cs typeface="Arial"/>
              </a:rPr>
              <a:t> </a:t>
            </a:r>
            <a:r>
              <a:rPr dirty="0" sz="2300" spc="-125">
                <a:latin typeface="Arial"/>
                <a:cs typeface="Arial"/>
              </a:rPr>
              <a:t>experts.</a:t>
            </a:r>
            <a:r>
              <a:rPr dirty="0" sz="2300" spc="-190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Get </a:t>
            </a:r>
            <a:r>
              <a:rPr dirty="0" sz="2300" spc="-95">
                <a:latin typeface="Arial"/>
                <a:cs typeface="Arial"/>
              </a:rPr>
              <a:t>direct</a:t>
            </a:r>
            <a:r>
              <a:rPr dirty="0" sz="2300" spc="-15">
                <a:latin typeface="Arial"/>
                <a:cs typeface="Arial"/>
              </a:rPr>
              <a:t> </a:t>
            </a:r>
            <a:r>
              <a:rPr dirty="0" sz="2300" spc="-170">
                <a:latin typeface="Arial"/>
                <a:cs typeface="Arial"/>
              </a:rPr>
              <a:t>access</a:t>
            </a:r>
            <a:r>
              <a:rPr dirty="0" sz="2300" spc="15">
                <a:latin typeface="Arial"/>
                <a:cs typeface="Arial"/>
              </a:rPr>
              <a:t> </a:t>
            </a:r>
            <a:r>
              <a:rPr dirty="0" sz="2300" spc="-85">
                <a:latin typeface="Arial"/>
                <a:cs typeface="Arial"/>
              </a:rPr>
              <a:t>to</a:t>
            </a:r>
            <a:r>
              <a:rPr dirty="0" sz="2300" spc="-110">
                <a:latin typeface="Arial"/>
                <a:cs typeface="Arial"/>
              </a:rPr>
              <a:t> </a:t>
            </a:r>
            <a:r>
              <a:rPr dirty="0" sz="2300" spc="-105">
                <a:latin typeface="Arial"/>
                <a:cs typeface="Arial"/>
              </a:rPr>
              <a:t>insights</a:t>
            </a:r>
            <a:r>
              <a:rPr dirty="0" sz="2300" spc="-60">
                <a:latin typeface="Arial"/>
                <a:cs typeface="Arial"/>
              </a:rPr>
              <a:t> </a:t>
            </a:r>
            <a:r>
              <a:rPr dirty="0" sz="2300" spc="-114">
                <a:latin typeface="Arial"/>
                <a:cs typeface="Arial"/>
              </a:rPr>
              <a:t>from</a:t>
            </a:r>
            <a:r>
              <a:rPr dirty="0" sz="2300" spc="-120">
                <a:latin typeface="Arial"/>
                <a:cs typeface="Arial"/>
              </a:rPr>
              <a:t> </a:t>
            </a:r>
            <a:r>
              <a:rPr dirty="0" sz="2300" spc="-135">
                <a:latin typeface="Arial"/>
                <a:cs typeface="Arial"/>
              </a:rPr>
              <a:t>leaders</a:t>
            </a:r>
            <a:r>
              <a:rPr dirty="0" sz="2300" spc="-120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in </a:t>
            </a:r>
            <a:r>
              <a:rPr dirty="0" sz="2200" spc="-70">
                <a:latin typeface="Arial"/>
                <a:cs typeface="Arial"/>
              </a:rPr>
              <a:t>technology</a:t>
            </a:r>
            <a:r>
              <a:rPr dirty="0" sz="2200" spc="20">
                <a:latin typeface="Arial"/>
                <a:cs typeface="Arial"/>
              </a:rPr>
              <a:t> </a:t>
            </a:r>
            <a:r>
              <a:rPr dirty="0" sz="2200" spc="-95">
                <a:latin typeface="Arial"/>
                <a:cs typeface="Arial"/>
              </a:rPr>
              <a:t>and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finance.</a:t>
            </a:r>
            <a:endParaRPr sz="22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874695" y="467783"/>
            <a:ext cx="2245360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20">
                <a:latin typeface="Cambria"/>
                <a:cs typeface="Cambria"/>
              </a:rPr>
              <a:t>Featured</a:t>
            </a:r>
            <a:r>
              <a:rPr dirty="0" sz="1650" spc="30">
                <a:latin typeface="Cambria"/>
                <a:cs typeface="Cambria"/>
              </a:rPr>
              <a:t> </a:t>
            </a:r>
            <a:r>
              <a:rPr dirty="0" sz="1650">
                <a:latin typeface="Cambria"/>
                <a:cs typeface="Cambria"/>
              </a:rPr>
              <a:t>Podcast</a:t>
            </a:r>
            <a:r>
              <a:rPr dirty="0" sz="1650" spc="-55">
                <a:latin typeface="Cambria"/>
                <a:cs typeface="Cambria"/>
              </a:rPr>
              <a:t> </a:t>
            </a:r>
            <a:r>
              <a:rPr dirty="0" sz="1650" spc="-10">
                <a:latin typeface="Cambria"/>
                <a:cs typeface="Cambria"/>
              </a:rPr>
              <a:t>Guests</a:t>
            </a:r>
            <a:endParaRPr sz="1650">
              <a:latin typeface="Cambria"/>
              <a:cs typeface="Cambria"/>
            </a:endParaRPr>
          </a:p>
        </p:txBody>
      </p:sp>
      <p:graphicFrame>
        <p:nvGraphicFramePr>
          <p:cNvPr id="14" name="object 14" descr=""/>
          <p:cNvGraphicFramePr>
            <a:graphicFrameLocks noGrp="1"/>
          </p:cNvGraphicFramePr>
          <p:nvPr/>
        </p:nvGraphicFramePr>
        <p:xfrm>
          <a:off x="11846738" y="2334036"/>
          <a:ext cx="4821555" cy="524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2085"/>
                <a:gridCol w="1810385"/>
                <a:gridCol w="1492250"/>
              </a:tblGrid>
              <a:tr h="179705">
                <a:tc>
                  <a:txBody>
                    <a:bodyPr/>
                    <a:lstStyle/>
                    <a:p>
                      <a:pPr marL="171450">
                        <a:lnSpc>
                          <a:spcPts val="1315"/>
                        </a:lnSpc>
                      </a:pPr>
                      <a:r>
                        <a:rPr dirty="0" sz="1150">
                          <a:latin typeface="Cambria"/>
                          <a:cs typeface="Cambria"/>
                        </a:rPr>
                        <a:t>Gokul</a:t>
                      </a:r>
                      <a:r>
                        <a:rPr dirty="0" sz="1150" spc="14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50" spc="-10">
                          <a:latin typeface="Cambria"/>
                          <a:cs typeface="Cambria"/>
                        </a:rPr>
                        <a:t>Rajaram</a:t>
                      </a:r>
                      <a:endParaRPr sz="1150">
                        <a:latin typeface="Cambria"/>
                        <a:cs typeface="Cambr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</a:pPr>
                      <a:r>
                        <a:rPr dirty="0" sz="1150">
                          <a:latin typeface="Cambria"/>
                          <a:cs typeface="Cambria"/>
                        </a:rPr>
                        <a:t>Rah</a:t>
                      </a:r>
                      <a:r>
                        <a:rPr dirty="0" sz="1150" spc="-10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50">
                          <a:solidFill>
                            <a:srgbClr val="0F0F0F"/>
                          </a:solidFill>
                          <a:latin typeface="Cambria"/>
                          <a:cs typeface="Cambria"/>
                        </a:rPr>
                        <a:t>ul</a:t>
                      </a:r>
                      <a:r>
                        <a:rPr dirty="0" sz="1150" spc="30">
                          <a:solidFill>
                            <a:srgbClr val="0F0F0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50">
                          <a:latin typeface="Cambria"/>
                          <a:cs typeface="Cambria"/>
                        </a:rPr>
                        <a:t>Rcy-</a:t>
                      </a:r>
                      <a:r>
                        <a:rPr dirty="0" sz="1150" spc="-10">
                          <a:latin typeface="Cambria"/>
                          <a:cs typeface="Cambria"/>
                        </a:rPr>
                        <a:t>Chowdhury</a:t>
                      </a:r>
                      <a:endParaRPr sz="1150">
                        <a:latin typeface="Cambria"/>
                        <a:cs typeface="Cambr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ts val="1315"/>
                        </a:lnSpc>
                      </a:pPr>
                      <a:r>
                        <a:rPr dirty="0" sz="1150">
                          <a:latin typeface="Cambria"/>
                          <a:cs typeface="Cambria"/>
                        </a:rPr>
                        <a:t>Sopnendu</a:t>
                      </a:r>
                      <a:r>
                        <a:rPr dirty="0" sz="1150" spc="33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50" spc="-10">
                          <a:latin typeface="Cambria"/>
                          <a:cs typeface="Cambria"/>
                        </a:rPr>
                        <a:t>Mghanty</a:t>
                      </a:r>
                      <a:endParaRPr sz="1150">
                        <a:latin typeface="Cambria"/>
                        <a:cs typeface="Cambria"/>
                      </a:endParaRPr>
                    </a:p>
                  </a:txBody>
                  <a:tcPr marL="0" marR="0" marB="0" marT="0"/>
                </a:tc>
              </a:tr>
              <a:tr h="344805">
                <a:tc>
                  <a:txBody>
                    <a:bodyPr/>
                    <a:lstStyle/>
                    <a:p>
                      <a:pPr algn="ctr" marR="121920">
                        <a:lnSpc>
                          <a:spcPts val="1340"/>
                        </a:lnSpc>
                        <a:spcBef>
                          <a:spcPts val="5"/>
                        </a:spcBef>
                      </a:pPr>
                      <a:r>
                        <a:rPr dirty="0" sz="1150" spc="-75">
                          <a:solidFill>
                            <a:srgbClr val="0C0C0C"/>
                          </a:solidFill>
                          <a:latin typeface="Cambria"/>
                          <a:cs typeface="Cambria"/>
                        </a:rPr>
                        <a:t>Boafd</a:t>
                      </a:r>
                      <a:r>
                        <a:rPr dirty="0" sz="1150" spc="35">
                          <a:solidFill>
                            <a:srgbClr val="0C0C0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50" spc="-10">
                          <a:latin typeface="Cambria"/>
                          <a:cs typeface="Cambria"/>
                        </a:rPr>
                        <a:t>MemDw.</a:t>
                      </a:r>
                      <a:endParaRPr sz="1150">
                        <a:latin typeface="Cambria"/>
                        <a:cs typeface="Cambria"/>
                      </a:endParaRPr>
                    </a:p>
                    <a:p>
                      <a:pPr algn="ctr" marR="137160">
                        <a:lnSpc>
                          <a:spcPts val="1270"/>
                        </a:lnSpc>
                      </a:pPr>
                      <a:r>
                        <a:rPr dirty="0" sz="1150" spc="-55">
                          <a:solidFill>
                            <a:srgbClr val="232323"/>
                          </a:solidFill>
                          <a:latin typeface="Cambria"/>
                          <a:cs typeface="Cambria"/>
                        </a:rPr>
                        <a:t>CoinbaSe</a:t>
                      </a:r>
                      <a:r>
                        <a:rPr dirty="0" sz="1150" spc="-10">
                          <a:solidFill>
                            <a:srgbClr val="232323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50">
                          <a:latin typeface="Cambria"/>
                          <a:cs typeface="Cambria"/>
                        </a:rPr>
                        <a:t>8</a:t>
                      </a:r>
                      <a:r>
                        <a:rPr dirty="0" sz="1150" spc="1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50" spc="-10">
                          <a:solidFill>
                            <a:srgbClr val="262626"/>
                          </a:solidFill>
                          <a:latin typeface="Cambria"/>
                          <a:cs typeface="Cambria"/>
                        </a:rPr>
                        <a:t>Dcor0ash</a:t>
                      </a:r>
                      <a:endParaRPr sz="1150">
                        <a:latin typeface="Cambria"/>
                        <a:cs typeface="Cambri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50" spc="-45">
                          <a:solidFill>
                            <a:srgbClr val="131313"/>
                          </a:solidFill>
                          <a:latin typeface="Cambria"/>
                          <a:cs typeface="Cambria"/>
                        </a:rPr>
                        <a:t>CEO,</a:t>
                      </a:r>
                      <a:r>
                        <a:rPr dirty="0" sz="1150">
                          <a:solidFill>
                            <a:srgbClr val="131313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50" spc="-10">
                          <a:latin typeface="Cambria"/>
                          <a:cs typeface="Cambria"/>
                        </a:rPr>
                        <a:t>Grammarly</a:t>
                      </a:r>
                      <a:endParaRPr sz="1150">
                        <a:latin typeface="Cambria"/>
                        <a:cs typeface="Cambri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474345" marR="66675" indent="-241935">
                        <a:lnSpc>
                          <a:spcPts val="1300"/>
                        </a:lnSpc>
                        <a:spcBef>
                          <a:spcPts val="15"/>
                        </a:spcBef>
                      </a:pPr>
                      <a:r>
                        <a:rPr dirty="0" sz="1150" spc="-80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Formef</a:t>
                      </a:r>
                      <a:r>
                        <a:rPr dirty="0" sz="1150" spc="15">
                          <a:solidFill>
                            <a:srgbClr val="1A1A1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50" spc="-45">
                          <a:latin typeface="Cambria"/>
                          <a:cs typeface="Cambria"/>
                        </a:rPr>
                        <a:t>Chief</a:t>
                      </a:r>
                      <a:r>
                        <a:rPr dirty="0" sz="1150" spc="2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50" spc="-95">
                          <a:latin typeface="Cambria"/>
                          <a:cs typeface="Cambria"/>
                        </a:rPr>
                        <a:t>FinTech</a:t>
                      </a:r>
                      <a:r>
                        <a:rPr dirty="0" sz="1150" spc="-4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50" spc="-45">
                          <a:solidFill>
                            <a:srgbClr val="161616"/>
                          </a:solidFill>
                          <a:latin typeface="Cambria"/>
                          <a:cs typeface="Cambria"/>
                        </a:rPr>
                        <a:t>Offi@r,</a:t>
                      </a:r>
                      <a:r>
                        <a:rPr dirty="0" sz="1150" spc="10">
                          <a:solidFill>
                            <a:srgbClr val="16161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50" spc="-25">
                          <a:latin typeface="Cambria"/>
                          <a:cs typeface="Cambria"/>
                        </a:rPr>
                        <a:t>MAS</a:t>
                      </a:r>
                      <a:endParaRPr sz="1150">
                        <a:latin typeface="Cambria"/>
                        <a:cs typeface="Cambria"/>
                      </a:endParaRPr>
                    </a:p>
                  </a:txBody>
                  <a:tcPr marL="0" marR="0" marB="0" marT="1905"/>
                </a:tc>
              </a:tr>
            </a:tbl>
          </a:graphicData>
        </a:graphic>
      </p:graphicFrame>
      <p:sp>
        <p:nvSpPr>
          <p:cNvPr id="15" name="object 15" descr=""/>
          <p:cNvSpPr txBox="1"/>
          <p:nvPr/>
        </p:nvSpPr>
        <p:spPr>
          <a:xfrm>
            <a:off x="11875737" y="3565172"/>
            <a:ext cx="896619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0">
                <a:latin typeface="Cambria"/>
                <a:cs typeface="Cambria"/>
              </a:rPr>
              <a:t>Education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2075289" y="4690886"/>
            <a:ext cx="1972945" cy="893444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3970" marR="5080" indent="-1905">
              <a:lnSpc>
                <a:spcPts val="2200"/>
              </a:lnSpc>
              <a:spcBef>
                <a:spcPts val="350"/>
              </a:spcBef>
            </a:pPr>
            <a:r>
              <a:rPr dirty="0" sz="2000" spc="-70">
                <a:latin typeface="Cambria"/>
                <a:cs typeface="Cambria"/>
              </a:rPr>
              <a:t>Five</a:t>
            </a:r>
            <a:r>
              <a:rPr dirty="0" sz="2000" spc="-40">
                <a:latin typeface="Cambria"/>
                <a:cs typeface="Cambria"/>
              </a:rPr>
              <a:t> </a:t>
            </a:r>
            <a:r>
              <a:rPr dirty="0" sz="2000" spc="-80">
                <a:latin typeface="Cambria"/>
                <a:cs typeface="Cambria"/>
              </a:rPr>
              <a:t>things</a:t>
            </a:r>
            <a:r>
              <a:rPr dirty="0" sz="2000" spc="15">
                <a:latin typeface="Cambria"/>
                <a:cs typeface="Cambria"/>
              </a:rPr>
              <a:t> </a:t>
            </a:r>
            <a:r>
              <a:rPr dirty="0" sz="2000" spc="-90">
                <a:latin typeface="Cambria"/>
                <a:cs typeface="Cambria"/>
              </a:rPr>
              <a:t>to</a:t>
            </a:r>
            <a:r>
              <a:rPr dirty="0" sz="2000" spc="-60">
                <a:latin typeface="Cambria"/>
                <a:cs typeface="Cambria"/>
              </a:rPr>
              <a:t> </a:t>
            </a:r>
            <a:r>
              <a:rPr dirty="0" sz="2000" spc="-110">
                <a:latin typeface="Cambria"/>
                <a:cs typeface="Cambria"/>
              </a:rPr>
              <a:t>know </a:t>
            </a:r>
            <a:r>
              <a:rPr dirty="0" sz="2050" spc="-90">
                <a:latin typeface="Cambria"/>
                <a:cs typeface="Cambria"/>
              </a:rPr>
              <a:t>about</a:t>
            </a:r>
            <a:r>
              <a:rPr dirty="0" sz="2050" spc="-15">
                <a:latin typeface="Cambria"/>
                <a:cs typeface="Cambria"/>
              </a:rPr>
              <a:t> </a:t>
            </a:r>
            <a:r>
              <a:rPr dirty="0" sz="2050" spc="-20">
                <a:latin typeface="Cambria"/>
                <a:cs typeface="Cambria"/>
              </a:rPr>
              <a:t>venture </a:t>
            </a:r>
            <a:r>
              <a:rPr dirty="0" sz="2050" spc="-95">
                <a:latin typeface="Cambria"/>
                <a:cs typeface="Cambria"/>
              </a:rPr>
              <a:t>capital</a:t>
            </a:r>
            <a:r>
              <a:rPr dirty="0" sz="2050" spc="20">
                <a:latin typeface="Cambria"/>
                <a:cs typeface="Cambria"/>
              </a:rPr>
              <a:t> </a:t>
            </a:r>
            <a:r>
              <a:rPr dirty="0" sz="2050" spc="-20">
                <a:latin typeface="Cambria"/>
                <a:cs typeface="Cambria"/>
              </a:rPr>
              <a:t>investing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4870836" y="4690886"/>
            <a:ext cx="1419860" cy="6140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2275"/>
              </a:lnSpc>
              <a:spcBef>
                <a:spcPts val="110"/>
              </a:spcBef>
            </a:pPr>
            <a:r>
              <a:rPr dirty="0" sz="2000" spc="-114">
                <a:latin typeface="Cambria"/>
                <a:cs typeface="Cambria"/>
              </a:rPr>
              <a:t>Are</a:t>
            </a:r>
            <a:r>
              <a:rPr dirty="0" sz="2000" spc="30">
                <a:latin typeface="Cambria"/>
                <a:cs typeface="Cambria"/>
              </a:rPr>
              <a:t> </a:t>
            </a:r>
            <a:r>
              <a:rPr dirty="0" sz="2000" spc="-140">
                <a:latin typeface="Cambria"/>
                <a:cs typeface="Cambria"/>
              </a:rPr>
              <a:t>you</a:t>
            </a:r>
            <a:r>
              <a:rPr dirty="0" sz="2000" spc="-30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over-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335"/>
              </a:lnSpc>
            </a:pPr>
            <a:r>
              <a:rPr dirty="0" sz="2050" spc="-114">
                <a:latin typeface="Cambria"/>
                <a:cs typeface="Cambria"/>
              </a:rPr>
              <a:t>concentrated?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619339" y="6454069"/>
            <a:ext cx="6916420" cy="225234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130"/>
              </a:spcBef>
              <a:tabLst>
                <a:tab pos="6068695" algn="l"/>
              </a:tabLst>
            </a:pPr>
            <a:r>
              <a:rPr dirty="0" sz="3650" spc="-135">
                <a:latin typeface="Times New Roman"/>
                <a:cs typeface="Times New Roman"/>
              </a:rPr>
              <a:t>“...unlocked</a:t>
            </a:r>
            <a:r>
              <a:rPr dirty="0" sz="3650" spc="-40">
                <a:latin typeface="Times New Roman"/>
                <a:cs typeface="Times New Roman"/>
              </a:rPr>
              <a:t> </a:t>
            </a:r>
            <a:r>
              <a:rPr dirty="0" sz="3650" spc="-90">
                <a:latin typeface="Times New Roman"/>
                <a:cs typeface="Times New Roman"/>
              </a:rPr>
              <a:t>diverse</a:t>
            </a:r>
            <a:r>
              <a:rPr dirty="0" sz="3650" spc="-140">
                <a:latin typeface="Times New Roman"/>
                <a:cs typeface="Times New Roman"/>
              </a:rPr>
              <a:t> </a:t>
            </a:r>
            <a:r>
              <a:rPr dirty="0" sz="3650" spc="-10">
                <a:latin typeface="Times New Roman"/>
                <a:cs typeface="Times New Roman"/>
              </a:rPr>
              <a:t>investments</a:t>
            </a:r>
            <a:r>
              <a:rPr dirty="0" sz="3650">
                <a:latin typeface="Times New Roman"/>
                <a:cs typeface="Times New Roman"/>
              </a:rPr>
              <a:t>	</a:t>
            </a:r>
            <a:r>
              <a:rPr dirty="0" sz="3650" spc="-125">
                <a:latin typeface="Times New Roman"/>
                <a:cs typeface="Times New Roman"/>
              </a:rPr>
              <a:t>from</a:t>
            </a:r>
            <a:endParaRPr sz="3650">
              <a:latin typeface="Times New Roman"/>
              <a:cs typeface="Times New Roman"/>
            </a:endParaRPr>
          </a:p>
          <a:p>
            <a:pPr marL="13335" marR="278130" indent="-1270">
              <a:lnSpc>
                <a:spcPct val="102699"/>
              </a:lnSpc>
              <a:spcBef>
                <a:spcPts val="50"/>
              </a:spcBef>
              <a:tabLst>
                <a:tab pos="5434330" algn="l"/>
              </a:tabLst>
            </a:pPr>
            <a:r>
              <a:rPr dirty="0" sz="3650" spc="-65">
                <a:latin typeface="Times New Roman"/>
                <a:cs typeface="Times New Roman"/>
              </a:rPr>
              <a:t>alternatives </a:t>
            </a:r>
            <a:r>
              <a:rPr dirty="0" sz="3650">
                <a:latin typeface="Times New Roman"/>
                <a:cs typeface="Times New Roman"/>
              </a:rPr>
              <a:t>to</a:t>
            </a:r>
            <a:r>
              <a:rPr dirty="0" sz="3650" spc="-114">
                <a:latin typeface="Times New Roman"/>
                <a:cs typeface="Times New Roman"/>
              </a:rPr>
              <a:t> private</a:t>
            </a:r>
            <a:r>
              <a:rPr dirty="0" sz="3650" spc="-85">
                <a:latin typeface="Times New Roman"/>
                <a:cs typeface="Times New Roman"/>
              </a:rPr>
              <a:t> </a:t>
            </a:r>
            <a:r>
              <a:rPr dirty="0" sz="3650" spc="-10">
                <a:latin typeface="Times New Roman"/>
                <a:cs typeface="Times New Roman"/>
              </a:rPr>
              <a:t>equity</a:t>
            </a:r>
            <a:r>
              <a:rPr dirty="0" sz="3650">
                <a:latin typeface="Times New Roman"/>
                <a:cs typeface="Times New Roman"/>
              </a:rPr>
              <a:t>	to</a:t>
            </a:r>
            <a:r>
              <a:rPr dirty="0" sz="3650" spc="-180">
                <a:latin typeface="Times New Roman"/>
                <a:cs typeface="Times New Roman"/>
              </a:rPr>
              <a:t> </a:t>
            </a:r>
            <a:r>
              <a:rPr dirty="0" sz="3650" spc="-80">
                <a:latin typeface="Times New Roman"/>
                <a:cs typeface="Times New Roman"/>
              </a:rPr>
              <a:t>take </a:t>
            </a:r>
            <a:r>
              <a:rPr dirty="0" sz="3650" spc="-55">
                <a:latin typeface="Times New Roman"/>
                <a:cs typeface="Times New Roman"/>
              </a:rPr>
              <a:t>control</a:t>
            </a:r>
            <a:r>
              <a:rPr dirty="0" sz="3650" spc="-110">
                <a:latin typeface="Times New Roman"/>
                <a:cs typeface="Times New Roman"/>
              </a:rPr>
              <a:t> </a:t>
            </a:r>
            <a:r>
              <a:rPr dirty="0" sz="3650" spc="-170">
                <a:latin typeface="Times New Roman"/>
                <a:cs typeface="Times New Roman"/>
              </a:rPr>
              <a:t>of</a:t>
            </a:r>
            <a:r>
              <a:rPr dirty="0" sz="3650" spc="-10">
                <a:latin typeface="Times New Roman"/>
                <a:cs typeface="Times New Roman"/>
              </a:rPr>
              <a:t> </a:t>
            </a:r>
            <a:r>
              <a:rPr dirty="0" sz="3650" spc="-65">
                <a:latin typeface="Times New Roman"/>
                <a:cs typeface="Times New Roman"/>
              </a:rPr>
              <a:t>their</a:t>
            </a:r>
            <a:r>
              <a:rPr dirty="0" sz="3650" spc="-165">
                <a:latin typeface="Times New Roman"/>
                <a:cs typeface="Times New Roman"/>
              </a:rPr>
              <a:t> </a:t>
            </a:r>
            <a:r>
              <a:rPr dirty="0" sz="3650" spc="-105">
                <a:latin typeface="Times New Roman"/>
                <a:cs typeface="Times New Roman"/>
              </a:rPr>
              <a:t>financial</a:t>
            </a:r>
            <a:r>
              <a:rPr dirty="0" sz="3650" spc="-125">
                <a:latin typeface="Times New Roman"/>
                <a:cs typeface="Times New Roman"/>
              </a:rPr>
              <a:t> </a:t>
            </a:r>
            <a:r>
              <a:rPr dirty="0" sz="3650" spc="-10">
                <a:latin typeface="Times New Roman"/>
                <a:cs typeface="Times New Roman"/>
              </a:rPr>
              <a:t>future.”</a:t>
            </a:r>
            <a:endParaRPr sz="365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1670"/>
              </a:spcBef>
            </a:pPr>
            <a:r>
              <a:rPr dirty="0" sz="2000" spc="-130">
                <a:latin typeface="Cambria"/>
                <a:cs typeface="Cambria"/>
              </a:rPr>
              <a:t>Chris</a:t>
            </a:r>
            <a:r>
              <a:rPr dirty="0" sz="2000" spc="-10">
                <a:latin typeface="Cambria"/>
                <a:cs typeface="Cambria"/>
              </a:rPr>
              <a:t> </a:t>
            </a:r>
            <a:r>
              <a:rPr dirty="0" sz="2000" spc="-150">
                <a:latin typeface="Cambria"/>
                <a:cs typeface="Cambria"/>
              </a:rPr>
              <a:t>and</a:t>
            </a:r>
            <a:r>
              <a:rPr dirty="0" sz="2000" spc="60">
                <a:latin typeface="Cambria"/>
                <a:cs typeface="Cambria"/>
              </a:rPr>
              <a:t> </a:t>
            </a:r>
            <a:r>
              <a:rPr dirty="0" sz="2000" spc="-114">
                <a:latin typeface="Cambria"/>
                <a:cs typeface="Cambria"/>
              </a:rPr>
              <a:t>Natasha</a:t>
            </a:r>
            <a:r>
              <a:rPr dirty="0" sz="2000" spc="120">
                <a:latin typeface="Cambria"/>
                <a:cs typeface="Cambria"/>
              </a:rPr>
              <a:t> </a:t>
            </a:r>
            <a:r>
              <a:rPr dirty="0" sz="2000" spc="-185">
                <a:latin typeface="Cambria"/>
                <a:cs typeface="Cambria"/>
              </a:rPr>
              <a:t>Find</a:t>
            </a:r>
            <a:r>
              <a:rPr dirty="0" sz="2000" spc="70">
                <a:latin typeface="Cambria"/>
                <a:cs typeface="Cambria"/>
              </a:rPr>
              <a:t> </a:t>
            </a:r>
            <a:r>
              <a:rPr dirty="0" sz="2000" spc="-170">
                <a:latin typeface="Cambria"/>
                <a:cs typeface="Cambria"/>
              </a:rPr>
              <a:t>their</a:t>
            </a:r>
            <a:r>
              <a:rPr dirty="0" sz="2000" spc="15">
                <a:latin typeface="Cambria"/>
                <a:cs typeface="Cambria"/>
              </a:rPr>
              <a:t> </a:t>
            </a:r>
            <a:r>
              <a:rPr dirty="0" sz="2000" spc="-140">
                <a:latin typeface="Cambria"/>
                <a:cs typeface="Cambria"/>
              </a:rPr>
              <a:t>Financial</a:t>
            </a:r>
            <a:r>
              <a:rPr dirty="0" sz="2000" spc="90">
                <a:latin typeface="Cambria"/>
                <a:cs typeface="Cambria"/>
              </a:rPr>
              <a:t> </a:t>
            </a:r>
            <a:r>
              <a:rPr dirty="0" sz="2000" spc="-105">
                <a:latin typeface="Cambria"/>
                <a:cs typeface="Cambria"/>
              </a:rPr>
              <a:t>‘Fit'</a:t>
            </a:r>
            <a:r>
              <a:rPr dirty="0" sz="2000" spc="20">
                <a:latin typeface="Cambria"/>
                <a:cs typeface="Cambria"/>
              </a:rPr>
              <a:t> </a:t>
            </a:r>
            <a:r>
              <a:rPr dirty="0" sz="2000" spc="-235">
                <a:latin typeface="Cambria"/>
                <a:cs typeface="Cambria"/>
              </a:rPr>
              <a:t>with</a:t>
            </a:r>
            <a:r>
              <a:rPr dirty="0" sz="2000" spc="75">
                <a:latin typeface="Cambria"/>
                <a:cs typeface="Cambria"/>
              </a:rPr>
              <a:t> </a:t>
            </a:r>
            <a:r>
              <a:rPr dirty="0" sz="2000" spc="-20">
                <a:latin typeface="Cambria"/>
                <a:cs typeface="Cambria"/>
              </a:rPr>
              <a:t>Arta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5798824" y="9413522"/>
            <a:ext cx="126364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75">
                <a:latin typeface="Cambria"/>
                <a:cs typeface="Cambria"/>
              </a:rPr>
              <a:t>G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6346512" y="9413522"/>
            <a:ext cx="98933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75">
                <a:latin typeface="Cambria"/>
                <a:cs typeface="Cambria"/>
              </a:rPr>
              <a:t>NotebookLM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88300" y="8191500"/>
            <a:ext cx="508000" cy="6223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47500" y="4495800"/>
            <a:ext cx="774700" cy="7747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8000" y="3759200"/>
            <a:ext cx="825500" cy="6096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65500" y="1104900"/>
            <a:ext cx="1524000" cy="584200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5118100" y="6068483"/>
            <a:ext cx="525145" cy="0"/>
          </a:xfrm>
          <a:custGeom>
            <a:avLst/>
            <a:gdLst/>
            <a:ahLst/>
            <a:cxnLst/>
            <a:rect l="l" t="t" r="r" b="b"/>
            <a:pathLst>
              <a:path w="525145" h="0">
                <a:moveTo>
                  <a:pt x="0" y="0"/>
                </a:moveTo>
                <a:lnTo>
                  <a:pt x="524933" y="0"/>
                </a:lnTo>
              </a:path>
            </a:pathLst>
          </a:custGeom>
          <a:ln w="42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47100" y="6108700"/>
            <a:ext cx="25400" cy="77470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021634" y="779286"/>
            <a:ext cx="9072245" cy="10947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0" spc="-409">
                <a:solidFill>
                  <a:srgbClr val="0F0F0F"/>
                </a:solidFill>
                <a:latin typeface="Cambria"/>
                <a:cs typeface="Cambria"/>
              </a:rPr>
              <a:t>digital</a:t>
            </a:r>
            <a:r>
              <a:rPr dirty="0" sz="7000" spc="-15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7000" spc="-480">
                <a:solidFill>
                  <a:srgbClr val="0E0E0E"/>
                </a:solidFill>
                <a:latin typeface="Cambria"/>
                <a:cs typeface="Cambria"/>
              </a:rPr>
              <a:t>family</a:t>
            </a:r>
            <a:r>
              <a:rPr dirty="0" sz="7000" spc="-16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7000">
                <a:solidFill>
                  <a:srgbClr val="0F0F0F"/>
                </a:solidFill>
                <a:latin typeface="Cambria"/>
                <a:cs typeface="Cambria"/>
              </a:rPr>
              <a:t>oTce</a:t>
            </a:r>
            <a:r>
              <a:rPr dirty="0" sz="7000" spc="-24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7000" spc="-330">
                <a:solidFill>
                  <a:srgbClr val="0F0F0F"/>
                </a:solidFill>
                <a:latin typeface="Cambria"/>
                <a:cs typeface="Cambria"/>
              </a:rPr>
              <a:t>is</a:t>
            </a:r>
            <a:r>
              <a:rPr dirty="0" sz="7000" spc="-40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7000" spc="-575">
                <a:solidFill>
                  <a:srgbClr val="0C0C0C"/>
                </a:solidFill>
                <a:latin typeface="Cambria"/>
                <a:cs typeface="Cambria"/>
              </a:rPr>
              <a:t>ready.</a:t>
            </a:r>
            <a:endParaRPr sz="7000">
              <a:latin typeface="Cambria"/>
              <a:cs typeface="Cambr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296325" y="2365727"/>
            <a:ext cx="12813030" cy="112649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200" spc="-800">
                <a:solidFill>
                  <a:srgbClr val="000000"/>
                </a:solidFill>
              </a:rPr>
              <a:t>To</a:t>
            </a:r>
            <a:r>
              <a:rPr dirty="0" sz="7200" spc="-545">
                <a:solidFill>
                  <a:srgbClr val="000000"/>
                </a:solidFill>
              </a:rPr>
              <a:t> </a:t>
            </a:r>
            <a:r>
              <a:rPr dirty="0" sz="7200" spc="-360">
                <a:solidFill>
                  <a:srgbClr val="000000"/>
                </a:solidFill>
              </a:rPr>
              <a:t>celebrate</a:t>
            </a:r>
            <a:r>
              <a:rPr dirty="0" sz="7200" spc="-275">
                <a:solidFill>
                  <a:srgbClr val="000000"/>
                </a:solidFill>
              </a:rPr>
              <a:t> </a:t>
            </a:r>
            <a:r>
              <a:rPr dirty="0" sz="7200" spc="-385">
                <a:solidFill>
                  <a:srgbClr val="000000"/>
                </a:solidFill>
              </a:rPr>
              <a:t>our</a:t>
            </a:r>
            <a:r>
              <a:rPr dirty="0" sz="7200" spc="-434">
                <a:solidFill>
                  <a:srgbClr val="000000"/>
                </a:solidFill>
              </a:rPr>
              <a:t> </a:t>
            </a:r>
            <a:r>
              <a:rPr dirty="0" sz="7200" spc="-459">
                <a:solidFill>
                  <a:srgbClr val="000000"/>
                </a:solidFill>
              </a:rPr>
              <a:t>global</a:t>
            </a:r>
            <a:r>
              <a:rPr dirty="0" sz="7200" spc="-210">
                <a:solidFill>
                  <a:srgbClr val="000000"/>
                </a:solidFill>
              </a:rPr>
              <a:t> </a:t>
            </a:r>
            <a:r>
              <a:rPr dirty="0" sz="7200" spc="-420">
                <a:solidFill>
                  <a:srgbClr val="000000"/>
                </a:solidFill>
              </a:rPr>
              <a:t>launch,</a:t>
            </a:r>
            <a:r>
              <a:rPr dirty="0" sz="7200" spc="-434">
                <a:solidFill>
                  <a:srgbClr val="000000"/>
                </a:solidFill>
              </a:rPr>
              <a:t> </a:t>
            </a:r>
            <a:r>
              <a:rPr dirty="0" sz="7200" spc="-495">
                <a:solidFill>
                  <a:srgbClr val="000000"/>
                </a:solidFill>
              </a:rPr>
              <a:t>your</a:t>
            </a:r>
            <a:r>
              <a:rPr dirty="0" sz="7200" spc="-380">
                <a:solidFill>
                  <a:srgbClr val="000000"/>
                </a:solidFill>
              </a:rPr>
              <a:t> </a:t>
            </a:r>
            <a:r>
              <a:rPr dirty="0" sz="7200" spc="-390">
                <a:solidFill>
                  <a:srgbClr val="000000"/>
                </a:solidFill>
              </a:rPr>
              <a:t>first</a:t>
            </a:r>
            <a:endParaRPr sz="7200"/>
          </a:p>
        </p:txBody>
      </p:sp>
      <p:sp>
        <p:nvSpPr>
          <p:cNvPr id="10" name="object 10" descr=""/>
          <p:cNvSpPr txBox="1"/>
          <p:nvPr/>
        </p:nvSpPr>
        <p:spPr>
          <a:xfrm>
            <a:off x="7243690" y="4120091"/>
            <a:ext cx="1795145" cy="1009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89405" algn="l"/>
              </a:tabLst>
            </a:pPr>
            <a:r>
              <a:rPr dirty="0" sz="6450" spc="-2385" i="1">
                <a:solidFill>
                  <a:srgbClr val="A18C5D"/>
                </a:solidFill>
                <a:latin typeface="Times New Roman"/>
                <a:cs typeface="Times New Roman"/>
              </a:rPr>
              <a:t>k“</a:t>
            </a:r>
            <a:r>
              <a:rPr dirty="0" sz="6450" i="1">
                <a:solidFill>
                  <a:srgbClr val="A18C5D"/>
                </a:solidFill>
                <a:latin typeface="Times New Roman"/>
                <a:cs typeface="Times New Roman"/>
              </a:rPr>
              <a:t>	</a:t>
            </a:r>
            <a:r>
              <a:rPr dirty="0" sz="6450" spc="-50">
                <a:solidFill>
                  <a:srgbClr val="A88C5D"/>
                </a:solidFill>
                <a:latin typeface="Times New Roman"/>
                <a:cs typeface="Times New Roman"/>
              </a:rPr>
              <a:t>,</a:t>
            </a:r>
            <a:endParaRPr sz="64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766870" y="3258608"/>
            <a:ext cx="9295765" cy="20173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8355"/>
              </a:lnSpc>
              <a:spcBef>
                <a:spcPts val="90"/>
              </a:spcBef>
              <a:tabLst>
                <a:tab pos="8665845" algn="l"/>
              </a:tabLst>
            </a:pPr>
            <a:r>
              <a:rPr dirty="0" sz="7300" spc="-459">
                <a:latin typeface="Times New Roman"/>
                <a:cs typeface="Times New Roman"/>
              </a:rPr>
              <a:t>investments</a:t>
            </a:r>
            <a:r>
              <a:rPr dirty="0" sz="7300">
                <a:latin typeface="Times New Roman"/>
                <a:cs typeface="Times New Roman"/>
              </a:rPr>
              <a:t>	</a:t>
            </a:r>
            <a:r>
              <a:rPr dirty="0" sz="7300" spc="-390">
                <a:solidFill>
                  <a:srgbClr val="A38960"/>
                </a:solidFill>
                <a:latin typeface="Times New Roman"/>
                <a:cs typeface="Times New Roman"/>
              </a:rPr>
              <a:t>"</a:t>
            </a:r>
            <a:r>
              <a:rPr dirty="0" sz="7300" spc="145">
                <a:solidFill>
                  <a:srgbClr val="A38960"/>
                </a:solidFill>
                <a:latin typeface="Times New Roman"/>
                <a:cs typeface="Times New Roman"/>
              </a:rPr>
              <a:t> </a:t>
            </a:r>
            <a:r>
              <a:rPr dirty="0" sz="7300" spc="-2185">
                <a:solidFill>
                  <a:srgbClr val="9E8C64"/>
                </a:solidFill>
                <a:latin typeface="Times New Roman"/>
                <a:cs typeface="Times New Roman"/>
              </a:rPr>
              <a:t>!</a:t>
            </a:r>
            <a:endParaRPr sz="7300">
              <a:latin typeface="Times New Roman"/>
              <a:cs typeface="Times New Roman"/>
            </a:endParaRPr>
          </a:p>
          <a:p>
            <a:pPr marL="477520">
              <a:lnSpc>
                <a:spcPts val="7334"/>
              </a:lnSpc>
              <a:tabLst>
                <a:tab pos="7829550" algn="l"/>
              </a:tabLst>
            </a:pPr>
            <a:r>
              <a:rPr dirty="0" sz="6450" spc="-10">
                <a:latin typeface="Times New Roman"/>
                <a:cs typeface="Times New Roman"/>
              </a:rPr>
              <a:t>managed</a:t>
            </a:r>
            <a:r>
              <a:rPr dirty="0" sz="6450">
                <a:latin typeface="Times New Roman"/>
                <a:cs typeface="Times New Roman"/>
              </a:rPr>
              <a:t>	</a:t>
            </a:r>
            <a:r>
              <a:rPr dirty="0" sz="6450" spc="-135">
                <a:solidFill>
                  <a:srgbClr val="978764"/>
                </a:solidFill>
                <a:latin typeface="Times New Roman"/>
                <a:cs typeface="Times New Roman"/>
              </a:rPr>
              <a:t>-</a:t>
            </a:r>
            <a:r>
              <a:rPr dirty="0" sz="6450" spc="-50">
                <a:solidFill>
                  <a:srgbClr val="978764"/>
                </a:solidFill>
                <a:latin typeface="Times New Roman"/>
                <a:cs typeface="Times New Roman"/>
              </a:rPr>
              <a:t>-</a:t>
            </a:r>
            <a:endParaRPr sz="64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631461" y="3258608"/>
            <a:ext cx="2044700" cy="20110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038225">
              <a:lnSpc>
                <a:spcPts val="8330"/>
              </a:lnSpc>
              <a:spcBef>
                <a:spcPts val="90"/>
              </a:spcBef>
            </a:pPr>
            <a:r>
              <a:rPr dirty="0" sz="7300" spc="-395">
                <a:latin typeface="Times New Roman"/>
                <a:cs typeface="Times New Roman"/>
              </a:rPr>
              <a:t>are</a:t>
            </a:r>
            <a:endParaRPr sz="7300">
              <a:latin typeface="Times New Roman"/>
              <a:cs typeface="Times New Roman"/>
            </a:endParaRPr>
          </a:p>
          <a:p>
            <a:pPr marL="12700">
              <a:lnSpc>
                <a:spcPts val="7309"/>
              </a:lnSpc>
            </a:pPr>
            <a:r>
              <a:rPr dirty="0" sz="6450" spc="-434">
                <a:latin typeface="Times New Roman"/>
                <a:cs typeface="Times New Roman"/>
              </a:rPr>
              <a:t>7$rta.</a:t>
            </a:r>
            <a:endParaRPr sz="64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387043" y="6238875"/>
            <a:ext cx="3636010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100" spc="-10">
                <a:solidFill>
                  <a:srgbClr val="130500"/>
                </a:solidFill>
                <a:latin typeface="Times New Roman"/>
                <a:cs typeface="Times New Roman"/>
              </a:rPr>
              <a:t>[Create</a:t>
            </a:r>
            <a:r>
              <a:rPr dirty="0" sz="3100" spc="-145">
                <a:solidFill>
                  <a:srgbClr val="130500"/>
                </a:solidFill>
                <a:latin typeface="Times New Roman"/>
                <a:cs typeface="Times New Roman"/>
              </a:rPr>
              <a:t> </a:t>
            </a:r>
            <a:r>
              <a:rPr dirty="0" sz="3100">
                <a:solidFill>
                  <a:srgbClr val="160800"/>
                </a:solidFill>
                <a:latin typeface="Times New Roman"/>
                <a:cs typeface="Times New Roman"/>
              </a:rPr>
              <a:t>a</a:t>
            </a:r>
            <a:r>
              <a:rPr dirty="0" sz="3100" spc="-30">
                <a:solidFill>
                  <a:srgbClr val="160800"/>
                </a:solidFill>
                <a:latin typeface="Times New Roman"/>
                <a:cs typeface="Times New Roman"/>
              </a:rPr>
              <a:t> </a:t>
            </a:r>
            <a:r>
              <a:rPr dirty="0" sz="3100" spc="-95">
                <a:latin typeface="Times New Roman"/>
                <a:cs typeface="Times New Roman"/>
              </a:rPr>
              <a:t>Free.Account]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879416" y="6098116"/>
            <a:ext cx="4673600" cy="885190"/>
          </a:xfrm>
          <a:prstGeom prst="rect">
            <a:avLst/>
          </a:prstGeom>
          <a:ln w="21166">
            <a:solidFill>
              <a:srgbClr val="34342F"/>
            </a:solidFill>
          </a:ln>
        </p:spPr>
        <p:txBody>
          <a:bodyPr wrap="square" lIns="0" tIns="175260" rIns="0" bIns="0" rtlCol="0" vert="horz">
            <a:spAutoFit/>
          </a:bodyPr>
          <a:lstStyle/>
          <a:p>
            <a:pPr algn="ctr" marL="61594">
              <a:lnSpc>
                <a:spcPct val="100000"/>
              </a:lnSpc>
              <a:spcBef>
                <a:spcPts val="1380"/>
              </a:spcBef>
            </a:pPr>
            <a:r>
              <a:rPr dirty="0" sz="2850" spc="-204">
                <a:latin typeface="Times New Roman"/>
                <a:cs typeface="Times New Roman"/>
              </a:rPr>
              <a:t>[</a:t>
            </a:r>
            <a:r>
              <a:rPr dirty="0" sz="2850" spc="-45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Chat</a:t>
            </a:r>
            <a:r>
              <a:rPr dirty="0" sz="2850" spc="-25">
                <a:latin typeface="Times New Roman"/>
                <a:cs typeface="Times New Roman"/>
              </a:rPr>
              <a:t> </a:t>
            </a:r>
            <a:r>
              <a:rPr dirty="0" sz="2850" spc="-45">
                <a:latin typeface="Times New Roman"/>
                <a:cs typeface="Times New Roman"/>
              </a:rPr>
              <a:t>with</a:t>
            </a:r>
            <a:r>
              <a:rPr dirty="0" sz="2850" spc="50">
                <a:latin typeface="Times New Roman"/>
                <a:cs typeface="Times New Roman"/>
              </a:rPr>
              <a:t> </a:t>
            </a:r>
            <a:r>
              <a:rPr dirty="0" sz="2850">
                <a:latin typeface="Times New Roman"/>
                <a:cs typeface="Times New Roman"/>
              </a:rPr>
              <a:t>an</a:t>
            </a:r>
            <a:r>
              <a:rPr dirty="0" sz="2850" spc="145">
                <a:latin typeface="Times New Roman"/>
                <a:cs typeface="Times New Roman"/>
              </a:rPr>
              <a:t> </a:t>
            </a:r>
            <a:r>
              <a:rPr dirty="0" sz="2850" spc="-65">
                <a:latin typeface="Times New Roman"/>
                <a:cs typeface="Times New Roman"/>
              </a:rPr>
              <a:t>Expert</a:t>
            </a:r>
            <a:r>
              <a:rPr dirty="0" sz="2850" spc="-75">
                <a:latin typeface="Times New Roman"/>
                <a:cs typeface="Times New Roman"/>
              </a:rPr>
              <a:t> </a:t>
            </a:r>
            <a:r>
              <a:rPr dirty="0" sz="2850" spc="-50">
                <a:latin typeface="Times New Roman"/>
                <a:cs typeface="Times New Roman"/>
              </a:rPr>
              <a:t>]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232599" y="7470775"/>
            <a:ext cx="4959350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100" spc="-170">
                <a:latin typeface="Times New Roman"/>
                <a:cs typeface="Times New Roman"/>
              </a:rPr>
              <a:t>Available</a:t>
            </a:r>
            <a:r>
              <a:rPr dirty="0" sz="3100" spc="-25">
                <a:latin typeface="Times New Roman"/>
                <a:cs typeface="Times New Roman"/>
              </a:rPr>
              <a:t> </a:t>
            </a:r>
            <a:r>
              <a:rPr dirty="0" sz="3100" spc="-254">
                <a:latin typeface="Times New Roman"/>
                <a:cs typeface="Times New Roman"/>
              </a:rPr>
              <a:t>now</a:t>
            </a:r>
            <a:r>
              <a:rPr dirty="0" sz="3100" spc="-90">
                <a:latin typeface="Times New Roman"/>
                <a:cs typeface="Times New Roman"/>
              </a:rPr>
              <a:t> </a:t>
            </a:r>
            <a:r>
              <a:rPr dirty="0" sz="3100">
                <a:latin typeface="Times New Roman"/>
                <a:cs typeface="Times New Roman"/>
              </a:rPr>
              <a:t>on</a:t>
            </a:r>
            <a:r>
              <a:rPr dirty="0" sz="3100" spc="-195">
                <a:latin typeface="Times New Roman"/>
                <a:cs typeface="Times New Roman"/>
              </a:rPr>
              <a:t> </a:t>
            </a:r>
            <a:r>
              <a:rPr dirty="0" sz="3100" spc="-310">
                <a:latin typeface="Times New Roman"/>
                <a:cs typeface="Times New Roman"/>
              </a:rPr>
              <a:t>iOS</a:t>
            </a:r>
            <a:r>
              <a:rPr dirty="0" sz="3100" spc="-135">
                <a:latin typeface="Times New Roman"/>
                <a:cs typeface="Times New Roman"/>
              </a:rPr>
              <a:t> </a:t>
            </a:r>
            <a:r>
              <a:rPr dirty="0" sz="3100" spc="-25">
                <a:latin typeface="Times New Roman"/>
                <a:cs typeface="Times New Roman"/>
              </a:rPr>
              <a:t>and</a:t>
            </a:r>
            <a:r>
              <a:rPr dirty="0" sz="3100" spc="-75">
                <a:latin typeface="Times New Roman"/>
                <a:cs typeface="Times New Roman"/>
              </a:rPr>
              <a:t> </a:t>
            </a:r>
            <a:r>
              <a:rPr dirty="0" sz="3100" spc="-190">
                <a:latin typeface="Times New Roman"/>
                <a:cs typeface="Times New Roman"/>
              </a:rPr>
              <a:t>Android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6109162" y="9404702"/>
            <a:ext cx="12217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3525" algn="l"/>
              </a:tabLst>
            </a:pPr>
            <a:r>
              <a:rPr dirty="0" sz="1600" spc="-50">
                <a:latin typeface="Times New Roman"/>
                <a:cs typeface="Times New Roman"/>
              </a:rPr>
              <a:t>G</a:t>
            </a:r>
            <a:r>
              <a:rPr dirty="0" sz="1600">
                <a:latin typeface="Times New Roman"/>
                <a:cs typeface="Times New Roman"/>
              </a:rPr>
              <a:t>	</a:t>
            </a:r>
            <a:r>
              <a:rPr dirty="0" sz="1600" spc="-160">
                <a:latin typeface="Times New Roman"/>
                <a:cs typeface="Times New Roman"/>
              </a:rPr>
              <a:t>NotebookLtVi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868" y="1003300"/>
            <a:ext cx="10017125" cy="1092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200"/>
              </a:lnSpc>
              <a:spcBef>
                <a:spcPts val="100"/>
              </a:spcBef>
            </a:pPr>
            <a:r>
              <a:rPr dirty="0" sz="3750" spc="-295">
                <a:solidFill>
                  <a:srgbClr val="000000"/>
                </a:solidFill>
                <a:latin typeface="Arial Narrow"/>
                <a:cs typeface="Arial Narrow"/>
              </a:rPr>
              <a:t>ARTA</a:t>
            </a:r>
            <a:r>
              <a:rPr dirty="0" sz="3750" spc="155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dirty="0" sz="3750" spc="-285">
                <a:solidFill>
                  <a:srgbClr val="000000"/>
                </a:solidFill>
                <a:latin typeface="Arial Narrow"/>
                <a:cs typeface="Arial Narrow"/>
              </a:rPr>
              <a:t>WEALTH</a:t>
            </a:r>
            <a:r>
              <a:rPr dirty="0" sz="3750" spc="9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dirty="0" sz="3750" spc="-185">
                <a:solidFill>
                  <a:srgbClr val="000000"/>
                </a:solidFill>
                <a:latin typeface="Arial Narrow"/>
                <a:cs typeface="Arial Narrow"/>
              </a:rPr>
              <a:t>MANAGEMENT</a:t>
            </a:r>
            <a:r>
              <a:rPr dirty="0" sz="3750" spc="185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dirty="0" sz="3750" spc="-204">
                <a:solidFill>
                  <a:srgbClr val="000000"/>
                </a:solidFill>
                <a:latin typeface="Arial Narrow"/>
                <a:cs typeface="Arial Narrow"/>
              </a:rPr>
              <a:t>PTE</a:t>
            </a:r>
            <a:r>
              <a:rPr dirty="0" sz="3750" spc="-15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dirty="0" sz="3750" spc="-355">
                <a:solidFill>
                  <a:srgbClr val="000000"/>
                </a:solidFill>
                <a:latin typeface="Arial Narrow"/>
                <a:cs typeface="Arial Narrow"/>
              </a:rPr>
              <a:t>LTD</a:t>
            </a:r>
            <a:r>
              <a:rPr dirty="0" sz="3750" spc="-4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dirty="0" sz="3750" spc="-150">
                <a:solidFill>
                  <a:srgbClr val="000000"/>
                </a:solidFill>
                <a:latin typeface="Arial Narrow"/>
                <a:cs typeface="Arial Narrow"/>
              </a:rPr>
              <a:t>|</a:t>
            </a:r>
            <a:r>
              <a:rPr dirty="0" sz="3750" spc="-7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dirty="0" sz="3750" spc="-285">
                <a:solidFill>
                  <a:srgbClr val="000000"/>
                </a:solidFill>
                <a:latin typeface="Arial Narrow"/>
                <a:cs typeface="Arial Narrow"/>
              </a:rPr>
              <a:t>UEN</a:t>
            </a:r>
            <a:r>
              <a:rPr dirty="0" sz="3750" spc="8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dirty="0" sz="3750" spc="-100">
                <a:solidFill>
                  <a:srgbClr val="000000"/>
                </a:solidFill>
                <a:latin typeface="Arial Narrow"/>
                <a:cs typeface="Arial Narrow"/>
              </a:rPr>
              <a:t>202239101</a:t>
            </a:r>
            <a:r>
              <a:rPr dirty="0" sz="3750" spc="-48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dirty="0" sz="3750" spc="-385">
                <a:solidFill>
                  <a:srgbClr val="000000"/>
                </a:solidFill>
                <a:latin typeface="Arial Narrow"/>
                <a:cs typeface="Arial Narrow"/>
              </a:rPr>
              <a:t>D</a:t>
            </a:r>
            <a:endParaRPr sz="3750">
              <a:latin typeface="Arial Narrow"/>
              <a:cs typeface="Arial Narrow"/>
            </a:endParaRPr>
          </a:p>
          <a:p>
            <a:pPr marL="13970">
              <a:lnSpc>
                <a:spcPts val="4200"/>
              </a:lnSpc>
            </a:pPr>
            <a:r>
              <a:rPr dirty="0" sz="3750" spc="-65">
                <a:solidFill>
                  <a:srgbClr val="000000"/>
                </a:solidFill>
                <a:latin typeface="Arial Narrow"/>
                <a:cs typeface="Arial Narrow"/>
              </a:rPr>
              <a:t>21</a:t>
            </a:r>
            <a:r>
              <a:rPr dirty="0" sz="3750" spc="-15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dirty="0" sz="3750" spc="-75">
                <a:solidFill>
                  <a:srgbClr val="000000"/>
                </a:solidFill>
                <a:latin typeface="Arial Narrow"/>
                <a:cs typeface="Arial Narrow"/>
              </a:rPr>
              <a:t>Collyer</a:t>
            </a:r>
            <a:r>
              <a:rPr dirty="0" sz="3750" spc="-12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dirty="0" sz="3750" spc="-140">
                <a:solidFill>
                  <a:srgbClr val="000000"/>
                </a:solidFill>
                <a:latin typeface="Arial Narrow"/>
                <a:cs typeface="Arial Narrow"/>
              </a:rPr>
              <a:t>Quay</a:t>
            </a:r>
            <a:r>
              <a:rPr dirty="0" sz="375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dirty="0" sz="3750" spc="-105">
                <a:solidFill>
                  <a:srgbClr val="000000"/>
                </a:solidFill>
                <a:latin typeface="Arial Narrow"/>
                <a:cs typeface="Arial Narrow"/>
              </a:rPr>
              <a:t>#07-</a:t>
            </a:r>
            <a:r>
              <a:rPr dirty="0" sz="3750" spc="-60">
                <a:solidFill>
                  <a:srgbClr val="000000"/>
                </a:solidFill>
                <a:latin typeface="Arial Narrow"/>
                <a:cs typeface="Arial Narrow"/>
              </a:rPr>
              <a:t>103,</a:t>
            </a:r>
            <a:r>
              <a:rPr dirty="0" sz="3750" spc="-12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dirty="0" sz="3750" spc="-85">
                <a:solidFill>
                  <a:srgbClr val="000000"/>
                </a:solidFill>
                <a:latin typeface="Arial Narrow"/>
                <a:cs typeface="Arial Narrow"/>
              </a:rPr>
              <a:t>Singapore </a:t>
            </a:r>
            <a:r>
              <a:rPr dirty="0" sz="3750" spc="-10">
                <a:solidFill>
                  <a:srgbClr val="000000"/>
                </a:solidFill>
                <a:latin typeface="Arial Narrow"/>
                <a:cs typeface="Arial Narrow"/>
              </a:rPr>
              <a:t>049320</a:t>
            </a:r>
            <a:endParaRPr sz="3750">
              <a:latin typeface="Arial Narrow"/>
              <a:cs typeface="Arial Narrow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88901" y="3891138"/>
            <a:ext cx="15516860" cy="509206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 marR="5080" indent="20955">
              <a:lnSpc>
                <a:spcPct val="90700"/>
              </a:lnSpc>
              <a:spcBef>
                <a:spcPts val="509"/>
              </a:spcBef>
              <a:tabLst>
                <a:tab pos="12884785" algn="l"/>
              </a:tabLst>
            </a:pPr>
            <a:r>
              <a:rPr dirty="0" sz="3600" spc="-215">
                <a:latin typeface="Arial"/>
                <a:cs typeface="Arial"/>
              </a:rPr>
              <a:t>lmpoi1ant</a:t>
            </a:r>
            <a:r>
              <a:rPr dirty="0" sz="3600" spc="150">
                <a:latin typeface="Arial"/>
                <a:cs typeface="Arial"/>
              </a:rPr>
              <a:t> </a:t>
            </a:r>
            <a:r>
              <a:rPr dirty="0" sz="3600" spc="-220">
                <a:latin typeface="Arial"/>
                <a:cs typeface="Arial"/>
              </a:rPr>
              <a:t>Disclosures:</a:t>
            </a:r>
            <a:r>
              <a:rPr dirty="0" sz="3600">
                <a:latin typeface="Arial"/>
                <a:cs typeface="Arial"/>
              </a:rPr>
              <a:t> </a:t>
            </a:r>
            <a:r>
              <a:rPr dirty="0" sz="3600" spc="-204">
                <a:latin typeface="Arial"/>
                <a:cs typeface="Arial"/>
              </a:rPr>
              <a:t>Arta</a:t>
            </a:r>
            <a:r>
              <a:rPr dirty="0" sz="3600" spc="-80">
                <a:latin typeface="Arial"/>
                <a:cs typeface="Arial"/>
              </a:rPr>
              <a:t> </a:t>
            </a:r>
            <a:r>
              <a:rPr dirty="0" sz="3600" spc="-285">
                <a:latin typeface="Arial"/>
                <a:cs typeface="Arial"/>
              </a:rPr>
              <a:t>Wealth</a:t>
            </a:r>
            <a:r>
              <a:rPr dirty="0" sz="3600" spc="-75">
                <a:latin typeface="Arial"/>
                <a:cs typeface="Arial"/>
              </a:rPr>
              <a:t> </a:t>
            </a:r>
            <a:r>
              <a:rPr dirty="0" sz="3600" spc="-280">
                <a:latin typeface="Arial"/>
                <a:cs typeface="Arial"/>
              </a:rPr>
              <a:t>Management</a:t>
            </a:r>
            <a:r>
              <a:rPr dirty="0" sz="3600" spc="175">
                <a:latin typeface="Arial"/>
                <a:cs typeface="Arial"/>
              </a:rPr>
              <a:t> </a:t>
            </a:r>
            <a:r>
              <a:rPr dirty="0" sz="3600" spc="-235">
                <a:latin typeface="Arial"/>
                <a:cs typeface="Arial"/>
              </a:rPr>
              <a:t>Pte.</a:t>
            </a:r>
            <a:r>
              <a:rPr dirty="0" sz="3600" spc="-100">
                <a:latin typeface="Arial"/>
                <a:cs typeface="Arial"/>
              </a:rPr>
              <a:t> </a:t>
            </a:r>
            <a:r>
              <a:rPr dirty="0" sz="3600" spc="-190">
                <a:latin typeface="Arial"/>
                <a:cs typeface="Arial"/>
              </a:rPr>
              <a:t>Ltd.</a:t>
            </a:r>
            <a:r>
              <a:rPr dirty="0" sz="3600" spc="-170">
                <a:latin typeface="Arial"/>
                <a:cs typeface="Arial"/>
              </a:rPr>
              <a:t> </a:t>
            </a:r>
            <a:r>
              <a:rPr dirty="0" sz="3600" spc="-165">
                <a:latin typeface="Arial"/>
                <a:cs typeface="Arial"/>
              </a:rPr>
              <a:t>is</a:t>
            </a:r>
            <a:r>
              <a:rPr dirty="0" sz="3600" spc="-190">
                <a:latin typeface="Arial"/>
                <a:cs typeface="Arial"/>
              </a:rPr>
              <a:t> </a:t>
            </a:r>
            <a:r>
              <a:rPr dirty="0" sz="3600" spc="-220">
                <a:latin typeface="Arial"/>
                <a:cs typeface="Arial"/>
              </a:rPr>
              <a:t>regulated</a:t>
            </a:r>
            <a:r>
              <a:rPr dirty="0" sz="3600">
                <a:latin typeface="Arial"/>
                <a:cs typeface="Arial"/>
              </a:rPr>
              <a:t> </a:t>
            </a:r>
            <a:r>
              <a:rPr dirty="0" sz="3600" spc="-285">
                <a:latin typeface="Arial"/>
                <a:cs typeface="Arial"/>
              </a:rPr>
              <a:t>by</a:t>
            </a:r>
            <a:r>
              <a:rPr dirty="0" sz="3600" spc="-270">
                <a:latin typeface="Arial"/>
                <a:cs typeface="Arial"/>
              </a:rPr>
              <a:t> </a:t>
            </a:r>
            <a:r>
              <a:rPr dirty="0" sz="3600" spc="-170">
                <a:latin typeface="Arial"/>
                <a:cs typeface="Arial"/>
              </a:rPr>
              <a:t>the</a:t>
            </a:r>
            <a:r>
              <a:rPr dirty="0" sz="3600" spc="-225">
                <a:latin typeface="Arial"/>
                <a:cs typeface="Arial"/>
              </a:rPr>
              <a:t> </a:t>
            </a:r>
            <a:r>
              <a:rPr dirty="0" sz="3600" spc="-165">
                <a:latin typeface="Arial"/>
                <a:cs typeface="Arial"/>
              </a:rPr>
              <a:t>Monetary </a:t>
            </a:r>
            <a:r>
              <a:rPr dirty="0" sz="3550" spc="-165">
                <a:latin typeface="Arial"/>
                <a:cs typeface="Arial"/>
              </a:rPr>
              <a:t>Authority</a:t>
            </a:r>
            <a:r>
              <a:rPr dirty="0" sz="3550" spc="-30">
                <a:latin typeface="Arial"/>
                <a:cs typeface="Arial"/>
              </a:rPr>
              <a:t> </a:t>
            </a:r>
            <a:r>
              <a:rPr dirty="0" sz="3550" spc="-130">
                <a:latin typeface="Arial"/>
                <a:cs typeface="Arial"/>
              </a:rPr>
              <a:t>of</a:t>
            </a:r>
            <a:r>
              <a:rPr dirty="0" sz="3550" spc="-180">
                <a:latin typeface="Arial"/>
                <a:cs typeface="Arial"/>
              </a:rPr>
              <a:t> </a:t>
            </a:r>
            <a:r>
              <a:rPr dirty="0" sz="3550" spc="-260">
                <a:latin typeface="Arial"/>
                <a:cs typeface="Arial"/>
              </a:rPr>
              <a:t>Singapore</a:t>
            </a:r>
            <a:r>
              <a:rPr dirty="0" sz="3550" spc="15">
                <a:latin typeface="Arial"/>
                <a:cs typeface="Arial"/>
              </a:rPr>
              <a:t> </a:t>
            </a:r>
            <a:r>
              <a:rPr dirty="0" sz="3550" spc="-200">
                <a:latin typeface="Arial"/>
                <a:cs typeface="Arial"/>
              </a:rPr>
              <a:t>(“MAS“)</a:t>
            </a:r>
            <a:r>
              <a:rPr dirty="0" sz="3550" spc="60">
                <a:latin typeface="Arial"/>
                <a:cs typeface="Arial"/>
              </a:rPr>
              <a:t> </a:t>
            </a:r>
            <a:r>
              <a:rPr dirty="0" sz="3550" spc="-280">
                <a:latin typeface="Arial"/>
                <a:cs typeface="Arial"/>
              </a:rPr>
              <a:t>and</a:t>
            </a:r>
            <a:r>
              <a:rPr dirty="0" sz="3550" spc="-135">
                <a:latin typeface="Arial"/>
                <a:cs typeface="Arial"/>
              </a:rPr>
              <a:t> </a:t>
            </a:r>
            <a:r>
              <a:rPr dirty="0" sz="3550" spc="-204">
                <a:latin typeface="Arial"/>
                <a:cs typeface="Arial"/>
              </a:rPr>
              <a:t>holds</a:t>
            </a:r>
            <a:r>
              <a:rPr dirty="0" sz="3550" spc="-25">
                <a:latin typeface="Arial"/>
                <a:cs typeface="Arial"/>
              </a:rPr>
              <a:t> </a:t>
            </a:r>
            <a:r>
              <a:rPr dirty="0" sz="3550" spc="-395">
                <a:latin typeface="Arial"/>
                <a:cs typeface="Arial"/>
              </a:rPr>
              <a:t>a</a:t>
            </a:r>
            <a:r>
              <a:rPr dirty="0" sz="3550" spc="-135">
                <a:latin typeface="Arial"/>
                <a:cs typeface="Arial"/>
              </a:rPr>
              <a:t> </a:t>
            </a:r>
            <a:r>
              <a:rPr dirty="0" sz="3550" spc="-215">
                <a:latin typeface="Arial"/>
                <a:cs typeface="Arial"/>
              </a:rPr>
              <a:t>Capital</a:t>
            </a:r>
            <a:r>
              <a:rPr dirty="0" sz="3550" spc="-75">
                <a:latin typeface="Arial"/>
                <a:cs typeface="Arial"/>
              </a:rPr>
              <a:t> </a:t>
            </a:r>
            <a:r>
              <a:rPr dirty="0" sz="3550" spc="-215">
                <a:latin typeface="Arial"/>
                <a:cs typeface="Arial"/>
              </a:rPr>
              <a:t>Markets</a:t>
            </a:r>
            <a:r>
              <a:rPr dirty="0" sz="3550" spc="-5">
                <a:latin typeface="Arial"/>
                <a:cs typeface="Arial"/>
              </a:rPr>
              <a:t> </a:t>
            </a:r>
            <a:r>
              <a:rPr dirty="0" sz="3550" spc="-260">
                <a:latin typeface="Arial"/>
                <a:cs typeface="Arial"/>
              </a:rPr>
              <a:t>Services</a:t>
            </a:r>
            <a:r>
              <a:rPr dirty="0" sz="3550" spc="60">
                <a:latin typeface="Arial"/>
                <a:cs typeface="Arial"/>
              </a:rPr>
              <a:t> </a:t>
            </a:r>
            <a:r>
              <a:rPr dirty="0" sz="3550" spc="-204">
                <a:latin typeface="Arial"/>
                <a:cs typeface="Arial"/>
              </a:rPr>
              <a:t>license</a:t>
            </a:r>
            <a:r>
              <a:rPr dirty="0" sz="3550" spc="-5">
                <a:latin typeface="Arial"/>
                <a:cs typeface="Arial"/>
              </a:rPr>
              <a:t> </a:t>
            </a:r>
            <a:r>
              <a:rPr dirty="0" sz="3550" spc="-114">
                <a:latin typeface="Arial"/>
                <a:cs typeface="Arial"/>
              </a:rPr>
              <a:t>for</a:t>
            </a:r>
            <a:r>
              <a:rPr dirty="0" sz="3550" spc="-95">
                <a:latin typeface="Arial"/>
                <a:cs typeface="Arial"/>
              </a:rPr>
              <a:t> </a:t>
            </a:r>
            <a:r>
              <a:rPr dirty="0" sz="3550" spc="-20">
                <a:latin typeface="Arial"/>
                <a:cs typeface="Arial"/>
              </a:rPr>
              <a:t>fund </a:t>
            </a:r>
            <a:r>
              <a:rPr dirty="0" sz="3650" spc="-330">
                <a:latin typeface="Arial"/>
                <a:cs typeface="Arial"/>
              </a:rPr>
              <a:t>management,</a:t>
            </a:r>
            <a:r>
              <a:rPr dirty="0" sz="3650" spc="130">
                <a:latin typeface="Arial"/>
                <a:cs typeface="Arial"/>
              </a:rPr>
              <a:t> </a:t>
            </a:r>
            <a:r>
              <a:rPr dirty="0" sz="3650" spc="-275">
                <a:latin typeface="Arial"/>
                <a:cs typeface="Arial"/>
              </a:rPr>
              <a:t>dealing</a:t>
            </a:r>
            <a:r>
              <a:rPr dirty="0" sz="3650" spc="-95">
                <a:latin typeface="Arial"/>
                <a:cs typeface="Arial"/>
              </a:rPr>
              <a:t> </a:t>
            </a:r>
            <a:r>
              <a:rPr dirty="0" sz="3650" spc="-195">
                <a:latin typeface="Arial"/>
                <a:cs typeface="Arial"/>
              </a:rPr>
              <a:t>in</a:t>
            </a:r>
            <a:r>
              <a:rPr dirty="0" sz="3650" spc="-165">
                <a:latin typeface="Arial"/>
                <a:cs typeface="Arial"/>
              </a:rPr>
              <a:t> </a:t>
            </a:r>
            <a:r>
              <a:rPr dirty="0" sz="3650" spc="-240">
                <a:latin typeface="Arial"/>
                <a:cs typeface="Arial"/>
              </a:rPr>
              <a:t>securities</a:t>
            </a:r>
            <a:r>
              <a:rPr dirty="0" sz="3650" spc="114">
                <a:latin typeface="Arial"/>
                <a:cs typeface="Arial"/>
              </a:rPr>
              <a:t> </a:t>
            </a:r>
            <a:r>
              <a:rPr dirty="0" sz="3650" spc="-310">
                <a:latin typeface="Arial"/>
                <a:cs typeface="Arial"/>
              </a:rPr>
              <a:t>and</a:t>
            </a:r>
            <a:r>
              <a:rPr dirty="0" sz="3650" spc="-240">
                <a:latin typeface="Arial"/>
                <a:cs typeface="Arial"/>
              </a:rPr>
              <a:t> </a:t>
            </a:r>
            <a:r>
              <a:rPr dirty="0" sz="3650" spc="-220">
                <a:latin typeface="Arial"/>
                <a:cs typeface="Arial"/>
              </a:rPr>
              <a:t>collective</a:t>
            </a:r>
            <a:r>
              <a:rPr dirty="0" sz="3650" spc="-120">
                <a:latin typeface="Arial"/>
                <a:cs typeface="Arial"/>
              </a:rPr>
              <a:t> </a:t>
            </a:r>
            <a:r>
              <a:rPr dirty="0" sz="3650" spc="-270">
                <a:latin typeface="Arial"/>
                <a:cs typeface="Arial"/>
              </a:rPr>
              <a:t>investment</a:t>
            </a:r>
            <a:r>
              <a:rPr dirty="0" sz="3650" spc="125">
                <a:latin typeface="Arial"/>
                <a:cs typeface="Arial"/>
              </a:rPr>
              <a:t> </a:t>
            </a:r>
            <a:r>
              <a:rPr dirty="0" sz="3650" spc="-335">
                <a:latin typeface="Arial"/>
                <a:cs typeface="Arial"/>
              </a:rPr>
              <a:t>schemes</a:t>
            </a:r>
            <a:r>
              <a:rPr dirty="0" sz="3650" spc="15">
                <a:latin typeface="Arial"/>
                <a:cs typeface="Arial"/>
              </a:rPr>
              <a:t> </a:t>
            </a:r>
            <a:r>
              <a:rPr dirty="0" sz="3650" spc="-450">
                <a:latin typeface="Arial"/>
                <a:cs typeface="Arial"/>
              </a:rPr>
              <a:t>(CMS</a:t>
            </a:r>
            <a:r>
              <a:rPr dirty="0" sz="3650" spc="-170">
                <a:latin typeface="Arial"/>
                <a:cs typeface="Arial"/>
              </a:rPr>
              <a:t> </a:t>
            </a:r>
            <a:r>
              <a:rPr dirty="0" sz="3650" spc="-325">
                <a:latin typeface="Arial"/>
                <a:cs typeface="Arial"/>
              </a:rPr>
              <a:t>License </a:t>
            </a:r>
            <a:r>
              <a:rPr dirty="0" sz="3650" spc="-275">
                <a:latin typeface="Arial"/>
                <a:cs typeface="Arial"/>
              </a:rPr>
              <a:t>101441).</a:t>
            </a:r>
            <a:r>
              <a:rPr dirty="0" sz="3650" spc="-40">
                <a:latin typeface="Arial"/>
                <a:cs typeface="Arial"/>
              </a:rPr>
              <a:t> </a:t>
            </a:r>
            <a:r>
              <a:rPr dirty="0" sz="3650" spc="-405">
                <a:latin typeface="Arial"/>
                <a:cs typeface="Arial"/>
              </a:rPr>
              <a:t>Our</a:t>
            </a:r>
            <a:r>
              <a:rPr dirty="0" sz="3650" spc="-190">
                <a:latin typeface="Arial"/>
                <a:cs typeface="Arial"/>
              </a:rPr>
              <a:t> </a:t>
            </a:r>
            <a:r>
              <a:rPr dirty="0" sz="3650" spc="-80">
                <a:latin typeface="Arial"/>
                <a:cs typeface="Arial"/>
              </a:rPr>
              <a:t>product</a:t>
            </a:r>
            <a:r>
              <a:rPr dirty="0" sz="3650" spc="20">
                <a:latin typeface="Arial"/>
                <a:cs typeface="Arial"/>
              </a:rPr>
              <a:t> </a:t>
            </a:r>
            <a:r>
              <a:rPr dirty="0" sz="3650" spc="-370">
                <a:latin typeface="Arial"/>
                <a:cs typeface="Arial"/>
              </a:rPr>
              <a:t>and</a:t>
            </a:r>
            <a:r>
              <a:rPr dirty="0" sz="3650" spc="-229">
                <a:latin typeface="Arial"/>
                <a:cs typeface="Arial"/>
              </a:rPr>
              <a:t> </a:t>
            </a:r>
            <a:r>
              <a:rPr dirty="0" sz="3650" spc="-320">
                <a:latin typeface="Arial"/>
                <a:cs typeface="Arial"/>
              </a:rPr>
              <a:t>services</a:t>
            </a:r>
            <a:r>
              <a:rPr dirty="0" sz="3650" spc="-70">
                <a:latin typeface="Arial"/>
                <a:cs typeface="Arial"/>
              </a:rPr>
              <a:t> </a:t>
            </a:r>
            <a:r>
              <a:rPr dirty="0" sz="3650" spc="-375">
                <a:latin typeface="Arial"/>
                <a:cs typeface="Arial"/>
              </a:rPr>
              <a:t>are</a:t>
            </a:r>
            <a:r>
              <a:rPr dirty="0" sz="3650" spc="-105">
                <a:latin typeface="Arial"/>
                <a:cs typeface="Arial"/>
              </a:rPr>
              <a:t> </a:t>
            </a:r>
            <a:r>
              <a:rPr dirty="0" sz="3650" spc="-320">
                <a:latin typeface="Arial"/>
                <a:cs typeface="Arial"/>
              </a:rPr>
              <a:t>only</a:t>
            </a:r>
            <a:r>
              <a:rPr dirty="0" sz="3650" spc="-195">
                <a:latin typeface="Arial"/>
                <a:cs typeface="Arial"/>
              </a:rPr>
              <a:t> </a:t>
            </a:r>
            <a:r>
              <a:rPr dirty="0" sz="3650" spc="-325">
                <a:latin typeface="Arial"/>
                <a:cs typeface="Arial"/>
              </a:rPr>
              <a:t>available</a:t>
            </a:r>
            <a:r>
              <a:rPr dirty="0" sz="3650" spc="35">
                <a:latin typeface="Arial"/>
                <a:cs typeface="Arial"/>
              </a:rPr>
              <a:t> </a:t>
            </a:r>
            <a:r>
              <a:rPr dirty="0" sz="3650" spc="-175">
                <a:latin typeface="Arial"/>
                <a:cs typeface="Arial"/>
              </a:rPr>
              <a:t>to</a:t>
            </a:r>
            <a:r>
              <a:rPr dirty="0" sz="3650" spc="-330">
                <a:latin typeface="Arial"/>
                <a:cs typeface="Arial"/>
              </a:rPr>
              <a:t> </a:t>
            </a:r>
            <a:r>
              <a:rPr dirty="0" sz="3650" spc="-254">
                <a:latin typeface="Arial"/>
                <a:cs typeface="Arial"/>
              </a:rPr>
              <a:t>inpacited</a:t>
            </a:r>
            <a:r>
              <a:rPr dirty="0" sz="3650" spc="-35">
                <a:latin typeface="Arial"/>
                <a:cs typeface="Arial"/>
              </a:rPr>
              <a:t> </a:t>
            </a:r>
            <a:r>
              <a:rPr dirty="0" sz="3650" spc="-440">
                <a:latin typeface="Arial"/>
                <a:cs typeface="Arial"/>
              </a:rPr>
              <a:t>I3y</a:t>
            </a:r>
            <a:r>
              <a:rPr dirty="0" sz="3650" spc="-120">
                <a:latin typeface="Arial"/>
                <a:cs typeface="Arial"/>
              </a:rPr>
              <a:t> </a:t>
            </a:r>
            <a:r>
              <a:rPr dirty="0" sz="3650" spc="-25">
                <a:latin typeface="Arial"/>
                <a:cs typeface="Arial"/>
              </a:rPr>
              <a:t>the</a:t>
            </a:r>
            <a:r>
              <a:rPr dirty="0" sz="3650">
                <a:latin typeface="Arial"/>
                <a:cs typeface="Arial"/>
              </a:rPr>
              <a:t>	</a:t>
            </a:r>
            <a:r>
              <a:rPr dirty="0" sz="3650" spc="-325">
                <a:latin typeface="Arial"/>
                <a:cs typeface="Arial"/>
              </a:rPr>
              <a:t>Wealth's </a:t>
            </a:r>
            <a:r>
              <a:rPr dirty="0" sz="3600" spc="-254">
                <a:latin typeface="Arial"/>
                <a:cs typeface="Arial"/>
              </a:rPr>
              <a:t>products,</a:t>
            </a:r>
            <a:r>
              <a:rPr dirty="0" sz="3600" spc="-20">
                <a:latin typeface="Arial"/>
                <a:cs typeface="Arial"/>
              </a:rPr>
              <a:t> </a:t>
            </a:r>
            <a:r>
              <a:rPr dirty="0" sz="3600" spc="-215">
                <a:latin typeface="Arial"/>
                <a:cs typeface="Arial"/>
              </a:rPr>
              <a:t>ton-</a:t>
            </a:r>
            <a:r>
              <a:rPr dirty="0" sz="3600" spc="-290">
                <a:latin typeface="Arial"/>
                <a:cs typeface="Arial"/>
              </a:rPr>
              <a:t>make</a:t>
            </a:r>
            <a:r>
              <a:rPr dirty="0" sz="3600" spc="70">
                <a:latin typeface="Arial"/>
                <a:cs typeface="Arial"/>
              </a:rPr>
              <a:t> </a:t>
            </a:r>
            <a:r>
              <a:rPr dirty="0" sz="3600" spc="-204">
                <a:latin typeface="Arial"/>
                <a:cs typeface="Arial"/>
              </a:rPr>
              <a:t>only</a:t>
            </a:r>
            <a:r>
              <a:rPr dirty="0" sz="3600" spc="-130">
                <a:latin typeface="Arial"/>
                <a:cs typeface="Arial"/>
              </a:rPr>
              <a:t> </a:t>
            </a:r>
            <a:r>
              <a:rPr dirty="0" sz="3600" spc="-215">
                <a:latin typeface="Arial"/>
                <a:cs typeface="Arial"/>
              </a:rPr>
              <a:t>available</a:t>
            </a:r>
            <a:r>
              <a:rPr dirty="0" sz="3600" spc="-15">
                <a:latin typeface="Arial"/>
                <a:cs typeface="Arial"/>
              </a:rPr>
              <a:t> </a:t>
            </a:r>
            <a:r>
              <a:rPr dirty="0" sz="3600" spc="-95">
                <a:latin typeface="Arial"/>
                <a:cs typeface="Arial"/>
              </a:rPr>
              <a:t>to</a:t>
            </a:r>
            <a:r>
              <a:rPr dirty="0" sz="3600" spc="-150">
                <a:latin typeface="Arial"/>
                <a:cs typeface="Arial"/>
              </a:rPr>
              <a:t> </a:t>
            </a:r>
            <a:r>
              <a:rPr dirty="0" sz="3600" spc="-204">
                <a:latin typeface="Arial"/>
                <a:cs typeface="Arial"/>
              </a:rPr>
              <a:t>Accredited</a:t>
            </a:r>
            <a:r>
              <a:rPr dirty="0" sz="3600" spc="65">
                <a:latin typeface="Arial"/>
                <a:cs typeface="Arial"/>
              </a:rPr>
              <a:t> </a:t>
            </a:r>
            <a:r>
              <a:rPr dirty="0" sz="3600" spc="-195">
                <a:latin typeface="Arial"/>
                <a:cs typeface="Arial"/>
              </a:rPr>
              <a:t>Investors.</a:t>
            </a:r>
            <a:r>
              <a:rPr dirty="0" sz="3600" spc="-40">
                <a:latin typeface="Arial"/>
                <a:cs typeface="Arial"/>
              </a:rPr>
              <a:t> </a:t>
            </a:r>
            <a:r>
              <a:rPr dirty="0" sz="3600" spc="-195">
                <a:latin typeface="Arial"/>
                <a:cs typeface="Arial"/>
              </a:rPr>
              <a:t>Investing</a:t>
            </a:r>
            <a:r>
              <a:rPr dirty="0" sz="3600">
                <a:latin typeface="Arial"/>
                <a:cs typeface="Arial"/>
              </a:rPr>
              <a:t> </a:t>
            </a:r>
            <a:r>
              <a:rPr dirty="0" sz="3600" spc="-110">
                <a:latin typeface="Arial"/>
                <a:cs typeface="Arial"/>
              </a:rPr>
              <a:t>in</a:t>
            </a:r>
            <a:r>
              <a:rPr dirty="0" sz="3600" spc="-170">
                <a:latin typeface="Arial"/>
                <a:cs typeface="Arial"/>
              </a:rPr>
              <a:t> </a:t>
            </a:r>
            <a:r>
              <a:rPr dirty="0" sz="3600" spc="-40">
                <a:latin typeface="Arial"/>
                <a:cs typeface="Arial"/>
              </a:rPr>
              <a:t>securities </a:t>
            </a:r>
            <a:r>
              <a:rPr dirty="0" sz="3550" spc="-215">
                <a:latin typeface="Arial"/>
                <a:cs typeface="Arial"/>
              </a:rPr>
              <a:t>involves</a:t>
            </a:r>
            <a:r>
              <a:rPr dirty="0" sz="3550" spc="-30">
                <a:latin typeface="Arial"/>
                <a:cs typeface="Arial"/>
              </a:rPr>
              <a:t> </a:t>
            </a:r>
            <a:r>
              <a:rPr dirty="0" sz="3550" spc="-150">
                <a:latin typeface="Arial"/>
                <a:cs typeface="Arial"/>
              </a:rPr>
              <a:t>risk,</a:t>
            </a:r>
            <a:r>
              <a:rPr dirty="0" sz="3550" spc="-225">
                <a:latin typeface="Arial"/>
                <a:cs typeface="Arial"/>
              </a:rPr>
              <a:t> </a:t>
            </a:r>
            <a:r>
              <a:rPr dirty="0" sz="3550" spc="-250">
                <a:latin typeface="Arial"/>
                <a:cs typeface="Arial"/>
              </a:rPr>
              <a:t>and</a:t>
            </a:r>
            <a:r>
              <a:rPr dirty="0" sz="3550" spc="-175">
                <a:latin typeface="Arial"/>
                <a:cs typeface="Arial"/>
              </a:rPr>
              <a:t> </a:t>
            </a:r>
            <a:r>
              <a:rPr dirty="0" sz="3550" spc="-185">
                <a:latin typeface="Arial"/>
                <a:cs typeface="Arial"/>
              </a:rPr>
              <a:t>there</a:t>
            </a:r>
            <a:r>
              <a:rPr dirty="0" sz="3550" spc="-229">
                <a:latin typeface="Arial"/>
                <a:cs typeface="Arial"/>
              </a:rPr>
              <a:t> </a:t>
            </a:r>
            <a:r>
              <a:rPr dirty="0" sz="3550" spc="-20">
                <a:latin typeface="Arial"/>
                <a:cs typeface="Arial"/>
              </a:rPr>
              <a:t>is</a:t>
            </a:r>
            <a:r>
              <a:rPr dirty="0" sz="3550" spc="-135">
                <a:latin typeface="Arial"/>
                <a:cs typeface="Arial"/>
              </a:rPr>
              <a:t> </a:t>
            </a:r>
            <a:r>
              <a:rPr dirty="0" sz="3550" spc="-225">
                <a:latin typeface="Arial"/>
                <a:cs typeface="Arial"/>
              </a:rPr>
              <a:t>always</a:t>
            </a:r>
            <a:r>
              <a:rPr dirty="0" sz="3550" spc="-160">
                <a:latin typeface="Arial"/>
                <a:cs typeface="Arial"/>
              </a:rPr>
              <a:t> </a:t>
            </a:r>
            <a:r>
              <a:rPr dirty="0" sz="3550" spc="-125">
                <a:latin typeface="Arial"/>
                <a:cs typeface="Arial"/>
              </a:rPr>
              <a:t>the</a:t>
            </a:r>
            <a:r>
              <a:rPr dirty="0" sz="3550" spc="-285">
                <a:latin typeface="Arial"/>
                <a:cs typeface="Arial"/>
              </a:rPr>
              <a:t> </a:t>
            </a:r>
            <a:r>
              <a:rPr dirty="0" sz="3550" spc="-130">
                <a:latin typeface="Arial"/>
                <a:cs typeface="Arial"/>
              </a:rPr>
              <a:t>potential</a:t>
            </a:r>
            <a:r>
              <a:rPr dirty="0" sz="3550" spc="-5">
                <a:latin typeface="Arial"/>
                <a:cs typeface="Arial"/>
              </a:rPr>
              <a:t> </a:t>
            </a:r>
            <a:r>
              <a:rPr dirty="0" sz="3550" spc="-45">
                <a:latin typeface="Arial"/>
                <a:cs typeface="Arial"/>
              </a:rPr>
              <a:t>of</a:t>
            </a:r>
            <a:r>
              <a:rPr dirty="0" sz="3550" spc="-150">
                <a:latin typeface="Arial"/>
                <a:cs typeface="Arial"/>
              </a:rPr>
              <a:t> losing</a:t>
            </a:r>
            <a:r>
              <a:rPr dirty="0" sz="3550" spc="-35">
                <a:latin typeface="Arial"/>
                <a:cs typeface="Arial"/>
              </a:rPr>
              <a:t> </a:t>
            </a:r>
            <a:r>
              <a:rPr dirty="0" sz="3550" spc="-280">
                <a:latin typeface="Arial"/>
                <a:cs typeface="Arial"/>
              </a:rPr>
              <a:t>money.</a:t>
            </a:r>
            <a:r>
              <a:rPr dirty="0" sz="3550" spc="-20">
                <a:latin typeface="Arial"/>
                <a:cs typeface="Arial"/>
              </a:rPr>
              <a:t> </a:t>
            </a:r>
            <a:r>
              <a:rPr dirty="0" sz="3550" spc="-225">
                <a:latin typeface="Arial"/>
                <a:cs typeface="Arial"/>
              </a:rPr>
              <a:t>Past</a:t>
            </a:r>
            <a:r>
              <a:rPr dirty="0" sz="3550" spc="-50">
                <a:latin typeface="Arial"/>
                <a:cs typeface="Arial"/>
              </a:rPr>
              <a:t> </a:t>
            </a:r>
            <a:r>
              <a:rPr dirty="0" sz="3550" spc="-45">
                <a:latin typeface="Arial"/>
                <a:cs typeface="Arial"/>
              </a:rPr>
              <a:t>performance</a:t>
            </a:r>
            <a:endParaRPr sz="3550">
              <a:latin typeface="Arial"/>
              <a:cs typeface="Arial"/>
            </a:endParaRPr>
          </a:p>
          <a:p>
            <a:pPr marL="33020">
              <a:lnSpc>
                <a:spcPts val="3750"/>
              </a:lnSpc>
            </a:pPr>
            <a:r>
              <a:rPr dirty="0" sz="3600" spc="-110">
                <a:latin typeface="Arial"/>
                <a:cs typeface="Arial"/>
              </a:rPr>
              <a:t>is</a:t>
            </a:r>
            <a:r>
              <a:rPr dirty="0" sz="3600" spc="-190">
                <a:latin typeface="Arial"/>
                <a:cs typeface="Arial"/>
              </a:rPr>
              <a:t> </a:t>
            </a:r>
            <a:r>
              <a:rPr dirty="0" sz="3600" spc="-229">
                <a:latin typeface="Arial"/>
                <a:cs typeface="Arial"/>
              </a:rPr>
              <a:t>no</a:t>
            </a:r>
            <a:r>
              <a:rPr dirty="0" sz="3600" spc="-140">
                <a:latin typeface="Arial"/>
                <a:cs typeface="Arial"/>
              </a:rPr>
              <a:t> </a:t>
            </a:r>
            <a:r>
              <a:rPr dirty="0" sz="3600" spc="-260">
                <a:latin typeface="Arial"/>
                <a:cs typeface="Arial"/>
              </a:rPr>
              <a:t>guarantee</a:t>
            </a:r>
            <a:r>
              <a:rPr dirty="0" sz="3600" spc="130">
                <a:latin typeface="Arial"/>
                <a:cs typeface="Arial"/>
              </a:rPr>
              <a:t> </a:t>
            </a:r>
            <a:r>
              <a:rPr dirty="0" sz="3600" spc="-80">
                <a:latin typeface="Arial"/>
                <a:cs typeface="Arial"/>
              </a:rPr>
              <a:t>of</a:t>
            </a:r>
            <a:r>
              <a:rPr dirty="0" sz="3600" spc="-40">
                <a:latin typeface="Arial"/>
                <a:cs typeface="Arial"/>
              </a:rPr>
              <a:t> </a:t>
            </a:r>
            <a:r>
              <a:rPr dirty="0" sz="3600" spc="-150">
                <a:latin typeface="Arial"/>
                <a:cs typeface="Arial"/>
              </a:rPr>
              <a:t>future</a:t>
            </a:r>
            <a:r>
              <a:rPr dirty="0" sz="3600" spc="-190">
                <a:latin typeface="Arial"/>
                <a:cs typeface="Arial"/>
              </a:rPr>
              <a:t> </a:t>
            </a:r>
            <a:r>
              <a:rPr dirty="0" sz="3600" spc="-170">
                <a:latin typeface="Arial"/>
                <a:cs typeface="Arial"/>
              </a:rPr>
              <a:t>results.</a:t>
            </a:r>
            <a:r>
              <a:rPr dirty="0" sz="3600" spc="-80">
                <a:latin typeface="Arial"/>
                <a:cs typeface="Arial"/>
              </a:rPr>
              <a:t> </a:t>
            </a:r>
            <a:r>
              <a:rPr dirty="0" sz="3600" spc="-229">
                <a:latin typeface="Arial"/>
                <a:cs typeface="Arial"/>
              </a:rPr>
              <a:t>This</a:t>
            </a:r>
            <a:r>
              <a:rPr dirty="0" sz="3600" spc="-75">
                <a:latin typeface="Arial"/>
                <a:cs typeface="Arial"/>
              </a:rPr>
              <a:t> </a:t>
            </a:r>
            <a:r>
              <a:rPr dirty="0" sz="3600" spc="-165">
                <a:latin typeface="Arial"/>
                <a:cs typeface="Arial"/>
              </a:rPr>
              <a:t>material</a:t>
            </a:r>
            <a:r>
              <a:rPr dirty="0" sz="3600" spc="-45">
                <a:latin typeface="Arial"/>
                <a:cs typeface="Arial"/>
              </a:rPr>
              <a:t> </a:t>
            </a:r>
            <a:r>
              <a:rPr dirty="0" sz="3600" spc="-240">
                <a:latin typeface="Arial"/>
                <a:cs typeface="Arial"/>
              </a:rPr>
              <a:t>has</a:t>
            </a:r>
            <a:r>
              <a:rPr dirty="0" sz="3600" spc="-110">
                <a:latin typeface="Arial"/>
                <a:cs typeface="Arial"/>
              </a:rPr>
              <a:t> </a:t>
            </a:r>
            <a:r>
              <a:rPr dirty="0" sz="3600" spc="-160">
                <a:latin typeface="Arial"/>
                <a:cs typeface="Arial"/>
              </a:rPr>
              <a:t>not</a:t>
            </a:r>
            <a:r>
              <a:rPr dirty="0" sz="3600" spc="-150">
                <a:latin typeface="Arial"/>
                <a:cs typeface="Arial"/>
              </a:rPr>
              <a:t> </a:t>
            </a:r>
            <a:r>
              <a:rPr dirty="0" sz="3600" spc="-265">
                <a:latin typeface="Arial"/>
                <a:cs typeface="Arial"/>
              </a:rPr>
              <a:t>been</a:t>
            </a:r>
            <a:r>
              <a:rPr dirty="0" sz="3600" spc="-175">
                <a:latin typeface="Arial"/>
                <a:cs typeface="Arial"/>
              </a:rPr>
              <a:t> </a:t>
            </a:r>
            <a:r>
              <a:rPr dirty="0" sz="3600" spc="-245">
                <a:latin typeface="Arial"/>
                <a:cs typeface="Arial"/>
              </a:rPr>
              <a:t>reviewed</a:t>
            </a:r>
            <a:r>
              <a:rPr dirty="0" sz="3600" spc="-60">
                <a:latin typeface="Arial"/>
                <a:cs typeface="Arial"/>
              </a:rPr>
              <a:t> </a:t>
            </a:r>
            <a:r>
              <a:rPr dirty="0" sz="3600" spc="-235">
                <a:latin typeface="Arial"/>
                <a:cs typeface="Arial"/>
              </a:rPr>
              <a:t>by</a:t>
            </a:r>
            <a:r>
              <a:rPr dirty="0" sz="3600" spc="-170">
                <a:latin typeface="Arial"/>
                <a:cs typeface="Arial"/>
              </a:rPr>
              <a:t> </a:t>
            </a:r>
            <a:r>
              <a:rPr dirty="0" sz="3600" spc="-25">
                <a:latin typeface="Arial"/>
                <a:cs typeface="Arial"/>
              </a:rPr>
              <a:t>the</a:t>
            </a:r>
            <a:endParaRPr sz="3600">
              <a:latin typeface="Arial"/>
              <a:cs typeface="Arial"/>
            </a:endParaRPr>
          </a:p>
          <a:p>
            <a:pPr marL="28575">
              <a:lnSpc>
                <a:spcPts val="4170"/>
              </a:lnSpc>
            </a:pPr>
            <a:r>
              <a:rPr dirty="0" sz="3650" spc="-285">
                <a:latin typeface="Arial"/>
                <a:cs typeface="Arial"/>
              </a:rPr>
              <a:t>Monetary</a:t>
            </a:r>
            <a:r>
              <a:rPr dirty="0" sz="3650" spc="170">
                <a:latin typeface="Arial"/>
                <a:cs typeface="Arial"/>
              </a:rPr>
              <a:t> </a:t>
            </a:r>
            <a:r>
              <a:rPr dirty="0" sz="3650" spc="-229">
                <a:latin typeface="Arial"/>
                <a:cs typeface="Arial"/>
              </a:rPr>
              <a:t>Authority</a:t>
            </a:r>
            <a:r>
              <a:rPr dirty="0" sz="3650" spc="85">
                <a:latin typeface="Arial"/>
                <a:cs typeface="Arial"/>
              </a:rPr>
              <a:t> </a:t>
            </a:r>
            <a:r>
              <a:rPr dirty="0" sz="3650" spc="-175">
                <a:latin typeface="Arial"/>
                <a:cs typeface="Arial"/>
              </a:rPr>
              <a:t>of</a:t>
            </a:r>
            <a:r>
              <a:rPr dirty="0" sz="3650" spc="-195">
                <a:latin typeface="Arial"/>
                <a:cs typeface="Arial"/>
              </a:rPr>
              <a:t> </a:t>
            </a:r>
            <a:r>
              <a:rPr dirty="0" sz="3650" spc="-300">
                <a:latin typeface="Arial"/>
                <a:cs typeface="Arial"/>
              </a:rPr>
              <a:t>Singapore.</a:t>
            </a:r>
            <a:endParaRPr sz="3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3650">
              <a:latin typeface="Arial"/>
              <a:cs typeface="Arial"/>
            </a:endParaRPr>
          </a:p>
          <a:p>
            <a:pPr marL="5017135">
              <a:lnSpc>
                <a:spcPct val="100000"/>
              </a:lnSpc>
              <a:tabLst>
                <a:tab pos="5359400" algn="l"/>
              </a:tabLst>
            </a:pPr>
            <a:r>
              <a:rPr dirty="0" sz="2900" spc="-50">
                <a:latin typeface="Arial Narrow"/>
                <a:cs typeface="Arial Narrow"/>
              </a:rPr>
              <a:t>0</a:t>
            </a:r>
            <a:r>
              <a:rPr dirty="0" sz="2900">
                <a:latin typeface="Arial Narrow"/>
                <a:cs typeface="Arial Narrow"/>
              </a:rPr>
              <a:t>	Arta</a:t>
            </a:r>
            <a:r>
              <a:rPr dirty="0" sz="2900" spc="80">
                <a:latin typeface="Arial Narrow"/>
                <a:cs typeface="Arial Narrow"/>
              </a:rPr>
              <a:t> </a:t>
            </a:r>
            <a:r>
              <a:rPr dirty="0" sz="2900">
                <a:latin typeface="Arial Narrow"/>
                <a:cs typeface="Arial Narrow"/>
              </a:rPr>
              <a:t>Finance</a:t>
            </a:r>
            <a:r>
              <a:rPr dirty="0" sz="2900" spc="240">
                <a:latin typeface="Arial Narrow"/>
                <a:cs typeface="Arial Narrow"/>
              </a:rPr>
              <a:t> </a:t>
            </a:r>
            <a:r>
              <a:rPr dirty="0" sz="2900">
                <a:latin typeface="Arial Narrow"/>
                <a:cs typeface="Arial Narrow"/>
              </a:rPr>
              <a:t>2025.</a:t>
            </a:r>
            <a:r>
              <a:rPr dirty="0" sz="2900" spc="105">
                <a:latin typeface="Arial Narrow"/>
                <a:cs typeface="Arial Narrow"/>
              </a:rPr>
              <a:t> </a:t>
            </a:r>
            <a:r>
              <a:rPr dirty="0" sz="2900">
                <a:latin typeface="Arial Narrow"/>
                <a:cs typeface="Arial Narrow"/>
              </a:rPr>
              <a:t>All</a:t>
            </a:r>
            <a:r>
              <a:rPr dirty="0" sz="2900" spc="5">
                <a:latin typeface="Arial Narrow"/>
                <a:cs typeface="Arial Narrow"/>
              </a:rPr>
              <a:t> </a:t>
            </a:r>
            <a:r>
              <a:rPr dirty="0" sz="2900" spc="60">
                <a:latin typeface="Arial Narrow"/>
                <a:cs typeface="Arial Narrow"/>
              </a:rPr>
              <a:t>rights</a:t>
            </a:r>
            <a:r>
              <a:rPr dirty="0" sz="2900" spc="45">
                <a:latin typeface="Arial Narrow"/>
                <a:cs typeface="Arial Narrow"/>
              </a:rPr>
              <a:t> </a:t>
            </a:r>
            <a:r>
              <a:rPr dirty="0" sz="2900" spc="-10">
                <a:latin typeface="Arial Narrow"/>
                <a:cs typeface="Arial Narrow"/>
              </a:rPr>
              <a:t>reserved.</a:t>
            </a:r>
            <a:endParaRPr sz="2900">
              <a:latin typeface="Arial Narrow"/>
              <a:cs typeface="Arial Narro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6105975" y="9413522"/>
            <a:ext cx="123063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Arial"/>
                <a:cs typeface="Arial"/>
              </a:rPr>
              <a:t>G</a:t>
            </a:r>
            <a:r>
              <a:rPr dirty="0" sz="1500" spc="270">
                <a:latin typeface="Arial"/>
                <a:cs typeface="Arial"/>
              </a:rPr>
              <a:t> </a:t>
            </a:r>
            <a:r>
              <a:rPr dirty="0" sz="1500" spc="-90">
                <a:latin typeface="Arial"/>
                <a:cs typeface="Arial"/>
              </a:rPr>
              <a:t>NotebookLM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2025-12-06T13:35:49Z</dcterms:created>
  <dcterms:modified xsi:type="dcterms:W3CDTF">2025-12-06T13:35:49Z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2025-12-06T00:00:00Z</vt:filetime>
  </property>
  <property fmtid="{D5CDD505-2E9C-101B-9397-08002B2CF9AE}" pid="3" name="LastSaved">
    <vt:filetime>2025-12-06T00:00:00Z</vt:filetime>
  </property>
  <property fmtid="{D5CDD505-2E9C-101B-9397-08002B2CF9AE}" pid="4" name="Producer">
    <vt:lpwstr>3-Heights(TM) PDF Security Shell 4.8.25.2 (http://www.pdf-tools.com)</vt:lpwstr>
  </property>
</Properties>
</file>